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  <p:sldMasterId id="2147483708" r:id="rId2"/>
  </p:sldMasterIdLst>
  <p:notesMasterIdLst>
    <p:notesMasterId r:id="rId64"/>
  </p:notesMasterIdLst>
  <p:handoutMasterIdLst>
    <p:handoutMasterId r:id="rId65"/>
  </p:handoutMasterIdLst>
  <p:sldIdLst>
    <p:sldId id="256" r:id="rId3"/>
    <p:sldId id="257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89" r:id="rId15"/>
    <p:sldId id="290" r:id="rId16"/>
    <p:sldId id="291" r:id="rId17"/>
    <p:sldId id="292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413" r:id="rId33"/>
    <p:sldId id="414" r:id="rId34"/>
    <p:sldId id="415" r:id="rId35"/>
    <p:sldId id="416" r:id="rId36"/>
    <p:sldId id="375" r:id="rId37"/>
    <p:sldId id="377" r:id="rId38"/>
    <p:sldId id="376" r:id="rId39"/>
    <p:sldId id="378" r:id="rId40"/>
    <p:sldId id="379" r:id="rId41"/>
    <p:sldId id="380" r:id="rId42"/>
    <p:sldId id="381" r:id="rId43"/>
    <p:sldId id="382" r:id="rId44"/>
    <p:sldId id="383" r:id="rId45"/>
    <p:sldId id="384" r:id="rId46"/>
    <p:sldId id="299" r:id="rId47"/>
    <p:sldId id="417" r:id="rId48"/>
    <p:sldId id="418" r:id="rId49"/>
    <p:sldId id="419" r:id="rId50"/>
    <p:sldId id="420" r:id="rId51"/>
    <p:sldId id="421" r:id="rId52"/>
    <p:sldId id="422" r:id="rId53"/>
    <p:sldId id="423" r:id="rId54"/>
    <p:sldId id="424" r:id="rId55"/>
    <p:sldId id="425" r:id="rId56"/>
    <p:sldId id="426" r:id="rId57"/>
    <p:sldId id="427" r:id="rId58"/>
    <p:sldId id="428" r:id="rId59"/>
    <p:sldId id="429" r:id="rId60"/>
    <p:sldId id="430" r:id="rId61"/>
    <p:sldId id="431" r:id="rId62"/>
    <p:sldId id="263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69" userDrawn="1">
          <p15:clr>
            <a:srgbClr val="A4A3A4"/>
          </p15:clr>
        </p15:guide>
        <p15:guide id="2" pos="642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87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563C11-A7B2-4971-9009-16B33BD416B6}" v="1" dt="2026-07-22T08:38:58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484" autoAdjust="0"/>
  </p:normalViewPr>
  <p:slideViewPr>
    <p:cSldViewPr snapToGrid="0" snapToObjects="1" showGuides="1">
      <p:cViewPr varScale="1">
        <p:scale>
          <a:sx n="89" d="100"/>
          <a:sy n="89" d="100"/>
        </p:scale>
        <p:origin x="1350" y="96"/>
      </p:cViewPr>
      <p:guideLst>
        <p:guide orient="horz" pos="4269"/>
        <p:guide pos="642"/>
        <p:guide orient="horz" pos="7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3" d="100"/>
          <a:sy n="93" d="100"/>
        </p:scale>
        <p:origin x="368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Ľubomír Benko" userId="37810413-2a81-4e2b-80d2-ca0df29fcad5" providerId="ADAL" clId="{AE6A1F85-01CB-4A71-BF65-1F211F371DE7}"/>
    <pc:docChg chg="addSld delSld modSld">
      <pc:chgData name="Ľubomír Benko" userId="37810413-2a81-4e2b-80d2-ca0df29fcad5" providerId="ADAL" clId="{AE6A1F85-01CB-4A71-BF65-1F211F371DE7}" dt="2026-07-22T08:38:58.335" v="4"/>
      <pc:docMkLst>
        <pc:docMk/>
      </pc:docMkLst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1436526471" sldId="293"/>
        </pc:sldMkLst>
      </pc:sldChg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1163837008" sldId="294"/>
        </pc:sldMkLst>
      </pc:sldChg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1069927398" sldId="295"/>
        </pc:sldMkLst>
      </pc:sldChg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4104102695" sldId="296"/>
        </pc:sldMkLst>
      </pc:sldChg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2148322691" sldId="297"/>
        </pc:sldMkLst>
      </pc:sldChg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221804315" sldId="298"/>
        </pc:sldMkLst>
      </pc:sldChg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1789552896" sldId="299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3985818784" sldId="299"/>
        </pc:sldMkLst>
      </pc:sldChg>
      <pc:sldChg chg="del">
        <pc:chgData name="Ľubomír Benko" userId="37810413-2a81-4e2b-80d2-ca0df29fcad5" providerId="ADAL" clId="{AE6A1F85-01CB-4A71-BF65-1F211F371DE7}" dt="2026-07-22T08:38:44.977" v="3" actId="47"/>
        <pc:sldMkLst>
          <pc:docMk/>
          <pc:sldMk cId="3058035300" sldId="300"/>
        </pc:sldMkLst>
      </pc:sldChg>
      <pc:sldChg chg="del">
        <pc:chgData name="Ľubomír Benko" userId="37810413-2a81-4e2b-80d2-ca0df29fcad5" providerId="ADAL" clId="{AE6A1F85-01CB-4A71-BF65-1F211F371DE7}" dt="2026-07-22T08:25:31.928" v="2" actId="47"/>
        <pc:sldMkLst>
          <pc:docMk/>
          <pc:sldMk cId="1565809004" sldId="301"/>
        </pc:sldMkLst>
      </pc:sldChg>
      <pc:sldChg chg="del">
        <pc:chgData name="Ľubomír Benko" userId="37810413-2a81-4e2b-80d2-ca0df29fcad5" providerId="ADAL" clId="{AE6A1F85-01CB-4A71-BF65-1F211F371DE7}" dt="2026-07-22T08:25:31.928" v="2" actId="47"/>
        <pc:sldMkLst>
          <pc:docMk/>
          <pc:sldMk cId="2794488598" sldId="302"/>
        </pc:sldMkLst>
      </pc:sldChg>
      <pc:sldChg chg="del">
        <pc:chgData name="Ľubomír Benko" userId="37810413-2a81-4e2b-80d2-ca0df29fcad5" providerId="ADAL" clId="{AE6A1F85-01CB-4A71-BF65-1F211F371DE7}" dt="2026-07-22T08:25:31.928" v="2" actId="47"/>
        <pc:sldMkLst>
          <pc:docMk/>
          <pc:sldMk cId="4031368464" sldId="303"/>
        </pc:sldMkLst>
      </pc:sldChg>
      <pc:sldChg chg="del">
        <pc:chgData name="Ľubomír Benko" userId="37810413-2a81-4e2b-80d2-ca0df29fcad5" providerId="ADAL" clId="{AE6A1F85-01CB-4A71-BF65-1F211F371DE7}" dt="2026-07-22T08:25:31.928" v="2" actId="47"/>
        <pc:sldMkLst>
          <pc:docMk/>
          <pc:sldMk cId="2099741260" sldId="304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2524921918" sldId="375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337506675" sldId="376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799390916" sldId="377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2215224702" sldId="378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1842552130" sldId="379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3595952069" sldId="380"/>
        </pc:sldMkLst>
      </pc:sldChg>
      <pc:sldChg chg="modSp add del mod">
        <pc:chgData name="Ľubomír Benko" userId="37810413-2a81-4e2b-80d2-ca0df29fcad5" providerId="ADAL" clId="{AE6A1F85-01CB-4A71-BF65-1F211F371DE7}" dt="2026-07-22T08:38:58.335" v="4"/>
        <pc:sldMkLst>
          <pc:docMk/>
          <pc:sldMk cId="2207532709" sldId="381"/>
        </pc:sldMkLst>
        <pc:spChg chg="mod">
          <ac:chgData name="Ľubomír Benko" userId="37810413-2a81-4e2b-80d2-ca0df29fcad5" providerId="ADAL" clId="{AE6A1F85-01CB-4A71-BF65-1F211F371DE7}" dt="2026-07-22T08:21:51.300" v="1" actId="6549"/>
          <ac:spMkLst>
            <pc:docMk/>
            <pc:sldMk cId="2207532709" sldId="381"/>
            <ac:spMk id="2" creationId="{AACA9656-38E8-8A97-9862-955E3E3165DC}"/>
          </ac:spMkLst>
        </pc:spChg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2223688" sldId="382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978699188" sldId="383"/>
        </pc:sldMkLst>
      </pc:sldChg>
      <pc:sldChg chg="add del">
        <pc:chgData name="Ľubomír Benko" userId="37810413-2a81-4e2b-80d2-ca0df29fcad5" providerId="ADAL" clId="{AE6A1F85-01CB-4A71-BF65-1F211F371DE7}" dt="2026-07-22T08:38:58.335" v="4"/>
        <pc:sldMkLst>
          <pc:docMk/>
          <pc:sldMk cId="353192355" sldId="384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1565809004" sldId="413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2794488598" sldId="414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4031368464" sldId="415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2099741260" sldId="416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2847244521" sldId="417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3753885512" sldId="418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2657318860" sldId="419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1403550235" sldId="420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1834748988" sldId="421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1075813929" sldId="422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1958093504" sldId="423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247984401" sldId="424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1880250146" sldId="425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3055111360" sldId="426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2008212512" sldId="427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730224307" sldId="428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1002405742" sldId="429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940063728" sldId="430"/>
        </pc:sldMkLst>
      </pc:sldChg>
      <pc:sldChg chg="add">
        <pc:chgData name="Ľubomír Benko" userId="37810413-2a81-4e2b-80d2-ca0df29fcad5" providerId="ADAL" clId="{AE6A1F85-01CB-4A71-BF65-1F211F371DE7}" dt="2026-07-22T08:38:58.335" v="4"/>
        <pc:sldMkLst>
          <pc:docMk/>
          <pc:sldMk cId="3722170427" sldId="4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502DA-8148-CB4F-85DA-645740EB90E8}" type="datetimeFigureOut">
              <a:rPr lang="sk-SK" smtClean="0"/>
              <a:t>22.7.2026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DFB7D-B886-6745-B94F-52DE02489AE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389450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DFFE76-6F31-4D4D-8BF7-9106041CABC4}" type="datetimeFigureOut">
              <a:rPr lang="sk-SK" smtClean="0"/>
              <a:t>22.7.2026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583E6-AE52-1147-BE81-09DBB48851DA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90415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13099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0939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3395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87045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13728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99171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36890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72768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87714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16618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130994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0939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5B131-9837-197E-D8FC-5FB55384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5A15ED57-3161-3F76-75E6-853F42F79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D95012D8-BD86-3A9F-11D0-417AB6530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C6EDA79-F773-D6AE-F35E-E539A1D0B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13446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C19C-0B27-AA1B-5EE0-B703B8F5E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1DBC1E25-6721-3C3D-FECC-A539DD946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444FD2B7-73E4-A13A-CC98-24EEE7000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9F42B32-07B4-0D59-C996-923019807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512577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B2A00-8D86-1148-7663-787AAB03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B2CD38E8-B6AF-81E6-D11B-9B5812228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C39927D5-4E23-78B3-3C04-CD2958663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733106E-6BE6-A3A3-2E1A-A76AE719E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27455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9475-4A4C-B7E3-8976-5BE212FD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A072874B-2011-D07B-0E74-C4024EC84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8926A611-BD02-756A-CD03-7412750C8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090F7D1-112A-5475-5659-E0FDA7A2F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29071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98093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743737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19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28530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2973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871569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968408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182893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332648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727331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58551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9568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349332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29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99259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4130994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809393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049543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361966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396142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44C8-00A6-E62E-F841-9A682586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58B73EB4-A1E4-2E5D-CDCB-2D2871271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A10041B2-F9CB-8F58-FF22-64EE0C62D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9C5265F-5F94-2A14-C280-F635DA1E0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031535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2412-5315-4200-31ED-373E98E8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C53C8D87-CC80-9562-1692-0E0C65E06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CE63E73B-CEA7-1ECC-BD7C-A38E56A27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A13980F-80C2-949C-C8FA-13CEDC454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002440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553A8-828A-2A25-8BE9-BB366EF8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49995B81-7F0E-A98D-933C-B0ABE8876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48599DD1-F5D5-9629-BDC5-2E4DF47C1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06691FB-5021-3BFF-6CCE-BA1B1356E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24273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601A6-19CE-A953-1547-ADAE2AB2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B012AC23-2CAF-EB70-B559-A1BB46E93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A32E5158-659E-07CC-3D6F-84C14DBE2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024C795-C1DF-E350-0CB5-42583D4C4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39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65790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92F9-1208-DBAC-0896-B0DB3DB2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EB8B7525-CF21-DDA5-362D-9563E77BF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F92C5EB9-0EF9-FB14-F308-03F891C25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355587E-9267-834E-4AB6-349448737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494949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DAFAA-8BC8-827A-56E6-7261BD65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79D9C11F-2D54-ACAC-9CD0-3DA81FE73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FFEBC379-1DE0-0F65-86A7-CEE421CD3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A923ECC-D01F-F940-786B-02EF58302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931327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4DAE-70E3-29FF-0A6C-20E4951B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07732F9E-E58F-5CFF-C31D-8A7CE7646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EDBEBD40-AE13-ED6C-C5BE-2264F43AF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04BD843-E83A-C5BB-9699-861FAA11F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65128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91C81-3925-2515-52DE-974851AA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7E6027B8-5BD9-1485-B68F-72CE01619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9C55DDAA-707C-7372-7549-E8CA379E9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B3AE087-582B-8A59-F7EB-C81E4B019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220232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6845A-AF70-BA03-A1A3-51BAF10CB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4D19438C-7ADD-7369-BBF1-4C61361B9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15CBC381-CBCC-37FA-ED89-31ADB7DD7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3384C78-9ADA-0E24-0CB0-28CB734C8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131053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D2D6-5634-D12F-7A84-78121F00F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52590CB8-8419-88FC-D18B-007E76D66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0717C5CC-D055-AFBF-D60F-33F34F766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C924AC8-B5CD-3B4F-79C8-2D98EE123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234769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BBED9-8CE5-3E6D-8258-7200B6BDA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BEE9E480-E6EF-9597-F8A8-8076F983C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88FD355B-4656-BAD5-2039-6284BEBB1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1F386E0-6E52-D27F-44A7-D4B3F2A82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54376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5A9D7-339D-BBAE-3028-053B5518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DEE00E44-7CEB-C97B-74AF-D8AA7CDCA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0286A70E-B4ED-9C00-CE87-98470ADA6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91472C4-5413-E52E-B227-F43B429F7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701516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1E0B-45CB-AFB0-DCBF-F938DF44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19C0FA0D-3E02-E511-AB08-27CCA04EB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18CCF093-D7CD-992D-4960-2880555F9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3EF8050-6A82-9F34-F208-23D41BA7C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52032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66E13-336C-EEDA-6B02-153331312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DFA051B9-3162-6BE4-CA15-8E4C2F229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E9EDB230-C5CE-6C8E-3D44-034E02CF3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EC98097-8EC1-348D-ED56-CE5F7411C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49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861579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E800-52A2-384F-3023-32C440AFE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634DBF63-C89C-EBB3-2737-76CFC93DB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0D0ACA36-FC9E-20E3-8CE2-CE12AD61B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CAF713E-F571-8A0F-439C-96D2E9F71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658369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F8A5-A445-275B-0A0C-A13FB8086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9EA4838B-BFFF-FA10-677A-48F0F4AF5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011AB75A-267B-2132-6C18-E86D10C67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46B2444-556A-4D57-DDCD-BEDACDC77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132834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EC8ED-B879-A1E7-38AF-EAE1245F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627A047F-1DC1-7A82-8B78-609AB5D99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824C0339-F868-19AE-C987-EE1815004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57DD018-253F-DC6A-15B3-00FB87CE6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35153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C96B-AE71-D664-3554-61ADF1051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EDCEC4A7-0A44-0CF8-7E6A-FAD663B31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E7BEE65A-43EA-AF3F-D24D-127AC1ED2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2639E07-1AE5-31AD-4182-03C6B003E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415067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DD2B-3B42-5D0E-1FB3-E7DF58789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8AC562CF-3B74-DC81-182A-60F48A7FA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254E971D-00A3-5631-5C8B-93ECC0BBC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E475109-064B-796A-7D30-A39ED42D2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628477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5AD9F-BA32-DF29-B8A6-22D8FD96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04EBD1E3-82A8-9F2D-7B09-97BD93EC2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A96746BD-70F6-7118-E6DB-4703CE0F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D300A29-D231-81BB-666C-1DB694B4F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999994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9CFD-36AF-374B-0A59-B86F47B0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2E189F05-1181-5AC1-AAD9-0388EB13D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174D6C80-5D61-3EB4-1D8C-2DB508382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7B6DBF6-45F4-23D9-AF29-F77B54BB9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267738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812F-8E16-700E-5EF9-15F3D829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24658C03-F488-85E2-4E47-BE574FB71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7E1EC9CC-C6F9-ECF8-8BF1-87210E9C9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BCED2E6-816A-A9BC-3BD7-19716AD8D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46282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DCE6-5924-DE43-BD44-5B359C23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5AFE51C0-9086-3424-BC56-AF520AD7D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E192FB78-3D83-0A39-6060-C540DFA75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044D7D8-077E-DE1B-52D2-04EF7004C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414699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15817-33F6-84BF-3661-33645052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2528FDA6-F9A4-A2E1-56F6-7A3615256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2F305612-130F-2D21-071E-36A7A964E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1B92683-03C7-8524-D569-D11FE500B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59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357838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D579-870F-5C07-1719-87D9AA283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>
            <a:extLst>
              <a:ext uri="{FF2B5EF4-FFF2-40B4-BE49-F238E27FC236}">
                <a16:creationId xmlns:a16="http://schemas.microsoft.com/office/drawing/2014/main" id="{79F8A3BB-A4A7-ADE1-4526-51063BCF9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>
            <a:extLst>
              <a:ext uri="{FF2B5EF4-FFF2-40B4-BE49-F238E27FC236}">
                <a16:creationId xmlns:a16="http://schemas.microsoft.com/office/drawing/2014/main" id="{136791CB-93D6-6242-D822-D2B56A94A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27008D4-87E1-68C2-DFD2-B8BF74856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60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3332129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583E6-AE52-1147-BE81-09DBB48851DA}" type="slidenum">
              <a:rPr lang="sk-SK" smtClean="0"/>
              <a:t>61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8960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vý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73379" y="4198461"/>
            <a:ext cx="6786562" cy="602139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sk-SK" noProof="0">
                <a:solidFill>
                  <a:schemeClr val="bg1"/>
                </a:solidFill>
                <a:latin typeface="+mj-lt"/>
              </a:rPr>
              <a:t>Podnázov prezentácie</a:t>
            </a:r>
            <a:endParaRPr lang="sk-SK" sz="2800" noProof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3661410" y="2766218"/>
            <a:ext cx="7810500" cy="132556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sk-SK" noProof="0"/>
              <a:t>NÁZOV PREZENTÁCIE</a:t>
            </a:r>
            <a:endParaRPr lang="sk-SK" noProof="0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C7407A4-12C5-0A48-B590-DCE05F4BFF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30194" y="4978082"/>
            <a:ext cx="5672931" cy="470218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sk-SK" noProof="0"/>
              <a:t>Autor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B4C2256-9A54-C143-8B7E-5760C49253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82978" y="5524182"/>
            <a:ext cx="5567362" cy="419100"/>
          </a:xfrm>
        </p:spPr>
        <p:txBody>
          <a:bodyPr>
            <a:no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sk-SK" noProof="0"/>
              <a:t>KATEDRA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ov a 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k-SK" noProof="0" dirty="0"/>
              <a:t>Názov slide-u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charset="2"/>
              <a:buChar char="§"/>
              <a:defRPr>
                <a:latin typeface="+mj-lt"/>
              </a:defRPr>
            </a:lvl1pPr>
            <a:lvl2pPr marL="685800" indent="-228600">
              <a:buFont typeface="Wingdings" charset="2"/>
              <a:buChar char="§"/>
              <a:defRPr>
                <a:latin typeface="+mj-lt"/>
              </a:defRPr>
            </a:lvl2pPr>
            <a:lvl3pPr marL="1143000" indent="-228600">
              <a:buFont typeface="Wingdings" charset="2"/>
              <a:buChar char="§"/>
              <a:defRPr/>
            </a:lvl3pPr>
            <a:lvl4pPr marL="1600200" indent="-228600">
              <a:buFont typeface="Wingdings" charset="2"/>
              <a:buChar char="§"/>
              <a:defRPr/>
            </a:lvl4pPr>
            <a:lvl5pPr marL="2057400" indent="-228600">
              <a:buFont typeface="Wingdings" charset="2"/>
              <a:buChar char="§"/>
              <a:defRPr/>
            </a:lvl5pPr>
          </a:lstStyle>
          <a:p>
            <a:pPr lvl="0"/>
            <a:r>
              <a:rPr lang="sk-SK" noProof="0"/>
              <a:t>Kliknite sem a upravte štýly predlohy textu</a:t>
            </a:r>
          </a:p>
          <a:p>
            <a:pPr lvl="1"/>
            <a:r>
              <a:rPr lang="sk-SK" noProof="0"/>
              <a:t>Druhá úroveň</a:t>
            </a:r>
          </a:p>
          <a:p>
            <a:pPr lvl="2"/>
            <a:r>
              <a:rPr lang="sk-SK" noProof="0"/>
              <a:t>Tretia úroveň</a:t>
            </a:r>
          </a:p>
          <a:p>
            <a:pPr lvl="3"/>
            <a:r>
              <a:rPr lang="sk-SK" noProof="0"/>
              <a:t>Štvrtá úroveň</a:t>
            </a:r>
          </a:p>
          <a:p>
            <a:pPr lvl="4"/>
            <a:r>
              <a:rPr lang="sk-SK" noProof="0"/>
              <a:t>Piata úroveň</a:t>
            </a:r>
            <a:endParaRPr lang="sk-SK" noProof="0" dirty="0"/>
          </a:p>
        </p:txBody>
      </p:sp>
      <p:pic>
        <p:nvPicPr>
          <p:cNvPr id="7" name="Content Placeholder 6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661740" y="6456754"/>
            <a:ext cx="539496" cy="45167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12300" y="6471389"/>
            <a:ext cx="27432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FCEDCBF8-15A4-1F49-85F6-A02F017E0111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tĺpce obsah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 dirty="0"/>
              <a:t>Názov slide-u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Font typeface="Wingdings" charset="2"/>
              <a:buChar char="§"/>
              <a:defRPr>
                <a:latin typeface="+mj-lt"/>
              </a:defRPr>
            </a:lvl1pPr>
            <a:lvl2pPr marL="685800" indent="-228600">
              <a:buFont typeface="Wingdings" charset="2"/>
              <a:buChar char="§"/>
              <a:defRPr>
                <a:latin typeface="+mj-lt"/>
              </a:defRPr>
            </a:lvl2pPr>
            <a:lvl3pPr marL="1143000" indent="-228600">
              <a:buFont typeface="Wingdings" charset="2"/>
              <a:buChar char="§"/>
              <a:defRPr>
                <a:latin typeface="+mj-lt"/>
              </a:defRPr>
            </a:lvl3pPr>
            <a:lvl4pPr marL="1600200" indent="-228600">
              <a:buFont typeface="Wingdings" charset="2"/>
              <a:buChar char="§"/>
              <a:defRPr>
                <a:latin typeface="+mj-lt"/>
              </a:defRPr>
            </a:lvl4pPr>
            <a:lvl5pPr marL="2057400" indent="-228600">
              <a:buFont typeface="Wingdings" charset="2"/>
              <a:buChar char="§"/>
              <a:defRPr>
                <a:latin typeface="+mj-lt"/>
              </a:defRPr>
            </a:lvl5pPr>
          </a:lstStyle>
          <a:p>
            <a:pPr lvl="0"/>
            <a:r>
              <a:rPr lang="sk-SK" noProof="0"/>
              <a:t>Kliknite sem a upravte štýly predlohy textu</a:t>
            </a:r>
          </a:p>
          <a:p>
            <a:pPr lvl="1"/>
            <a:r>
              <a:rPr lang="sk-SK" noProof="0"/>
              <a:t>Druhá úroveň</a:t>
            </a:r>
          </a:p>
          <a:p>
            <a:pPr lvl="2"/>
            <a:r>
              <a:rPr lang="sk-SK" noProof="0"/>
              <a:t>Tretia úroveň</a:t>
            </a:r>
          </a:p>
          <a:p>
            <a:pPr lvl="3"/>
            <a:r>
              <a:rPr lang="sk-SK" noProof="0"/>
              <a:t>Štvrtá úroveň</a:t>
            </a:r>
          </a:p>
          <a:p>
            <a:pPr lvl="4"/>
            <a:r>
              <a:rPr lang="sk-SK" noProof="0"/>
              <a:t>Piata úroveň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buFont typeface="Wingdings" charset="2"/>
              <a:buChar char="§"/>
              <a:defRPr>
                <a:latin typeface="+mj-lt"/>
              </a:defRPr>
            </a:lvl1pPr>
            <a:lvl2pPr marL="685800" indent="-228600">
              <a:buFont typeface="Wingdings" charset="2"/>
              <a:buChar char="§"/>
              <a:defRPr>
                <a:latin typeface="+mj-lt"/>
              </a:defRPr>
            </a:lvl2pPr>
            <a:lvl3pPr marL="1143000" indent="-228600">
              <a:buFont typeface="Wingdings" charset="2"/>
              <a:buChar char="§"/>
              <a:defRPr>
                <a:latin typeface="+mj-lt"/>
              </a:defRPr>
            </a:lvl3pPr>
            <a:lvl4pPr marL="1600200" indent="-228600">
              <a:buFont typeface="Wingdings" charset="2"/>
              <a:buChar char="§"/>
              <a:defRPr>
                <a:latin typeface="+mj-lt"/>
              </a:defRPr>
            </a:lvl4pPr>
            <a:lvl5pPr marL="2057400" indent="-228600">
              <a:buFont typeface="Wingdings" charset="2"/>
              <a:buChar char="§"/>
              <a:defRPr>
                <a:latin typeface="+mj-lt"/>
              </a:defRPr>
            </a:lvl5pPr>
          </a:lstStyle>
          <a:p>
            <a:pPr lvl="0"/>
            <a:r>
              <a:rPr lang="sk-SK" noProof="0"/>
              <a:t>Kliknite sem a upravte štýly predlohy textu</a:t>
            </a:r>
          </a:p>
          <a:p>
            <a:pPr lvl="1"/>
            <a:r>
              <a:rPr lang="sk-SK" noProof="0"/>
              <a:t>Druhá úroveň</a:t>
            </a:r>
          </a:p>
          <a:p>
            <a:pPr lvl="2"/>
            <a:r>
              <a:rPr lang="sk-SK" noProof="0"/>
              <a:t>Tretia úroveň</a:t>
            </a:r>
          </a:p>
          <a:p>
            <a:pPr lvl="3"/>
            <a:r>
              <a:rPr lang="sk-SK" noProof="0"/>
              <a:t>Štvrtá úroveň</a:t>
            </a:r>
          </a:p>
          <a:p>
            <a:pPr lvl="4"/>
            <a:r>
              <a:rPr lang="sk-SK" noProof="0"/>
              <a:t>Piata úroveň</a:t>
            </a:r>
          </a:p>
        </p:txBody>
      </p:sp>
      <p:pic>
        <p:nvPicPr>
          <p:cNvPr id="8" name="Content Placeholder 6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661740" y="6456754"/>
            <a:ext cx="539496" cy="451671"/>
          </a:xfrm>
          <a:prstGeom prst="rect">
            <a:avLst/>
          </a:prstGeom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9512300" y="64713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EDCBF8-15A4-1F49-85F6-A02F017E0111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 noProof="0"/>
              <a:t>Kliknutím upravte štýl predlohy nadpisu</a:t>
            </a:r>
            <a:endParaRPr lang="sk-SK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buFont typeface="Wingdings" charset="2"/>
              <a:buChar char="§"/>
              <a:defRPr sz="3200">
                <a:latin typeface="+mj-lt"/>
              </a:defRPr>
            </a:lvl1pPr>
            <a:lvl2pPr marL="685800" indent="-228600">
              <a:buFont typeface="Wingdings" charset="2"/>
              <a:buChar char="§"/>
              <a:defRPr sz="2800">
                <a:latin typeface="+mj-lt"/>
              </a:defRPr>
            </a:lvl2pPr>
            <a:lvl3pPr marL="1143000" indent="-228600">
              <a:buFont typeface="Wingdings" charset="2"/>
              <a:buChar char="§"/>
              <a:defRPr sz="2400">
                <a:latin typeface="+mj-lt"/>
              </a:defRPr>
            </a:lvl3pPr>
            <a:lvl4pPr marL="1600200" indent="-228600">
              <a:buFont typeface="Wingdings" charset="2"/>
              <a:buChar char="§"/>
              <a:defRPr sz="2000">
                <a:latin typeface="+mj-lt"/>
              </a:defRPr>
            </a:lvl4pPr>
            <a:lvl5pPr marL="2057400" indent="-228600">
              <a:buFont typeface="Wingdings" charset="2"/>
              <a:buChar char="§"/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 noProof="0"/>
              <a:t>Kliknite sem a upravte štýly predlohy textu</a:t>
            </a:r>
          </a:p>
          <a:p>
            <a:pPr lvl="1"/>
            <a:r>
              <a:rPr lang="sk-SK" noProof="0"/>
              <a:t>Druhá úroveň</a:t>
            </a:r>
          </a:p>
          <a:p>
            <a:pPr lvl="2"/>
            <a:r>
              <a:rPr lang="sk-SK" noProof="0"/>
              <a:t>Tretia úroveň</a:t>
            </a:r>
          </a:p>
          <a:p>
            <a:pPr lvl="3"/>
            <a:r>
              <a:rPr lang="sk-SK" noProof="0"/>
              <a:t>Štvrtá úroveň</a:t>
            </a:r>
          </a:p>
          <a:p>
            <a:pPr lvl="4"/>
            <a:r>
              <a:rPr lang="sk-SK" noProof="0"/>
              <a:t>Piata úroveň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pic>
        <p:nvPicPr>
          <p:cNvPr id="8" name="Content Placeholder 6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661740" y="6456754"/>
            <a:ext cx="539496" cy="451671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12300" y="6471389"/>
            <a:ext cx="27432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FCEDCBF8-15A4-1F49-85F6-A02F017E0111}" type="slidenum">
              <a:rPr lang="sk-SK" smtClean="0"/>
              <a:pPr/>
              <a:t>‹#›</a:t>
            </a:fld>
            <a:endParaRPr lang="sk-S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ledný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762000" y="2918619"/>
            <a:ext cx="7810500" cy="1325563"/>
          </a:xfrm>
        </p:spPr>
        <p:txBody>
          <a:bodyPr>
            <a:noAutofit/>
          </a:bodyPr>
          <a:lstStyle>
            <a:lvl1pPr algn="ctr">
              <a:defRPr sz="5000" baseline="0">
                <a:solidFill>
                  <a:schemeClr val="bg1"/>
                </a:solidFill>
              </a:defRPr>
            </a:lvl1pPr>
          </a:lstStyle>
          <a:p>
            <a:r>
              <a:rPr lang="sk-SK" noProof="0" dirty="0"/>
              <a:t>Ďakujem za pozornosť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vý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4118608" y="2792133"/>
            <a:ext cx="7810500" cy="1248331"/>
          </a:xfrm>
        </p:spPr>
        <p:txBody>
          <a:bodyPr>
            <a:noAutofit/>
          </a:bodyPr>
          <a:lstStyle>
            <a:lvl1pPr algn="ctr">
              <a:defRPr sz="6600">
                <a:solidFill>
                  <a:srgbClr val="878786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sk-SK" noProof="0" dirty="0"/>
              <a:t>NÁZOV PREZENTÁCIE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C7407A4-12C5-0A48-B590-DCE05F4BFF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7393" y="4978082"/>
            <a:ext cx="5672931" cy="470218"/>
          </a:xfrm>
        </p:spPr>
        <p:txBody>
          <a:bodyPr/>
          <a:lstStyle>
            <a:lvl1pPr marL="0" indent="0" algn="ctr">
              <a:buNone/>
              <a:defRPr b="1">
                <a:solidFill>
                  <a:srgbClr val="878786"/>
                </a:solidFill>
              </a:defRPr>
            </a:lvl1pPr>
          </a:lstStyle>
          <a:p>
            <a:pPr lvl="0"/>
            <a:r>
              <a:rPr lang="sk-SK" noProof="0" dirty="0"/>
              <a:t>Autor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B4C2256-9A54-C143-8B7E-5760C49253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4779" y="5448300"/>
            <a:ext cx="5567362" cy="419100"/>
          </a:xfrm>
        </p:spPr>
        <p:txBody>
          <a:bodyPr>
            <a:noAutofit/>
          </a:bodyPr>
          <a:lstStyle>
            <a:lvl1pPr marL="0" indent="0" algn="ctr">
              <a:buNone/>
              <a:defRPr sz="2400" cap="all" baseline="0">
                <a:solidFill>
                  <a:srgbClr val="878786"/>
                </a:solidFill>
                <a:latin typeface="+mj-lt"/>
              </a:defRPr>
            </a:lvl1pPr>
          </a:lstStyle>
          <a:p>
            <a:pPr lvl="0"/>
            <a:r>
              <a:rPr lang="sk-SK" noProof="0" dirty="0"/>
              <a:t>KATEDRA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0C4F4-342E-D54C-B5BA-6CAD8CE8CB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25110" y="4104480"/>
            <a:ext cx="5346700" cy="381000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rgbClr val="878786"/>
                </a:solidFill>
              </a:defRPr>
            </a:lvl1pPr>
            <a:lvl2pPr>
              <a:defRPr sz="4000">
                <a:solidFill>
                  <a:srgbClr val="878786"/>
                </a:solidFill>
              </a:defRPr>
            </a:lvl2pPr>
            <a:lvl3pPr>
              <a:defRPr sz="3600">
                <a:solidFill>
                  <a:srgbClr val="878786"/>
                </a:solidFill>
              </a:defRPr>
            </a:lvl3pPr>
            <a:lvl4pPr>
              <a:defRPr sz="3200">
                <a:solidFill>
                  <a:srgbClr val="878786"/>
                </a:solidFill>
              </a:defRPr>
            </a:lvl4pPr>
            <a:lvl5pPr>
              <a:defRPr sz="3200">
                <a:solidFill>
                  <a:srgbClr val="878786"/>
                </a:solidFill>
              </a:defRPr>
            </a:lvl5pPr>
          </a:lstStyle>
          <a:p>
            <a:pPr lvl="0"/>
            <a:r>
              <a:rPr lang="sk-SK" noProof="0" dirty="0"/>
              <a:t>Podnázov prezentácie</a:t>
            </a:r>
          </a:p>
        </p:txBody>
      </p:sp>
    </p:spTree>
    <p:extLst>
      <p:ext uri="{BB962C8B-B14F-4D97-AF65-F5344CB8AC3E}">
        <p14:creationId xmlns:p14="http://schemas.microsoft.com/office/powerpoint/2010/main" val="1901064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ov a 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k-SK" noProof="0" dirty="0"/>
              <a:t>Názov slide-u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charset="2"/>
              <a:buChar char="§"/>
              <a:defRPr>
                <a:latin typeface="+mj-lt"/>
              </a:defRPr>
            </a:lvl1pPr>
            <a:lvl2pPr marL="685800" indent="-228600">
              <a:buFont typeface="Wingdings" charset="2"/>
              <a:buChar char="§"/>
              <a:defRPr>
                <a:latin typeface="+mj-lt"/>
              </a:defRPr>
            </a:lvl2pPr>
            <a:lvl3pPr marL="1143000" indent="-228600">
              <a:buFont typeface="Wingdings" charset="2"/>
              <a:buChar char="§"/>
              <a:defRPr/>
            </a:lvl3pPr>
            <a:lvl4pPr marL="1600200" indent="-228600">
              <a:buFont typeface="Wingdings" charset="2"/>
              <a:buChar char="§"/>
              <a:defRPr/>
            </a:lvl4pPr>
            <a:lvl5pPr marL="2057400" indent="-228600">
              <a:buFont typeface="Wingdings" charset="2"/>
              <a:buChar char="§"/>
              <a:defRPr/>
            </a:lvl5pPr>
          </a:lstStyle>
          <a:p>
            <a:pPr lvl="0"/>
            <a:r>
              <a:rPr lang="sk-SK" noProof="0"/>
              <a:t>Click to edit Master text styles</a:t>
            </a:r>
          </a:p>
          <a:p>
            <a:pPr lvl="1"/>
            <a:r>
              <a:rPr lang="sk-SK" noProof="0"/>
              <a:t>Second level</a:t>
            </a:r>
          </a:p>
          <a:p>
            <a:pPr lvl="2"/>
            <a:r>
              <a:rPr lang="sk-SK" noProof="0"/>
              <a:t>Third level</a:t>
            </a:r>
          </a:p>
          <a:p>
            <a:pPr lvl="3"/>
            <a:r>
              <a:rPr lang="sk-SK" noProof="0"/>
              <a:t>Fourth level</a:t>
            </a:r>
          </a:p>
          <a:p>
            <a:pPr lvl="4"/>
            <a:r>
              <a:rPr lang="sk-SK" noProof="0"/>
              <a:t>Fifth level</a:t>
            </a:r>
          </a:p>
        </p:txBody>
      </p:sp>
      <p:pic>
        <p:nvPicPr>
          <p:cNvPr id="7" name="Content Placeholder 6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661740" y="6456754"/>
            <a:ext cx="539496" cy="45167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12300" y="6471389"/>
            <a:ext cx="27432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FCEDCBF8-15A4-1F49-85F6-A02F017E0111}" type="slidenum">
              <a:rPr lang="sk-SK" smtClean="0"/>
              <a:pPr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00228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tĺpce obsah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 dirty="0"/>
              <a:t>Názov slide-u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marL="228600" indent="-228600">
              <a:buFont typeface="Wingdings" charset="2"/>
              <a:buChar char="§"/>
              <a:defRPr>
                <a:latin typeface="+mj-lt"/>
              </a:defRPr>
            </a:lvl1pPr>
            <a:lvl2pPr marL="685800" indent="-228600">
              <a:buFont typeface="Wingdings" charset="2"/>
              <a:buChar char="§"/>
              <a:defRPr>
                <a:latin typeface="+mj-lt"/>
              </a:defRPr>
            </a:lvl2pPr>
            <a:lvl3pPr marL="1143000" indent="-228600">
              <a:buFont typeface="Wingdings" charset="2"/>
              <a:buChar char="§"/>
              <a:defRPr>
                <a:latin typeface="+mj-lt"/>
              </a:defRPr>
            </a:lvl3pPr>
            <a:lvl4pPr marL="1600200" indent="-228600">
              <a:buFont typeface="Wingdings" charset="2"/>
              <a:buChar char="§"/>
              <a:defRPr>
                <a:latin typeface="+mj-lt"/>
              </a:defRPr>
            </a:lvl4pPr>
            <a:lvl5pPr marL="2057400" indent="-228600">
              <a:buFont typeface="Wingdings" charset="2"/>
              <a:buChar char="§"/>
              <a:defRPr>
                <a:latin typeface="+mj-lt"/>
              </a:defRPr>
            </a:lvl5pPr>
          </a:lstStyle>
          <a:p>
            <a:pPr lvl="0"/>
            <a:r>
              <a:rPr lang="sk-SK" noProof="0"/>
              <a:t>Click to edit Master text styles</a:t>
            </a:r>
          </a:p>
          <a:p>
            <a:pPr lvl="1"/>
            <a:r>
              <a:rPr lang="sk-SK" noProof="0"/>
              <a:t>Second level</a:t>
            </a:r>
          </a:p>
          <a:p>
            <a:pPr lvl="2"/>
            <a:r>
              <a:rPr lang="sk-SK" noProof="0"/>
              <a:t>Third level</a:t>
            </a:r>
          </a:p>
          <a:p>
            <a:pPr lvl="3"/>
            <a:r>
              <a:rPr lang="sk-SK" noProof="0"/>
              <a:t>Fourth level</a:t>
            </a:r>
          </a:p>
          <a:p>
            <a:pPr lvl="4"/>
            <a:r>
              <a:rPr lang="sk-SK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228600" indent="-228600">
              <a:buFont typeface="Wingdings" charset="2"/>
              <a:buChar char="§"/>
              <a:defRPr>
                <a:latin typeface="+mj-lt"/>
              </a:defRPr>
            </a:lvl1pPr>
            <a:lvl2pPr marL="685800" indent="-228600">
              <a:buFont typeface="Wingdings" charset="2"/>
              <a:buChar char="§"/>
              <a:defRPr>
                <a:latin typeface="+mj-lt"/>
              </a:defRPr>
            </a:lvl2pPr>
            <a:lvl3pPr marL="1143000" indent="-228600">
              <a:buFont typeface="Wingdings" charset="2"/>
              <a:buChar char="§"/>
              <a:defRPr>
                <a:latin typeface="+mj-lt"/>
              </a:defRPr>
            </a:lvl3pPr>
            <a:lvl4pPr marL="1600200" indent="-228600">
              <a:buFont typeface="Wingdings" charset="2"/>
              <a:buChar char="§"/>
              <a:defRPr>
                <a:latin typeface="+mj-lt"/>
              </a:defRPr>
            </a:lvl4pPr>
            <a:lvl5pPr marL="2057400" indent="-228600">
              <a:buFont typeface="Wingdings" charset="2"/>
              <a:buChar char="§"/>
              <a:defRPr>
                <a:latin typeface="+mj-lt"/>
              </a:defRPr>
            </a:lvl5pPr>
          </a:lstStyle>
          <a:p>
            <a:pPr lvl="0"/>
            <a:r>
              <a:rPr lang="sk-SK" noProof="0"/>
              <a:t>Click to edit Master text styles</a:t>
            </a:r>
          </a:p>
          <a:p>
            <a:pPr lvl="1"/>
            <a:r>
              <a:rPr lang="sk-SK" noProof="0"/>
              <a:t>Second level</a:t>
            </a:r>
          </a:p>
          <a:p>
            <a:pPr lvl="2"/>
            <a:r>
              <a:rPr lang="sk-SK" noProof="0"/>
              <a:t>Third level</a:t>
            </a:r>
          </a:p>
          <a:p>
            <a:pPr lvl="3"/>
            <a:r>
              <a:rPr lang="sk-SK" noProof="0"/>
              <a:t>Fourth level</a:t>
            </a:r>
          </a:p>
          <a:p>
            <a:pPr lvl="4"/>
            <a:r>
              <a:rPr lang="sk-SK" noProof="0"/>
              <a:t>Fifth level</a:t>
            </a:r>
          </a:p>
        </p:txBody>
      </p:sp>
      <p:pic>
        <p:nvPicPr>
          <p:cNvPr id="8" name="Content Placeholder 6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661740" y="6456754"/>
            <a:ext cx="539496" cy="451671"/>
          </a:xfrm>
          <a:prstGeom prst="rect">
            <a:avLst/>
          </a:prstGeom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9512300" y="64713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EDCBF8-15A4-1F49-85F6-A02F017E0111}" type="slidenum">
              <a:rPr lang="sk-SK" smtClean="0"/>
              <a:pPr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1003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228600" indent="-228600">
              <a:buFont typeface="Wingdings" charset="2"/>
              <a:buChar char="§"/>
              <a:defRPr sz="3200">
                <a:latin typeface="+mj-lt"/>
              </a:defRPr>
            </a:lvl1pPr>
            <a:lvl2pPr marL="685800" indent="-228600">
              <a:buFont typeface="Wingdings" charset="2"/>
              <a:buChar char="§"/>
              <a:defRPr sz="2800">
                <a:latin typeface="+mj-lt"/>
              </a:defRPr>
            </a:lvl2pPr>
            <a:lvl3pPr marL="1143000" indent="-228600">
              <a:buFont typeface="Wingdings" charset="2"/>
              <a:buChar char="§"/>
              <a:defRPr sz="2400">
                <a:latin typeface="+mj-lt"/>
              </a:defRPr>
            </a:lvl3pPr>
            <a:lvl4pPr marL="1600200" indent="-228600">
              <a:buFont typeface="Wingdings" charset="2"/>
              <a:buChar char="§"/>
              <a:defRPr sz="2000">
                <a:latin typeface="+mj-lt"/>
              </a:defRPr>
            </a:lvl4pPr>
            <a:lvl5pPr marL="2057400" indent="-228600">
              <a:buFont typeface="Wingdings" charset="2"/>
              <a:buChar char="§"/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 noProof="0"/>
              <a:t>Click to edit Master text styles</a:t>
            </a:r>
          </a:p>
          <a:p>
            <a:pPr lvl="1"/>
            <a:r>
              <a:rPr lang="sk-SK" noProof="0"/>
              <a:t>Second level</a:t>
            </a:r>
          </a:p>
          <a:p>
            <a:pPr lvl="2"/>
            <a:r>
              <a:rPr lang="sk-SK" noProof="0"/>
              <a:t>Third level</a:t>
            </a:r>
          </a:p>
          <a:p>
            <a:pPr lvl="3"/>
            <a:r>
              <a:rPr lang="sk-SK" noProof="0"/>
              <a:t>Fourth level</a:t>
            </a:r>
          </a:p>
          <a:p>
            <a:pPr lvl="4"/>
            <a:r>
              <a:rPr lang="sk-SK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 noProof="0"/>
              <a:t>Click to edit Master text styles</a:t>
            </a:r>
          </a:p>
        </p:txBody>
      </p:sp>
      <p:pic>
        <p:nvPicPr>
          <p:cNvPr id="8" name="Content Placeholder 6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661740" y="6456754"/>
            <a:ext cx="539496" cy="451671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12300" y="6471389"/>
            <a:ext cx="27432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FCEDCBF8-15A4-1F49-85F6-A02F017E0111}" type="slidenum">
              <a:rPr lang="sk-SK" smtClean="0"/>
              <a:pPr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2222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ledný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/>
          <p:cNvSpPr>
            <a:spLocks noGrp="1"/>
          </p:cNvSpPr>
          <p:nvPr>
            <p:ph type="title" hasCustomPrompt="1"/>
          </p:nvPr>
        </p:nvSpPr>
        <p:spPr>
          <a:xfrm>
            <a:off x="322163" y="2918619"/>
            <a:ext cx="7810500" cy="1325563"/>
          </a:xfrm>
        </p:spPr>
        <p:txBody>
          <a:bodyPr>
            <a:noAutofit/>
          </a:bodyPr>
          <a:lstStyle>
            <a:lvl1pPr algn="ctr">
              <a:defRPr sz="5000" baseline="0">
                <a:solidFill>
                  <a:srgbClr val="878786"/>
                </a:solidFill>
                <a:latin typeface="+mn-lt"/>
              </a:defRPr>
            </a:lvl1pPr>
          </a:lstStyle>
          <a:p>
            <a:r>
              <a:rPr lang="sk-SK" noProof="0" dirty="0"/>
              <a:t>Ďakujem za pozornosť</a:t>
            </a:r>
          </a:p>
        </p:txBody>
      </p:sp>
    </p:spTree>
    <p:extLst>
      <p:ext uri="{BB962C8B-B14F-4D97-AF65-F5344CB8AC3E}">
        <p14:creationId xmlns:p14="http://schemas.microsoft.com/office/powerpoint/2010/main" val="68011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49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A6E3-FAE6-2C46-87B1-8CC204400471}" type="datetime1">
              <a:rPr lang="sk-SK" smtClean="0"/>
              <a:t>22.7.2026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EFBB7-CA9C-F545-AAC5-256F9A19021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7087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noProof="0"/>
              <a:t>Click to edit Master text styles</a:t>
            </a:r>
          </a:p>
          <a:p>
            <a:pPr lvl="1"/>
            <a:r>
              <a:rPr lang="sk-SK" noProof="0"/>
              <a:t>Second level</a:t>
            </a:r>
          </a:p>
          <a:p>
            <a:pPr lvl="2"/>
            <a:r>
              <a:rPr lang="sk-SK" noProof="0"/>
              <a:t>Third level</a:t>
            </a:r>
          </a:p>
          <a:p>
            <a:pPr lvl="3"/>
            <a:r>
              <a:rPr lang="sk-SK" noProof="0"/>
              <a:t>Fourth level</a:t>
            </a:r>
          </a:p>
          <a:p>
            <a:pPr lvl="4"/>
            <a:r>
              <a:rPr lang="sk-SK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4A6E3-FAE6-2C46-87B1-8CC204400471}" type="datetime1">
              <a:rPr lang="sk-SK" smtClean="0"/>
              <a:t>22.7.2026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EFBB7-CA9C-F545-AAC5-256F9A19021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7430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4697B2-5240-1E81-7199-59CC599D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Grafika v </a:t>
            </a:r>
            <a:r>
              <a:rPr lang="sk-SK" dirty="0" err="1"/>
              <a:t>JavaFX</a:t>
            </a:r>
            <a:endParaRPr lang="sk-S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663E2-9B13-E91F-37D5-0476005181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doc. </a:t>
            </a:r>
            <a:r>
              <a:rPr lang="en-US" dirty="0"/>
              <a:t>Mgr. </a:t>
            </a:r>
            <a:r>
              <a:rPr lang="sk-SK" dirty="0"/>
              <a:t>Ľubomír Benko, </a:t>
            </a:r>
            <a:r>
              <a:rPr lang="sk-SK" dirty="0" err="1"/>
              <a:t>Ph.D</a:t>
            </a:r>
            <a:r>
              <a:rPr lang="sk-SK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7681AD-06F1-489E-EEF4-870395E7A6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lbenko@ukf.sk</a:t>
            </a:r>
            <a:endParaRPr lang="sk-SK" dirty="0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2B96868-F638-C775-D3CA-434C94762A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481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Grafika v Jave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Práca s grafikou</a:t>
            </a:r>
          </a:p>
          <a:p>
            <a:pPr lvl="1"/>
            <a:r>
              <a:rPr lang="sk-SK" dirty="0"/>
              <a:t>Nevyhnutný prostriedok pre súčasné aplikácie</a:t>
            </a:r>
          </a:p>
          <a:p>
            <a:r>
              <a:rPr lang="sk-SK" dirty="0"/>
              <a:t>Pre Javu je historicky zaužívanie tvrdenie, že grafika v nej je pomalá</a:t>
            </a:r>
          </a:p>
          <a:p>
            <a:pPr lvl="1" eaLnBrk="1" hangingPunct="1"/>
            <a:r>
              <a:rPr lang="sk-SK" sz="2400" dirty="0"/>
              <a:t>nedostatok sa prejavoval najmä pri prvých verziách (rýchlosť kódu bola cca 30 x pomalšia ako u kompilovaného C++)</a:t>
            </a:r>
          </a:p>
          <a:p>
            <a:pPr lvl="1" eaLnBrk="1" hangingPunct="1"/>
            <a:r>
              <a:rPr lang="sk-SK" sz="2400" dirty="0"/>
              <a:t>Java však prešla pomerne intenzívnym vývojom a v súčasnosti je už len 2 x pomalšia (čo je pre súčasné procesory zariadení absolútne bezproblémové)</a:t>
            </a:r>
          </a:p>
          <a:p>
            <a:pPr lvl="1"/>
            <a:endParaRPr lang="sk-SK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80874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Java FX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400" dirty="0"/>
              <a:t>Alternatívou je moderná platforma </a:t>
            </a:r>
            <a:r>
              <a:rPr lang="sk-SK" sz="2400" dirty="0" err="1"/>
              <a:t>JavaFX</a:t>
            </a:r>
            <a:endParaRPr lang="sk-SK" sz="2400" dirty="0"/>
          </a:p>
          <a:p>
            <a:r>
              <a:rPr lang="sk-SK" sz="2400" dirty="0"/>
              <a:t>Nemožno povedať, že je Java FX je lepšia voľba ako Swing, závisí to od programátora</a:t>
            </a:r>
          </a:p>
          <a:p>
            <a:r>
              <a:rPr lang="sk-SK" sz="2400" dirty="0"/>
              <a:t>Oracle však razí cestu náhrady Swing-u platformou Java FX</a:t>
            </a:r>
          </a:p>
          <a:p>
            <a:r>
              <a:rPr lang="sk-SK" sz="2400" dirty="0"/>
              <a:t>Dôvody: </a:t>
            </a:r>
          </a:p>
          <a:p>
            <a:pPr lvl="1"/>
            <a:r>
              <a:rPr lang="sk-SK" sz="2000" dirty="0"/>
              <a:t>MVC (Model-</a:t>
            </a:r>
            <a:r>
              <a:rPr lang="sk-SK" sz="2000" dirty="0" err="1"/>
              <a:t>View</a:t>
            </a:r>
            <a:r>
              <a:rPr lang="sk-SK" sz="2000" dirty="0"/>
              <a:t>-</a:t>
            </a:r>
            <a:r>
              <a:rPr lang="sk-SK" sz="2000" dirty="0" err="1"/>
              <a:t>Controller</a:t>
            </a:r>
            <a:r>
              <a:rPr lang="sk-SK" sz="2000" dirty="0"/>
              <a:t>) architektúra</a:t>
            </a:r>
          </a:p>
          <a:p>
            <a:pPr lvl="1"/>
            <a:r>
              <a:rPr lang="sk-SK" sz="2000" dirty="0"/>
              <a:t>pokročilé grafické funkcie, 3D, animácie, špeciálne efekty, schopnosť využívať GPU</a:t>
            </a:r>
          </a:p>
          <a:p>
            <a:pPr lvl="1"/>
            <a:r>
              <a:rPr lang="sk-SK" sz="2000" dirty="0"/>
              <a:t>možnosť používania </a:t>
            </a:r>
            <a:r>
              <a:rPr lang="sk-SK" sz="2000" dirty="0" err="1"/>
              <a:t>css</a:t>
            </a:r>
            <a:r>
              <a:rPr lang="sk-SK" sz="2000" dirty="0"/>
              <a:t>, komplexnejšie komponenty</a:t>
            </a:r>
          </a:p>
          <a:p>
            <a:pPr lvl="1"/>
            <a:r>
              <a:rPr lang="sk-SK" sz="2000" dirty="0"/>
              <a:t>vývoj aplikácií pre viac platforiem, podpora gest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47568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Čo je to Java FX?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400" dirty="0"/>
              <a:t>Java knižnica určená primárne na tvorbu </a:t>
            </a:r>
            <a:r>
              <a:rPr lang="sk-SK" sz="2400" dirty="0" err="1"/>
              <a:t>Rich</a:t>
            </a:r>
            <a:r>
              <a:rPr lang="sk-SK" sz="2400" dirty="0"/>
              <a:t> Internet </a:t>
            </a:r>
            <a:r>
              <a:rPr lang="sk-SK" sz="2400" dirty="0" err="1"/>
              <a:t>Application</a:t>
            </a:r>
            <a:r>
              <a:rPr lang="sk-SK" sz="2400" dirty="0"/>
              <a:t> (aplikácie s podobnými funkcionalitami a správaním desktop aplikáciám s možnosťou behu v prehliadači)</a:t>
            </a:r>
          </a:p>
          <a:p>
            <a:r>
              <a:rPr lang="sk-SK" sz="2400" dirty="0"/>
              <a:t>existujú/existovali 3 základné technológie pre RIA:</a:t>
            </a:r>
            <a:endParaRPr lang="en-US" sz="1600" dirty="0"/>
          </a:p>
          <a:p>
            <a:pPr lvl="1"/>
            <a:r>
              <a:rPr lang="en-US" sz="1800" dirty="0"/>
              <a:t>    Adobe Flash</a:t>
            </a:r>
          </a:p>
          <a:p>
            <a:pPr lvl="1"/>
            <a:r>
              <a:rPr lang="en-US" sz="1800" dirty="0"/>
              <a:t>    Microsoft Silverlight</a:t>
            </a:r>
          </a:p>
          <a:p>
            <a:pPr lvl="1"/>
            <a:r>
              <a:rPr lang="en-US" sz="1800" dirty="0"/>
              <a:t>    JavaFX</a:t>
            </a:r>
            <a:endParaRPr lang="sk-SK" sz="1800" dirty="0"/>
          </a:p>
          <a:p>
            <a:r>
              <a:rPr lang="sk-SK" sz="2200" dirty="0"/>
              <a:t>od Java8 súčasť balíka Java</a:t>
            </a:r>
            <a:endParaRPr lang="en-US" sz="2200" dirty="0"/>
          </a:p>
          <a:p>
            <a:pPr lvl="1"/>
            <a:endParaRPr lang="sk-SK" sz="1600" dirty="0"/>
          </a:p>
          <a:p>
            <a:endParaRPr lang="sk-SK" sz="24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6119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Architektúra</a:t>
            </a:r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8A2AB501-62A9-EA50-B3D3-0003E3BE3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3831" y="1315301"/>
            <a:ext cx="5167532" cy="4679172"/>
          </a:xfrm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3195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Scene</a:t>
            </a:r>
            <a:r>
              <a:rPr lang="sk-SK" b="1" dirty="0"/>
              <a:t> </a:t>
            </a:r>
            <a:r>
              <a:rPr lang="sk-SK" b="1" dirty="0" err="1"/>
              <a:t>Graph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základný bod pre konštrukciu prvkov (</a:t>
            </a:r>
            <a:r>
              <a:rPr lang="sk-SK" sz="2800" b="1" dirty="0" err="1"/>
              <a:t>nodov</a:t>
            </a:r>
            <a:r>
              <a:rPr lang="sk-SK" sz="2800" dirty="0"/>
              <a:t>) v aplikácii</a:t>
            </a:r>
          </a:p>
          <a:p>
            <a:r>
              <a:rPr lang="sk-SK" sz="2800" dirty="0"/>
              <a:t>obsahuje:</a:t>
            </a:r>
          </a:p>
          <a:p>
            <a:pPr lvl="1"/>
            <a:r>
              <a:rPr lang="sk-SK" sz="2400" dirty="0"/>
              <a:t>geometrické objekty (2D+3D)</a:t>
            </a:r>
          </a:p>
          <a:p>
            <a:pPr lvl="1"/>
            <a:r>
              <a:rPr lang="sk-SK" sz="2400" dirty="0"/>
              <a:t>UI komponenty (tlačidlo, </a:t>
            </a:r>
            <a:r>
              <a:rPr lang="sk-SK" sz="2400" dirty="0" err="1"/>
              <a:t>label</a:t>
            </a:r>
            <a:r>
              <a:rPr lang="sk-SK" sz="2400" dirty="0"/>
              <a:t> a pod.)</a:t>
            </a:r>
          </a:p>
          <a:p>
            <a:pPr lvl="1"/>
            <a:r>
              <a:rPr lang="sk-SK" sz="2400" dirty="0"/>
              <a:t>kontajnery (aj pane pre dizajn)</a:t>
            </a:r>
          </a:p>
          <a:p>
            <a:pPr lvl="1"/>
            <a:r>
              <a:rPr lang="sk-SK" sz="2400" dirty="0" err="1"/>
              <a:t>media</a:t>
            </a:r>
            <a:r>
              <a:rPr lang="sk-SK" sz="2400" dirty="0"/>
              <a:t> </a:t>
            </a:r>
            <a:r>
              <a:rPr lang="sk-SK" sz="2400" dirty="0" err="1"/>
              <a:t>elements</a:t>
            </a:r>
            <a:r>
              <a:rPr lang="sk-SK" sz="2400" dirty="0"/>
              <a:t> (zvuk, video a pod.)</a:t>
            </a:r>
          </a:p>
          <a:p>
            <a:r>
              <a:rPr lang="sk-SK" sz="2800" dirty="0" err="1"/>
              <a:t>nody</a:t>
            </a:r>
            <a:r>
              <a:rPr lang="sk-SK" sz="2800" dirty="0"/>
              <a:t> sú uložené hierarchicky</a:t>
            </a:r>
          </a:p>
          <a:p>
            <a:pPr lvl="1"/>
            <a:r>
              <a:rPr lang="sk-SK" sz="2400" dirty="0"/>
              <a:t>každý môže mať charakteristiky ako:</a:t>
            </a:r>
          </a:p>
          <a:p>
            <a:pPr lvl="2"/>
            <a:r>
              <a:rPr lang="en-US" sz="2000" dirty="0"/>
              <a:t>Effects, Opacity, Transforms, </a:t>
            </a:r>
            <a:endParaRPr lang="sk-SK" sz="2000" dirty="0"/>
          </a:p>
          <a:p>
            <a:pPr lvl="2"/>
            <a:r>
              <a:rPr lang="en-US" sz="2000" dirty="0"/>
              <a:t>Event Handlers</a:t>
            </a:r>
            <a:endParaRPr lang="sk-SK" sz="20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6</a:t>
            </a:fld>
            <a:endParaRPr lang="sk-SK" dirty="0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273B89AF-F352-7A83-FF86-7F8BEED79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64778"/>
            <a:ext cx="5496509" cy="3945395"/>
          </a:xfrm>
          <a:prstGeom prst="rect">
            <a:avLst/>
          </a:prstGeom>
        </p:spPr>
      </p:pic>
      <p:pic>
        <p:nvPicPr>
          <p:cNvPr id="11" name="Zástupný objekt pre obsah 6">
            <a:extLst>
              <a:ext uri="{FF2B5EF4-FFF2-40B4-BE49-F238E27FC236}">
                <a16:creationId xmlns:a16="http://schemas.microsoft.com/office/drawing/2014/main" id="{9491D0FF-983D-BB8E-AD88-AE4D15E29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992" y="137566"/>
            <a:ext cx="2320965" cy="210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Grafický dizajn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k-SK" sz="2800" b="1" dirty="0" err="1"/>
              <a:t>Quantum</a:t>
            </a:r>
            <a:r>
              <a:rPr lang="sk-SK" sz="2800" b="1" dirty="0"/>
              <a:t> </a:t>
            </a:r>
            <a:r>
              <a:rPr lang="sk-SK" sz="2800" b="1" dirty="0" err="1"/>
              <a:t>Toolkit</a:t>
            </a:r>
            <a:endParaRPr lang="sk-SK" sz="2800" b="1" dirty="0"/>
          </a:p>
          <a:p>
            <a:pPr lvl="1"/>
            <a:r>
              <a:rPr lang="sk-SK" sz="2400" dirty="0"/>
              <a:t>abstraktná vrstva pre grafické nízkoúrovňové prvky </a:t>
            </a:r>
            <a:r>
              <a:rPr lang="en-US" sz="2400" dirty="0"/>
              <a:t>Prism, Glass, Media Engine</a:t>
            </a:r>
            <a:r>
              <a:rPr lang="sk-SK" sz="2400" dirty="0"/>
              <a:t> a </a:t>
            </a:r>
            <a:r>
              <a:rPr lang="en-US" sz="2400" dirty="0"/>
              <a:t>Web Engine</a:t>
            </a:r>
            <a:endParaRPr lang="sk-SK" sz="2400" dirty="0"/>
          </a:p>
          <a:p>
            <a:r>
              <a:rPr lang="sk-SK" sz="2800" b="1" dirty="0" err="1"/>
              <a:t>Prism</a:t>
            </a:r>
            <a:endParaRPr lang="sk-SK" sz="2800" b="1" dirty="0"/>
          </a:p>
          <a:p>
            <a:pPr lvl="1"/>
            <a:r>
              <a:rPr lang="sk-SK" sz="2400" dirty="0"/>
              <a:t>zabezpečuje renderovanie grafiky s podporou GPU zapojením </a:t>
            </a:r>
            <a:r>
              <a:rPr lang="sk-SK" sz="2400" dirty="0" err="1"/>
              <a:t>OpenGL</a:t>
            </a:r>
            <a:r>
              <a:rPr lang="sk-SK" sz="2400" dirty="0"/>
              <a:t> a/alebo </a:t>
            </a:r>
            <a:r>
              <a:rPr lang="sk-SK" sz="2400" dirty="0" err="1"/>
              <a:t>DirectX</a:t>
            </a:r>
            <a:endParaRPr lang="sk-SK" sz="2400" dirty="0"/>
          </a:p>
          <a:p>
            <a:r>
              <a:rPr lang="sk-SK" sz="2800" b="1" dirty="0"/>
              <a:t>GWT (</a:t>
            </a:r>
            <a:r>
              <a:rPr lang="sk-SK" sz="2800" b="1" dirty="0" err="1"/>
              <a:t>Glass</a:t>
            </a:r>
            <a:r>
              <a:rPr lang="sk-SK" sz="2800" b="1" dirty="0"/>
              <a:t> </a:t>
            </a:r>
            <a:r>
              <a:rPr lang="sk-SK" sz="2800" b="1" dirty="0" err="1"/>
              <a:t>Windowing</a:t>
            </a:r>
            <a:r>
              <a:rPr lang="sk-SK" sz="2800" b="1" dirty="0"/>
              <a:t> </a:t>
            </a:r>
            <a:r>
              <a:rPr lang="sk-SK" sz="2800" b="1" dirty="0" err="1"/>
              <a:t>Toolkit</a:t>
            </a:r>
            <a:r>
              <a:rPr lang="sk-SK" sz="2800" b="1" dirty="0"/>
              <a:t>)</a:t>
            </a:r>
          </a:p>
          <a:p>
            <a:pPr lvl="1"/>
            <a:r>
              <a:rPr lang="sk-SK" sz="2400" dirty="0"/>
              <a:t>služba pre manažovanie </a:t>
            </a:r>
            <a:r>
              <a:rPr lang="en-US" sz="2400" dirty="0"/>
              <a:t>Windows, Timers, Surfaces a Event Queues</a:t>
            </a:r>
            <a:r>
              <a:rPr lang="sk-SK" sz="2400" dirty="0"/>
              <a:t> s prepojením na operačný systém</a:t>
            </a:r>
          </a:p>
          <a:p>
            <a:r>
              <a:rPr lang="sk-SK" sz="2800" b="1" dirty="0"/>
              <a:t>Web </a:t>
            </a:r>
            <a:r>
              <a:rPr lang="sk-SK" sz="2800" b="1" dirty="0" err="1"/>
              <a:t>view</a:t>
            </a:r>
            <a:endParaRPr lang="sk-SK" sz="2800" b="1" dirty="0"/>
          </a:p>
          <a:p>
            <a:pPr lvl="1"/>
            <a:r>
              <a:rPr lang="sk-SK" sz="2400" dirty="0"/>
              <a:t>renderovanie webovej stránky s podporou </a:t>
            </a:r>
            <a:r>
              <a:rPr lang="sk-SK" sz="2400" dirty="0" err="1"/>
              <a:t>javascript</a:t>
            </a:r>
            <a:r>
              <a:rPr lang="sk-SK" sz="2400" dirty="0"/>
              <a:t> a možnosťou analýzy a úpravy html kódu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7</a:t>
            </a:fld>
            <a:endParaRPr lang="sk-SK" dirty="0"/>
          </a:p>
        </p:txBody>
      </p:sp>
      <p:pic>
        <p:nvPicPr>
          <p:cNvPr id="10" name="Zástupný objekt pre obsah 6">
            <a:extLst>
              <a:ext uri="{FF2B5EF4-FFF2-40B4-BE49-F238E27FC236}">
                <a16:creationId xmlns:a16="http://schemas.microsoft.com/office/drawing/2014/main" id="{90988A2C-4725-8E6C-71C4-FD6507322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92" y="137566"/>
            <a:ext cx="2320965" cy="210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0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Štruktúra aplikácie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sz="2800" dirty="0" err="1"/>
              <a:t>Stage</a:t>
            </a:r>
            <a:r>
              <a:rPr lang="sk-SK" sz="2800" dirty="0"/>
              <a:t> (obvykle okno)</a:t>
            </a:r>
          </a:p>
          <a:p>
            <a:pPr lvl="1"/>
            <a:r>
              <a:rPr lang="sk-SK" sz="2400" dirty="0"/>
              <a:t>obsahuje všetky objekty aplikácie</a:t>
            </a:r>
          </a:p>
          <a:p>
            <a:r>
              <a:rPr lang="sk-SK" sz="2800" dirty="0" err="1"/>
              <a:t>Scene</a:t>
            </a:r>
            <a:endParaRPr lang="sk-SK" sz="2800" dirty="0"/>
          </a:p>
          <a:p>
            <a:pPr lvl="1"/>
            <a:r>
              <a:rPr lang="sk-SK" sz="2400" dirty="0"/>
              <a:t>reprezentuje kompletný obsah</a:t>
            </a:r>
          </a:p>
          <a:p>
            <a:pPr lvl="1"/>
            <a:r>
              <a:rPr lang="sk-SK" sz="2400" dirty="0"/>
              <a:t>scéna môže byť pridaná len do jedného </a:t>
            </a:r>
            <a:r>
              <a:rPr lang="sk-SK" sz="2400" dirty="0" err="1"/>
              <a:t>stage</a:t>
            </a:r>
            <a:endParaRPr lang="sk-SK" sz="2400" dirty="0"/>
          </a:p>
          <a:p>
            <a:r>
              <a:rPr lang="sk-SK" sz="2800" dirty="0" err="1"/>
              <a:t>Scene</a:t>
            </a:r>
            <a:r>
              <a:rPr lang="sk-SK" sz="2800" dirty="0"/>
              <a:t> </a:t>
            </a:r>
            <a:r>
              <a:rPr lang="sk-SK" sz="2800" dirty="0" err="1"/>
              <a:t>graph</a:t>
            </a:r>
            <a:r>
              <a:rPr lang="sk-SK" sz="2800" dirty="0"/>
              <a:t> </a:t>
            </a:r>
          </a:p>
          <a:p>
            <a:pPr lvl="1"/>
            <a:r>
              <a:rPr lang="sk-SK" sz="2400" dirty="0"/>
              <a:t>hierarchická štruktúra použitých komponentov</a:t>
            </a:r>
          </a:p>
          <a:p>
            <a:pPr lvl="2"/>
            <a:r>
              <a:rPr lang="sk-SK" sz="2000" dirty="0" err="1"/>
              <a:t>root</a:t>
            </a:r>
            <a:r>
              <a:rPr lang="sk-SK" sz="2000" dirty="0"/>
              <a:t> – hlavný a jediný pre scénu</a:t>
            </a:r>
          </a:p>
          <a:p>
            <a:pPr lvl="2"/>
            <a:r>
              <a:rPr lang="sk-SK" sz="2000" dirty="0" err="1"/>
              <a:t>branch</a:t>
            </a:r>
            <a:r>
              <a:rPr lang="sk-SK" sz="2000" dirty="0"/>
              <a:t>, resp. </a:t>
            </a:r>
            <a:r>
              <a:rPr lang="sk-SK" sz="2000" dirty="0" err="1"/>
              <a:t>parent</a:t>
            </a:r>
            <a:r>
              <a:rPr lang="sk-SK" sz="2000" dirty="0"/>
              <a:t> </a:t>
            </a:r>
            <a:r>
              <a:rPr lang="sk-SK" sz="2000" dirty="0" err="1"/>
              <a:t>node</a:t>
            </a:r>
            <a:r>
              <a:rPr lang="sk-SK" sz="2000" dirty="0"/>
              <a:t> – </a:t>
            </a:r>
            <a:r>
              <a:rPr lang="sk-SK" sz="2000" dirty="0" err="1"/>
              <a:t>group</a:t>
            </a:r>
            <a:r>
              <a:rPr lang="sk-SK" sz="2000" dirty="0"/>
              <a:t>, </a:t>
            </a:r>
            <a:r>
              <a:rPr lang="sk-SK" sz="2000" dirty="0" err="1"/>
              <a:t>region</a:t>
            </a:r>
            <a:r>
              <a:rPr lang="sk-SK" sz="2000" dirty="0"/>
              <a:t> (napr. </a:t>
            </a:r>
            <a:r>
              <a:rPr lang="sk-SK" sz="2000" dirty="0" err="1"/>
              <a:t>graph</a:t>
            </a:r>
            <a:r>
              <a:rPr lang="sk-SK" sz="2000" dirty="0"/>
              <a:t>, pane), </a:t>
            </a:r>
            <a:r>
              <a:rPr lang="sk-SK" sz="2000" dirty="0" err="1"/>
              <a:t>webview</a:t>
            </a:r>
            <a:endParaRPr lang="sk-SK" sz="2000" dirty="0"/>
          </a:p>
          <a:p>
            <a:pPr lvl="2"/>
            <a:r>
              <a:rPr lang="sk-SK" sz="2000" dirty="0" err="1"/>
              <a:t>leaf</a:t>
            </a:r>
            <a:r>
              <a:rPr lang="sk-SK" sz="2000" dirty="0"/>
              <a:t> – </a:t>
            </a:r>
            <a:r>
              <a:rPr lang="sk-SK" sz="2000" dirty="0" err="1"/>
              <a:t>nod</a:t>
            </a:r>
            <a:r>
              <a:rPr lang="sk-SK" sz="2000" dirty="0"/>
              <a:t> bez </a:t>
            </a:r>
            <a:r>
              <a:rPr lang="sk-SK" sz="2000" dirty="0" err="1"/>
              <a:t>childov</a:t>
            </a:r>
            <a:r>
              <a:rPr lang="sk-SK" sz="2000" dirty="0"/>
              <a:t> (elipsa, </a:t>
            </a:r>
            <a:r>
              <a:rPr lang="sk-SK" sz="2000" dirty="0" err="1"/>
              <a:t>button</a:t>
            </a:r>
            <a:r>
              <a:rPr lang="sk-SK" sz="2000" dirty="0"/>
              <a:t> a pod.)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8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AAE4BF9-2C16-835D-7325-4EB1285E6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406" y="82036"/>
            <a:ext cx="4432412" cy="475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Štruktúra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main</a:t>
            </a:r>
            <a:r>
              <a:rPr lang="sk-SK" dirty="0"/>
              <a:t> </a:t>
            </a:r>
            <a:r>
              <a:rPr lang="sk-SK" dirty="0" err="1"/>
              <a:t>class</a:t>
            </a:r>
            <a:r>
              <a:rPr lang="sk-SK" dirty="0"/>
              <a:t> je potomkom triedy </a:t>
            </a:r>
            <a:r>
              <a:rPr lang="sk-SK" i="1" dirty="0" err="1"/>
              <a:t>Application</a:t>
            </a:r>
            <a:endParaRPr lang="sk-SK" i="1" dirty="0"/>
          </a:p>
          <a:p>
            <a:r>
              <a:rPr lang="sk-SK" dirty="0"/>
              <a:t>metóda </a:t>
            </a:r>
            <a:r>
              <a:rPr lang="sk-SK" i="1" dirty="0" err="1"/>
              <a:t>main</a:t>
            </a:r>
            <a:r>
              <a:rPr lang="sk-SK" i="1" dirty="0"/>
              <a:t> </a:t>
            </a:r>
            <a:r>
              <a:rPr lang="sk-SK" dirty="0"/>
              <a:t>zabezpečí spustenie s tým, že pre programátora je vstupným bodom metóda </a:t>
            </a:r>
            <a:r>
              <a:rPr lang="sk-SK" i="1" dirty="0" err="1"/>
              <a:t>start</a:t>
            </a:r>
            <a:endParaRPr lang="sk-SK" i="1" dirty="0"/>
          </a:p>
          <a:p>
            <a:pPr lvl="1"/>
            <a:r>
              <a:rPr lang="sk-SK" dirty="0"/>
              <a:t>pripraví scénu</a:t>
            </a:r>
          </a:p>
          <a:p>
            <a:pPr lvl="1"/>
            <a:r>
              <a:rPr lang="sk-SK" dirty="0"/>
              <a:t>nastaví ju do </a:t>
            </a:r>
            <a:r>
              <a:rPr lang="sk-SK" dirty="0" err="1"/>
              <a:t>stage</a:t>
            </a:r>
            <a:endParaRPr lang="sk-SK" dirty="0"/>
          </a:p>
          <a:p>
            <a:pPr lvl="1"/>
            <a:r>
              <a:rPr lang="sk-SK" dirty="0"/>
              <a:t>zobrazí </a:t>
            </a:r>
            <a:r>
              <a:rPr lang="sk-SK" dirty="0" err="1"/>
              <a:t>stage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9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56609B2A-16AA-F4C4-428E-179DACC39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685" y="3304310"/>
            <a:ext cx="9446987" cy="30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674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Prvá aplikácia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10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5F7B7F-E031-8EB6-AA64-895C58E63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6270" y="228601"/>
            <a:ext cx="5304786" cy="646330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HelloApplication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Application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start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throws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IOException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vytvorenie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roota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pre prvky scény -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screne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graph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Group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Group();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vytvorenie scény definovaním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a rozmerov   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600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300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nastavenie farby scény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.setFill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Color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BLUE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nastavenie titulku okna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.setTitle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"Moja FX aplikácia"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pridanie scény do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, rozmer sa prispôsobí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.show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 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zobrazenie obsahu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launch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sk-SK" altLang="sk-S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D69D3C9F-95FC-F8A3-89AE-711B6B5DA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178" y="4634728"/>
            <a:ext cx="3423104" cy="185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4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4697B2-5240-1E81-7199-59CC599D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Komponenty </a:t>
            </a:r>
            <a:br>
              <a:rPr lang="sk-SK" dirty="0"/>
            </a:br>
            <a:r>
              <a:rPr lang="sk-SK" dirty="0"/>
              <a:t>v Java FX</a:t>
            </a:r>
          </a:p>
        </p:txBody>
      </p:sp>
    </p:spTree>
    <p:extLst>
      <p:ext uri="{BB962C8B-B14F-4D97-AF65-F5344CB8AC3E}">
        <p14:creationId xmlns:p14="http://schemas.microsoft.com/office/powerpoint/2010/main" val="106946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Komponenty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rovnako ako v rozhraní Swing, používame komponenty aj v </a:t>
            </a:r>
            <a:r>
              <a:rPr lang="sk-SK" dirty="0" err="1"/>
              <a:t>JavaFX</a:t>
            </a:r>
            <a:endParaRPr lang="sk-SK" dirty="0"/>
          </a:p>
          <a:p>
            <a:r>
              <a:rPr lang="sk-SK" dirty="0"/>
              <a:t>v základnom rozhraní, ktoré používame, však nemáme k dispozícii nástroj, ktorý by umožňoval vkladať nové komponenty a vizuálne im nastavovať parametre</a:t>
            </a:r>
          </a:p>
          <a:p>
            <a:r>
              <a:rPr lang="sk-SK" dirty="0"/>
              <a:t>všetko zabezpečuje nami napísaný kód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12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88016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7F8D-A4D3-DCC3-BBDC-0B629E937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FC7A50-C7F2-862F-F5A0-F8BBCED3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Komponenty v </a:t>
            </a:r>
            <a:r>
              <a:rPr lang="sk-SK" b="1" dirty="0" err="1"/>
              <a:t>JavaFX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7F9B39A-90A0-6FDD-2EA7-4BCE21D55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Button</a:t>
            </a:r>
          </a:p>
          <a:p>
            <a:r>
              <a:rPr lang="en-US" dirty="0"/>
              <a:t>Label</a:t>
            </a:r>
          </a:p>
          <a:p>
            <a:r>
              <a:rPr lang="en-US" dirty="0" err="1"/>
              <a:t>TextField</a:t>
            </a:r>
            <a:endParaRPr lang="en-US" dirty="0"/>
          </a:p>
          <a:p>
            <a:r>
              <a:rPr lang="en-US" dirty="0" err="1"/>
              <a:t>CheckBox</a:t>
            </a:r>
            <a:endParaRPr lang="en-US" dirty="0"/>
          </a:p>
          <a:p>
            <a:r>
              <a:rPr lang="en-US" dirty="0" err="1"/>
              <a:t>RadioButton</a:t>
            </a:r>
            <a:endParaRPr lang="en-US" dirty="0"/>
          </a:p>
          <a:p>
            <a:r>
              <a:rPr lang="en-US" dirty="0" err="1"/>
              <a:t>TableView</a:t>
            </a:r>
            <a:endParaRPr lang="en-US" dirty="0"/>
          </a:p>
          <a:p>
            <a:r>
              <a:rPr lang="en-US" dirty="0" err="1"/>
              <a:t>ProgressBar</a:t>
            </a:r>
            <a:endParaRPr lang="en-US" dirty="0"/>
          </a:p>
          <a:p>
            <a:r>
              <a:rPr lang="en-US" dirty="0"/>
              <a:t>…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FC4FF01-1549-5486-7486-56ED21137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13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99160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D832-1837-94D2-3C24-94C3A168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B7A4A1-9F4F-3810-DE10-F613C14E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Pridajme tlačidlá na scénu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3ACA156-E898-D942-DCAC-34719108B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Vytvorme jednoduchú aplikáciu, </a:t>
            </a:r>
            <a:br>
              <a:rPr lang="sk-SK" dirty="0"/>
            </a:br>
            <a:r>
              <a:rPr lang="sk-SK" dirty="0"/>
              <a:t>ktorá bude sčítavať dve zadané čísla.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0FB7986-B910-BF16-BF2D-5DE9744F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14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FE9BBEFE-2186-57F1-D894-6592CEAC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888" y="3818965"/>
            <a:ext cx="4845645" cy="267390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BFFEA6F-882B-5135-5B2D-4B7DA06ED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260" y="2778070"/>
            <a:ext cx="4892301" cy="369331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start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throws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IOException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Group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Group();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b1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Addition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tf1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tf2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addAll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tf2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add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600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300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.setFill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Color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BLUE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.setTitle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"Moja FX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aplikacia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!"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.show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sk-SK" altLang="sk-S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603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18332-0FD3-AE1F-DD59-95A051CA8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D87DF1-60F6-DBCA-64D2-C8AF6FB14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</a:t>
            </a:r>
            <a:r>
              <a:rPr lang="sk-SK" b="1" dirty="0" err="1"/>
              <a:t>čné</a:t>
            </a:r>
            <a:r>
              <a:rPr lang="sk-SK" b="1" dirty="0"/>
              <a:t> umiestnenie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C0CBFF-668C-F1F1-84BE-8680332C4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Group nám umiestni všetky komponenty na súradnicu </a:t>
            </a:r>
            <a:r>
              <a:rPr lang="en-US" dirty="0"/>
              <a:t>[0,0]</a:t>
            </a:r>
            <a:endParaRPr lang="sk-SK" dirty="0"/>
          </a:p>
          <a:p>
            <a:r>
              <a:rPr lang="sk-SK" dirty="0"/>
              <a:t>Dve riešenia:</a:t>
            </a:r>
          </a:p>
          <a:p>
            <a:pPr lvl="1"/>
            <a:r>
              <a:rPr lang="sk-SK" dirty="0"/>
              <a:t>Ručné nastavenie súradníc pomocou </a:t>
            </a:r>
            <a:r>
              <a:rPr lang="sk-SK" dirty="0" err="1"/>
              <a:t>setLayoutX</a:t>
            </a:r>
            <a:r>
              <a:rPr lang="sk-SK" dirty="0"/>
              <a:t> a </a:t>
            </a:r>
            <a:r>
              <a:rPr lang="sk-SK" dirty="0" err="1"/>
              <a:t>setLayoutY</a:t>
            </a:r>
            <a:endParaRPr lang="sk-SK" dirty="0"/>
          </a:p>
          <a:p>
            <a:pPr lvl="1"/>
            <a:r>
              <a:rPr lang="sk-SK" dirty="0" err="1"/>
              <a:t>Layout</a:t>
            </a:r>
            <a:r>
              <a:rPr lang="sk-SK" dirty="0"/>
              <a:t> Manager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4A15644-C5DB-EAA9-C31D-2FE9E6CF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15</a:t>
            </a:fld>
            <a:endParaRPr lang="sk-SK" dirty="0"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27F3E04F-AF70-8EC5-FE5A-FD3424EFB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087" y="4852575"/>
            <a:ext cx="3972479" cy="188621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651A4901-12AB-3307-72B3-639FF4917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958" y="3883079"/>
            <a:ext cx="4337469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 b1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"Addition"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.setLayoutX(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140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.setLayoutY(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80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tf1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.setLayoutX(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.setLayoutY(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tf2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.setLayoutX(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170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.setLayoutY(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sk-SK" altLang="sk-SK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615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78C78-090A-D203-F98E-D3F5FFE0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FF9F4F-A8EF-F91D-FC22-ABD5DC19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Dokončime zadanie </a:t>
            </a:r>
            <a:r>
              <a:rPr lang="sk-SK" b="1" dirty="0">
                <a:sym typeface="Wingdings" panose="05000000000000000000" pitchFamily="2" charset="2"/>
              </a:rPr>
              <a:t>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D55BFD-B216-A22E-1D48-B996D592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C8CCFFA-52F1-A07D-A382-056A6DB41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16</a:t>
            </a:fld>
            <a:endParaRPr lang="sk-SK" dirty="0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03BAE03D-F8C5-E1E3-279A-A50DC9808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669" y="5811767"/>
            <a:ext cx="3962953" cy="1000265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8336B67-6810-AACC-CDAC-4A40CCC8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431" y="1410562"/>
            <a:ext cx="9248750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 b1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"Addition"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.setLayoutX(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140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.setLayoutY(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80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tf1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.setLayoutX(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.setLayoutY(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tf2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.setLayoutX(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170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.setLayoutY(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Label l1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Label(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"Result: "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.setLayoutX(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220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.setLayoutY(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80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.setOnAction(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vysledok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addition(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parseInt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.getText()),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parseInt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.getText()));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.getText()+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valueOf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vysledok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.getChildren().addAll(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.getChildren().add(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sk-SK" altLang="sk-SK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A9DD88A-1883-25E4-1A84-520888661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0401" y="1938948"/>
            <a:ext cx="3423630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addition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sk-SK" altLang="sk-SK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86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Layout</a:t>
            </a:r>
            <a:r>
              <a:rPr lang="sk-SK" b="1" dirty="0"/>
              <a:t> manager 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riadi rozmiestnenie komponentov</a:t>
            </a:r>
            <a:endParaRPr lang="sk-SK" b="1" dirty="0"/>
          </a:p>
          <a:p>
            <a:r>
              <a:rPr lang="sk-SK" dirty="0"/>
              <a:t>jeho cieľom je automaticky vypočítavať polohu a rozmery komponentov</a:t>
            </a:r>
          </a:p>
          <a:p>
            <a:pPr lvl="1"/>
            <a:r>
              <a:rPr lang="sk-SK" dirty="0"/>
              <a:t>a prepočítavať ich napr. pri zmene veľkosti okna, otočení (smartfóny a pod.)</a:t>
            </a:r>
          </a:p>
          <a:p>
            <a:pPr lvl="1"/>
            <a:r>
              <a:rPr lang="sk-SK" dirty="0"/>
              <a:t>nie je štandardné, aby sa komponenty umiestňovali na konkrétnu pozíciu v rámci okna</a:t>
            </a:r>
          </a:p>
          <a:p>
            <a:r>
              <a:rPr lang="sk-SK" dirty="0"/>
              <a:t>k dispozícii je niekoľko </a:t>
            </a:r>
            <a:r>
              <a:rPr lang="sk-SK" dirty="0" err="1"/>
              <a:t>layout</a:t>
            </a:r>
            <a:r>
              <a:rPr lang="sk-SK" dirty="0"/>
              <a:t> managerov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17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551826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Layout</a:t>
            </a:r>
            <a:r>
              <a:rPr lang="sk-SK" b="1" dirty="0"/>
              <a:t> manager II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sz="2400" b="1" dirty="0" err="1"/>
              <a:t>HBox</a:t>
            </a:r>
            <a:r>
              <a:rPr lang="sk-SK" sz="2400" dirty="0"/>
              <a:t> – umiestňuje komponenty do horizontálne riadku</a:t>
            </a:r>
          </a:p>
          <a:p>
            <a:r>
              <a:rPr lang="sk-SK" sz="2400" b="1" dirty="0" err="1"/>
              <a:t>VBox</a:t>
            </a:r>
            <a:r>
              <a:rPr lang="sk-SK" sz="2400" dirty="0"/>
              <a:t> – vertikálne do stĺpca</a:t>
            </a:r>
          </a:p>
          <a:p>
            <a:r>
              <a:rPr lang="sk-SK" sz="2400" b="1" dirty="0" err="1"/>
              <a:t>BorderPane</a:t>
            </a:r>
            <a:r>
              <a:rPr lang="sk-SK" sz="2400" dirty="0"/>
              <a:t> – na vrch a spodok (celá šírka), pravú alebo ľavú stranu alebo do stredu</a:t>
            </a:r>
          </a:p>
          <a:p>
            <a:r>
              <a:rPr lang="sk-SK" sz="2400" b="1" dirty="0" err="1"/>
              <a:t>StackPane</a:t>
            </a:r>
            <a:r>
              <a:rPr lang="sk-SK" sz="2400" dirty="0"/>
              <a:t> – ukladá komponenty na seba (do stredu okna)</a:t>
            </a:r>
          </a:p>
          <a:p>
            <a:pPr lvl="1"/>
            <a:r>
              <a:rPr lang="sk-SK" sz="1800" dirty="0"/>
              <a:t>tento </a:t>
            </a:r>
            <a:r>
              <a:rPr lang="sk-SK" sz="1800" dirty="0" err="1"/>
              <a:t>layout</a:t>
            </a:r>
            <a:r>
              <a:rPr lang="sk-SK" sz="1800" dirty="0"/>
              <a:t> manager je nastavený aj vo východiskovom kóde</a:t>
            </a:r>
          </a:p>
          <a:p>
            <a:pPr lvl="1"/>
            <a:r>
              <a:rPr lang="sk-SK" sz="1800" dirty="0"/>
              <a:t>nie je moc praktický...</a:t>
            </a:r>
          </a:p>
          <a:p>
            <a:r>
              <a:rPr lang="sk-SK" sz="2400" b="1" dirty="0" err="1"/>
              <a:t>GridPane</a:t>
            </a:r>
            <a:r>
              <a:rPr lang="sk-SK" sz="2400" dirty="0"/>
              <a:t> – rozmiestňuje komponenty do mriežky (tabuľky)</a:t>
            </a:r>
          </a:p>
          <a:p>
            <a:endParaRPr lang="sk-SK" sz="2400" dirty="0"/>
          </a:p>
          <a:p>
            <a:r>
              <a:rPr lang="sk-SK" sz="2400" b="1" dirty="0"/>
              <a:t>každé rozloženie má mnoho parametrov, ktoré umožňujú doladiť obsah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18</a:t>
            </a:fld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3F93DB23-F89A-A542-543F-9B24A0399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041" y="21486"/>
            <a:ext cx="2889786" cy="791617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9F3881C8-AEEA-8DE0-848F-DB3267093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757" y="634152"/>
            <a:ext cx="2138561" cy="1913449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208E88FE-66C1-2D8B-2A0A-AEA915034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565" y="923952"/>
            <a:ext cx="2423262" cy="1913450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CBE25878-E3E0-C2AA-A84F-45C0906D4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5815" y="3115284"/>
            <a:ext cx="2119685" cy="2318620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8EB46F57-0D47-4E68-AAA8-003F7C6623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081" y="5534076"/>
            <a:ext cx="3162473" cy="184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46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Vytvorenie dizajnu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najjednoduchší vzhľadom na naše potreby je </a:t>
            </a:r>
            <a:r>
              <a:rPr lang="sk-SK" dirty="0" err="1"/>
              <a:t>VBox</a:t>
            </a:r>
            <a:r>
              <a:rPr lang="sk-SK" dirty="0"/>
              <a:t> alebo </a:t>
            </a:r>
            <a:r>
              <a:rPr lang="sk-SK" dirty="0" err="1"/>
              <a:t>HBox</a:t>
            </a:r>
            <a:endParaRPr lang="sk-SK" dirty="0"/>
          </a:p>
          <a:p>
            <a:r>
              <a:rPr lang="sk-SK" dirty="0"/>
              <a:t>vytvoríme priestor pre zadanie dvoch čísel, tlačidla a </a:t>
            </a:r>
            <a:r>
              <a:rPr lang="sk-SK" dirty="0" err="1"/>
              <a:t>label</a:t>
            </a:r>
            <a:r>
              <a:rPr lang="sk-SK" dirty="0"/>
              <a:t>-u pre výstup</a:t>
            </a:r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endParaRPr lang="sk-SK" dirty="0"/>
          </a:p>
          <a:p>
            <a:r>
              <a:rPr lang="sk-SK" dirty="0"/>
              <a:t>vzhľad nie je príliš pútavý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19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03E94F53-0490-2E53-ED24-C1C4184B4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081" y="4291421"/>
            <a:ext cx="3134162" cy="236253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BCC7F55-2A30-8B08-D754-57088A47B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7673" y="2870539"/>
            <a:ext cx="4658327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t2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konstruktor s textom</a:t>
            </a:r>
            <a:b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 b1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"počítaj"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Label l1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Label(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"-- sem pride vysledok --"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VBox root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VBox();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.getChildren().addAll(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t2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sk-SK" altLang="sk-SK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6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Úprava dizajnu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sk-SK" sz="2800" b="0" dirty="0"/>
          </a:p>
          <a:p>
            <a:endParaRPr lang="sk-SK" dirty="0"/>
          </a:p>
          <a:p>
            <a:endParaRPr lang="sk-SK" sz="2800" b="0" dirty="0"/>
          </a:p>
          <a:p>
            <a:endParaRPr lang="sk-SK" dirty="0"/>
          </a:p>
          <a:p>
            <a:endParaRPr lang="sk-SK" sz="2800" b="0" dirty="0"/>
          </a:p>
          <a:p>
            <a:endParaRPr lang="sk-SK" dirty="0"/>
          </a:p>
          <a:p>
            <a:endParaRPr lang="sk-SK" sz="2800" b="0" dirty="0"/>
          </a:p>
          <a:p>
            <a:r>
              <a:rPr lang="sk-SK" sz="2800" b="0" dirty="0" err="1"/>
              <a:t>Insets</a:t>
            </a:r>
            <a:r>
              <a:rPr lang="sk-SK" sz="2800" b="0" dirty="0"/>
              <a:t> predstavuje objekt definujúci štvoricu hodnôt pre </a:t>
            </a:r>
            <a:br>
              <a:rPr lang="sk-SK" sz="2800" b="0" dirty="0"/>
            </a:br>
            <a:r>
              <a:rPr lang="sk-SK" sz="2800" b="0" dirty="0"/>
              <a:t>okraje v poradí </a:t>
            </a:r>
            <a:r>
              <a:rPr lang="en-US" sz="2800" b="0" i="1" dirty="0"/>
              <a:t>top, right, bottom, left</a:t>
            </a:r>
            <a:endParaRPr lang="sk-SK" sz="2800" b="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20</a:t>
            </a:fld>
            <a:endParaRPr lang="sk-SK" dirty="0"/>
          </a:p>
        </p:txBody>
      </p:sp>
      <p:sp>
        <p:nvSpPr>
          <p:cNvPr id="5" name="Zástupný objekt pre obsah 1">
            <a:extLst>
              <a:ext uri="{FF2B5EF4-FFF2-40B4-BE49-F238E27FC236}">
                <a16:creationId xmlns:a16="http://schemas.microsoft.com/office/drawing/2014/main" id="{4B34C390-14BD-7D06-CDCA-F47D0D8E945B}"/>
              </a:ext>
            </a:extLst>
          </p:cNvPr>
          <p:cNvSpPr txBox="1">
            <a:spLocks/>
          </p:cNvSpPr>
          <p:nvPr/>
        </p:nvSpPr>
        <p:spPr>
          <a:xfrm>
            <a:off x="9315450" y="1351007"/>
            <a:ext cx="2876550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charset="2"/>
              <a:buChar char="§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sz="2400" dirty="0"/>
              <a:t>každý </a:t>
            </a:r>
            <a:r>
              <a:rPr lang="sk-SK" sz="2400" dirty="0" err="1"/>
              <a:t>layout</a:t>
            </a:r>
            <a:r>
              <a:rPr lang="sk-SK" sz="2400" dirty="0"/>
              <a:t> manager (LM) má svoje typické nastavenia, ktoré vylepšujú vzhľad</a:t>
            </a:r>
          </a:p>
          <a:p>
            <a:endParaRPr lang="sk-SK" sz="2400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FB3616AA-F541-C9BC-50EE-6902C9CF5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3727271"/>
            <a:ext cx="2743583" cy="289600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C62CEDC1-FE8B-E110-5AE3-A5BBC09CE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208" y="1100695"/>
            <a:ext cx="4658327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t2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konstruktor s textom</a:t>
            </a:r>
            <a:b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 b1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"počítaj"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Label l1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Label(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"-- sem pride vysledok --"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VBox root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VBox();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medzery medzi nodmi</a:t>
            </a:r>
            <a:b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.setSpacing(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okraje pre každý zvlášť</a:t>
            </a:r>
            <a:b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setMargin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Insets(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setMargin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t2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Insets(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zarovnanie na stred</a:t>
            </a:r>
            <a:b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.setAlignment(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Pos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CENTER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.getChildren().addAll(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t2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sk-SK" altLang="sk-SK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935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HBox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ak rozmer spustenej aplikácie  zmeníme, </a:t>
            </a:r>
            <a:br>
              <a:rPr lang="sk-SK" sz="2800" dirty="0"/>
            </a:br>
            <a:r>
              <a:rPr lang="sk-SK" sz="2800" dirty="0"/>
              <a:t>zmení sa aj viditeľnosť obsahu</a:t>
            </a:r>
          </a:p>
          <a:p>
            <a:r>
              <a:rPr lang="sk-SK" sz="2800" dirty="0" err="1"/>
              <a:t>nody</a:t>
            </a:r>
            <a:r>
              <a:rPr lang="sk-SK" sz="2800" dirty="0"/>
              <a:t> sa prispôsobujú</a:t>
            </a:r>
          </a:p>
          <a:p>
            <a:endParaRPr lang="sk-SK" sz="28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21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267C5EAE-DDBA-DBE6-358B-96B2B1FFA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111" y="3690592"/>
            <a:ext cx="2857899" cy="2333951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35E33346-C19E-4BDA-E739-41476E023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933" y="4044988"/>
            <a:ext cx="6315956" cy="235300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2548222C-553C-3E23-3B46-1103DE934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374" y="1319211"/>
            <a:ext cx="4658327" cy="258532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t1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t2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konstruktor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s textom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b1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"počítaj"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Label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l1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Label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"-- sem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pride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vysledok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--"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HBox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medzery medzi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nodmi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.setSpacing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addAll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t2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sk-SK" altLang="sk-S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053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GridPane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veľkosť </a:t>
            </a:r>
            <a:r>
              <a:rPr lang="sk-SK" sz="2800" dirty="0" err="1"/>
              <a:t>gridu</a:t>
            </a:r>
            <a:r>
              <a:rPr lang="sk-SK" sz="2800" dirty="0"/>
              <a:t> sa nastaví podľa vložených </a:t>
            </a:r>
            <a:br>
              <a:rPr lang="sk-SK" sz="2800" dirty="0"/>
            </a:br>
            <a:r>
              <a:rPr lang="sk-SK" sz="2800" dirty="0"/>
              <a:t>komponentov</a:t>
            </a:r>
          </a:p>
          <a:p>
            <a:endParaRPr lang="sk-SK" sz="2800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22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237D8692-12B9-816E-162F-AC644C4BC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465" y="3916895"/>
            <a:ext cx="3858163" cy="1800476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9AA958F-E9AA-8FC4-0090-4DC8A6CBE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136" y="916057"/>
            <a:ext cx="4658327" cy="48013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t1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t2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konstruktor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s textom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b1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"počítaj"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Label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l1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Label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"-- sem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pride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vysledok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--"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GridPane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GridPane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medzery okolo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nodov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.setPadding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Insets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vytvorené komponenty umiestni do 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gridu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setConstraints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setConstraints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t2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setConstraints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setConstraints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root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addAll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t2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sk-SK" altLang="sk-S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562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07F924-37B9-F295-05FB-C83F1B112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Oživenie aplikácie 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6644D4A-E2C5-ADED-3B25-F857AEA99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i="1" dirty="0"/>
              <a:t>Zabezpečte funkčnosť aplikácie.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A158B9F-D55E-E775-A5D8-D3C5423E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23</a:t>
            </a:fld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1BB0284D-33DB-EF1B-9FF3-F8DE42450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753" y="2868486"/>
            <a:ext cx="6315956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95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935034-7C13-842D-5DAF-34B6F4CC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Udalosti v Java FX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1FAB3A-5108-33D3-8748-FBF9B889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400" dirty="0"/>
              <a:t>ľubovoľnému prvku (komponentu) pridáme prakticky ľubovoľnú podporovanú akcie</a:t>
            </a:r>
          </a:p>
          <a:p>
            <a:pPr lvl="1"/>
            <a:r>
              <a:rPr lang="sk-SK" sz="1800" dirty="0"/>
              <a:t>v tomto prípade (</a:t>
            </a:r>
            <a:r>
              <a:rPr lang="sk-SK" sz="1800" i="1" dirty="0" err="1"/>
              <a:t>setOnAction</a:t>
            </a:r>
            <a:r>
              <a:rPr lang="sk-SK" sz="1800" dirty="0"/>
              <a:t>) je to reakcia na akciu (stlačenie </a:t>
            </a:r>
            <a:r>
              <a:rPr lang="sk-SK" sz="1800" dirty="0" err="1"/>
              <a:t>Enter</a:t>
            </a:r>
            <a:r>
              <a:rPr lang="sk-SK" sz="1800" dirty="0"/>
              <a:t> na </a:t>
            </a:r>
            <a:r>
              <a:rPr lang="sk-SK" sz="1800" dirty="0" err="1"/>
              <a:t>buttone</a:t>
            </a:r>
            <a:r>
              <a:rPr lang="sk-SK" sz="1800" dirty="0"/>
              <a:t>, kliknutie myšou na) a pod.)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EC83DD2-884A-68C3-6992-43A9B3AF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24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82B6FB8-8A7A-DE7D-C724-04DFE3E04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139" y="3290501"/>
            <a:ext cx="5689443" cy="286232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 btn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Button();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btn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"Say 'Hello World'"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btn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.setOnAction(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ActionEvent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ActionEvent event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"Hello World!"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endParaRPr kumimoji="0" lang="sk-SK" altLang="sk-SK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88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FD0480-A733-D99D-968A-A5659D4B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setOnAction</a:t>
            </a:r>
            <a:r>
              <a:rPr lang="sk-SK" b="1" dirty="0"/>
              <a:t> 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C2115A7-77ED-A0ED-D3D0-CEF40DA8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udalosť analogická s </a:t>
            </a:r>
            <a:r>
              <a:rPr lang="sk-SK" sz="2800" i="1" dirty="0" err="1"/>
              <a:t>actionPerformed</a:t>
            </a:r>
            <a:r>
              <a:rPr lang="sk-SK" sz="2800" dirty="0"/>
              <a:t> vo </a:t>
            </a:r>
            <a:r>
              <a:rPr lang="sk-SK" sz="2800" i="1" dirty="0"/>
              <a:t>Swing</a:t>
            </a:r>
          </a:p>
          <a:p>
            <a:pPr lvl="1"/>
            <a:r>
              <a:rPr lang="sk-SK" sz="2400" dirty="0"/>
              <a:t>kód pre ňu definovaný sa vykoná ak na komponente (tlačidle) nastane akcia</a:t>
            </a:r>
          </a:p>
          <a:p>
            <a:pPr lvl="1"/>
            <a:r>
              <a:rPr lang="sk-SK" sz="2400" dirty="0"/>
              <a:t>na to, aby bolo možné akciu zachytiť potrebujeme zachytávač – </a:t>
            </a:r>
            <a:r>
              <a:rPr lang="sk-SK" sz="2400" dirty="0" err="1"/>
              <a:t>handler</a:t>
            </a:r>
            <a:r>
              <a:rPr lang="sk-SK" sz="2400" dirty="0"/>
              <a:t>, ktorý sa postará o zachytenie a spracovanie udalosti v metóde </a:t>
            </a:r>
            <a:r>
              <a:rPr lang="sk-SK" sz="2400" dirty="0" err="1"/>
              <a:t>handle</a:t>
            </a:r>
            <a:endParaRPr lang="sk-SK" sz="2400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350D78A-63D3-A8C3-F122-AB5F6AFE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25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B8E5722-BD38-71FC-B62F-7F1A2F4A1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1278" y="3534905"/>
            <a:ext cx="5689443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 btn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Button();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btn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.setOnAction(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ActionEvent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ActionEvent event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"Hello World!"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endParaRPr kumimoji="0" lang="sk-SK" altLang="sk-SK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832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9A5717-90F0-CEA7-1E49-71A8897F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setOnAction</a:t>
            </a:r>
            <a:r>
              <a:rPr lang="sk-SK" b="1" dirty="0"/>
              <a:t> II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C0A3E56-09B4-E866-0CFE-36D5F5236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pre naše potreby prečítame hodnoty z textových polí a vypíšeme ich súčet do </a:t>
            </a:r>
            <a:r>
              <a:rPr lang="sk-SK" sz="2800" i="1" dirty="0" err="1"/>
              <a:t>Label</a:t>
            </a:r>
            <a:r>
              <a:rPr lang="sk-SK" sz="2800" dirty="0"/>
              <a:t>-u</a:t>
            </a:r>
          </a:p>
          <a:p>
            <a:r>
              <a:rPr lang="sk-SK" sz="2800" dirty="0"/>
              <a:t>komponenty, na ktoré sa chceme odvolávať, musia byť uvedené v kóde predtým</a:t>
            </a:r>
            <a:endParaRPr lang="sk-SK" sz="2400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F42C95D-E3A1-867F-A00A-1E031200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26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0EEE253-D17C-59E7-6C98-4C28F8CC0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5474" y="3237631"/>
            <a:ext cx="5055166" cy="34163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t2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TextField();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 b1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Button(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"počítaj"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Label l1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Label(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"-- sem pride vysledok --"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.setOnAction(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ActionEvent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ActionEvent event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parseInt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t1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.getText());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parseInt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t2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.getText());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endParaRPr kumimoji="0" lang="sk-SK" altLang="sk-SK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639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2B5744-24E0-BD2F-F6A2-24B5446C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Zoomovanie</a:t>
            </a:r>
            <a:r>
              <a:rPr lang="sk-SK" b="1" dirty="0"/>
              <a:t> </a:t>
            </a:r>
            <a:r>
              <a:rPr lang="sk-SK" b="1" dirty="0" err="1"/>
              <a:t>Label</a:t>
            </a:r>
            <a:r>
              <a:rPr lang="sk-SK" b="1" dirty="0"/>
              <a:t>-u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4FED73-AD2A-43A0-47FC-5A3C470D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udalosť príchodu myši nad komponent a opustenia komponentu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BA41272-9C0F-FA26-82A4-68B9ACA2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27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BFCDA4-9253-B7D2-5D03-71B5920F8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232" y="2406634"/>
            <a:ext cx="5805757" cy="42473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.setOnMouseEntered(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 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.setScaleX(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1.5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.setScaleY(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1.5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.setOnMouseExited(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 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.setScaleX(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.setScaleY(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endParaRPr kumimoji="0" lang="sk-SK" altLang="sk-SK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35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89F756-1F46-2588-18D6-74C52608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Tiene pre tlačidlo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9306A94-E824-39CB-9B3D-5492E74F6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pridanie tieňa pri nastavení </a:t>
            </a:r>
            <a:br>
              <a:rPr lang="sk-SK" dirty="0"/>
            </a:br>
            <a:r>
              <a:rPr lang="sk-SK" dirty="0"/>
              <a:t>sa nad komponent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FACC68F-6C17-3AD3-2B5E-C816D4DC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28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C3C9CC-65ED-C020-FCA2-351D0185F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4826" y="1307418"/>
            <a:ext cx="5758564" cy="50167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DropShadow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shadow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DropShadow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shadow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.setColor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Color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BLUE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.addEventHandler(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MOUSE_ENTERED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.setEffect(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shadow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.addEventHandler(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MOUSE_EXITED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.setEffect(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});</a:t>
            </a:r>
            <a:endParaRPr kumimoji="0" lang="sk-SK" altLang="sk-SK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409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82CE42-22A9-18E4-2365-FC2BF558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Ošetrenie udalostí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5105469-944B-6159-F395-25508ECFF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ide o dva zápisy rovnakého kódu, v druhom prípade použijeme pridanie všeobecného </a:t>
            </a:r>
            <a:r>
              <a:rPr lang="sk-SK" sz="2800" dirty="0" err="1"/>
              <a:t>handlera</a:t>
            </a:r>
            <a:r>
              <a:rPr lang="sk-SK" sz="2800" dirty="0"/>
              <a:t>, ktorý vytvoríme na zachytávanie udalostí typu </a:t>
            </a:r>
            <a:r>
              <a:rPr lang="sk-SK" sz="2800" i="1" dirty="0" err="1"/>
              <a:t>MouseEntered</a:t>
            </a:r>
            <a:endParaRPr lang="sk-SK" sz="2800" i="1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DA03BC-D1F0-2BF4-72F4-5ED69F5AE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29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737417-9A00-EA07-774E-9C4FBFD98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744" y="3110057"/>
            <a:ext cx="6432274" cy="224676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.setOnMouseEntered(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.setScaleX(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1.5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l1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.setScaleY(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1.5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endParaRPr kumimoji="0" lang="sk-SK" altLang="sk-SK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E284D69-815E-7601-FE87-7F104215B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233441"/>
            <a:ext cx="5758564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.addEventHandler(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MOUSE_ENTERED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EventHandler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&gt;()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@Override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handle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MouseEvent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b1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.setEffect(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shadow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});</a:t>
            </a:r>
            <a:endParaRPr kumimoji="0" lang="sk-SK" altLang="sk-SK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5438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AD6DBD-4F3A-8AF0-3041-3B8FFD974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Záver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295A9F0-0549-93EC-E273-AEE7D696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máme k dispozícii základné znalosti:</a:t>
            </a:r>
          </a:p>
          <a:p>
            <a:pPr lvl="1"/>
            <a:r>
              <a:rPr lang="sk-SK" dirty="0"/>
              <a:t>pre prácu s komponentami </a:t>
            </a:r>
          </a:p>
          <a:p>
            <a:pPr lvl="1"/>
            <a:r>
              <a:rPr lang="sk-SK" dirty="0"/>
              <a:t>spracovanie vybraných udalostí</a:t>
            </a:r>
          </a:p>
          <a:p>
            <a:r>
              <a:rPr lang="sk-SK" dirty="0"/>
              <a:t>môžeme začať vytvárať graficky príťažlivé aplikácie a súčasne začať chápať vnútorné fungovanie jazyka Java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451979C-129C-2B8D-966B-84F4DD69D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30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39613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4697B2-5240-1E81-7199-59CC599D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Vytváranie aplikácii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09262BD-6F4C-6CD9-3EFE-6829FF09F3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4A10919B-3290-A24A-DF14-6DBB8AA81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sk-SK"/>
          </a:p>
        </p:txBody>
      </p:sp>
      <p:sp>
        <p:nvSpPr>
          <p:cNvPr id="9" name="Zástupný text 8">
            <a:extLst>
              <a:ext uri="{FF2B5EF4-FFF2-40B4-BE49-F238E27FC236}">
                <a16:creationId xmlns:a16="http://schemas.microsoft.com/office/drawing/2014/main" id="{8168DA7A-CBB3-96AB-52D0-80576409D9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658090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06FF33-7318-2C17-443D-0EBB589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Rozloženie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2D2547-524E-6AA1-3929-2922A5E46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89516" cy="4351338"/>
          </a:xfrm>
        </p:spPr>
        <p:txBody>
          <a:bodyPr/>
          <a:lstStyle/>
          <a:p>
            <a:r>
              <a:rPr lang="sk-SK" sz="2800" dirty="0"/>
              <a:t>Java nám dovoľuje kombinovať GUI objekty a  grafické objekty a vykresľovať ich na </a:t>
            </a:r>
            <a:r>
              <a:rPr lang="en-US" sz="2800" dirty="0" err="1"/>
              <a:t>sc</a:t>
            </a:r>
            <a:r>
              <a:rPr lang="sk-SK" sz="2800" dirty="0" err="1"/>
              <a:t>énu</a:t>
            </a:r>
            <a:endParaRPr lang="en-US" sz="2800" dirty="0"/>
          </a:p>
          <a:p>
            <a:r>
              <a:rPr lang="sk-SK" sz="2800" dirty="0"/>
              <a:t>Môžeme tak robiť priamo v hlavnej časti </a:t>
            </a:r>
            <a:r>
              <a:rPr lang="sk-SK" sz="2800" dirty="0" err="1"/>
              <a:t>časti</a:t>
            </a:r>
            <a:r>
              <a:rPr lang="sk-SK" sz="2800" dirty="0"/>
              <a:t> = neprehľadné (ale často používané)</a:t>
            </a:r>
          </a:p>
          <a:p>
            <a:r>
              <a:rPr lang="sk-SK" sz="2800" dirty="0"/>
              <a:t>Alebo si vytvoriť vlastnú triedu, ktorej inštancie budeme pridávať na scénu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DD297A2-E04A-85C0-52CC-383592B4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32</a:t>
            </a:fld>
            <a:endParaRPr lang="sk-SK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9C70AD28-042E-183F-6EE6-FF9163FBE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928" y="1690688"/>
            <a:ext cx="3442625" cy="439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88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8363EC-34AF-C2CE-F99B-95A036DF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Výber vhodnej triedy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CB8EB27-2095-C23D-73E6-D9AEF953A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sz="2800" dirty="0"/>
          </a:p>
          <a:p>
            <a:endParaRPr lang="sk-SK" dirty="0"/>
          </a:p>
          <a:p>
            <a:endParaRPr lang="sk-SK" sz="2800" dirty="0"/>
          </a:p>
          <a:p>
            <a:endParaRPr lang="sk-SK" sz="2800" dirty="0"/>
          </a:p>
          <a:p>
            <a:r>
              <a:rPr lang="sk-SK" sz="2800" dirty="0"/>
              <a:t>Ideálne je nájsť takú úroveň v hierarchii prvkov, ktorá:</a:t>
            </a:r>
          </a:p>
          <a:p>
            <a:pPr lvl="1"/>
            <a:r>
              <a:rPr lang="sk-SK" sz="2400" dirty="0"/>
              <a:t>poskytne dostatok existujúcich metód (aby sme ich nemuseli programovať)</a:t>
            </a:r>
          </a:p>
          <a:p>
            <a:pPr lvl="1"/>
            <a:r>
              <a:rPr lang="sk-SK" sz="2400" dirty="0"/>
              <a:t>nepripraví nás o výhody architektúry Java FX (CSS, MVC a pod.)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DC4E63F-66F9-E6BE-4545-5E972B27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33</a:t>
            </a:fld>
            <a:endParaRPr lang="sk-SK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BB700D13-9662-C827-A16D-4B64DBB0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675" y="-147612"/>
            <a:ext cx="5217250" cy="38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68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D73C8A-EB6E-EC3C-945B-B292CC0C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Ideálne riešenie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267D9C0-37E7-4D4E-EF41-350A67ECF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400" dirty="0"/>
              <a:t>Neexistuje</a:t>
            </a:r>
          </a:p>
          <a:p>
            <a:r>
              <a:rPr lang="sk-SK" sz="2400" dirty="0"/>
              <a:t>Závisí od aktuálnych potrieb </a:t>
            </a:r>
            <a:br>
              <a:rPr lang="sk-SK" sz="2400" dirty="0"/>
            </a:br>
            <a:r>
              <a:rPr lang="sk-SK" sz="2400" dirty="0"/>
              <a:t>a situácie</a:t>
            </a:r>
          </a:p>
          <a:p>
            <a:r>
              <a:rPr lang="sk-SK" sz="2400" dirty="0"/>
              <a:t>V prípade kreslenia zvolíme </a:t>
            </a:r>
            <a:br>
              <a:rPr lang="sk-SK" sz="2400" dirty="0"/>
            </a:br>
            <a:r>
              <a:rPr lang="sk-SK" sz="2400" dirty="0"/>
              <a:t>triedu </a:t>
            </a:r>
            <a:r>
              <a:rPr lang="sk-SK" sz="2400" b="1" i="1" dirty="0" err="1">
                <a:solidFill>
                  <a:schemeClr val="accent6">
                    <a:lumMod val="75000"/>
                  </a:schemeClr>
                </a:solidFill>
              </a:rPr>
              <a:t>Canvas</a:t>
            </a:r>
            <a:r>
              <a:rPr lang="sk-SK" sz="2400" dirty="0"/>
              <a:t>, ktorá:</a:t>
            </a:r>
          </a:p>
          <a:p>
            <a:pPr lvl="1"/>
            <a:r>
              <a:rPr lang="sk-SK" sz="2000" dirty="0"/>
              <a:t>je priamym potomkom </a:t>
            </a:r>
            <a:r>
              <a:rPr lang="sk-SK" sz="2000" i="1" dirty="0" err="1"/>
              <a:t>Node</a:t>
            </a:r>
            <a:endParaRPr lang="sk-SK" sz="2000" i="1" dirty="0"/>
          </a:p>
          <a:p>
            <a:pPr lvl="1"/>
            <a:r>
              <a:rPr lang="sk-SK" sz="2000" dirty="0"/>
              <a:t>nepodporuje </a:t>
            </a:r>
            <a:r>
              <a:rPr lang="sk-SK" sz="2000" dirty="0" err="1"/>
              <a:t>skinovanie</a:t>
            </a:r>
            <a:r>
              <a:rPr lang="sk-SK" sz="2000" dirty="0"/>
              <a:t> cez CSS</a:t>
            </a:r>
          </a:p>
          <a:p>
            <a:pPr lvl="1"/>
            <a:r>
              <a:rPr lang="sk-SK" sz="2000" dirty="0"/>
              <a:t>dovoľuje vykresľovanie obsahu na svoju plochu</a:t>
            </a:r>
          </a:p>
          <a:p>
            <a:pPr lvl="1"/>
            <a:r>
              <a:rPr lang="sk-SK" sz="2000" dirty="0"/>
              <a:t>dokáže spracúvať udalosti, ktoré sa na nej odohrajú</a:t>
            </a:r>
          </a:p>
          <a:p>
            <a:pPr lvl="1"/>
            <a:r>
              <a:rPr lang="sk-SK" sz="2000" dirty="0"/>
              <a:t>súčasťou </a:t>
            </a:r>
            <a:r>
              <a:rPr lang="sk-SK" sz="2000" i="1" dirty="0" err="1"/>
              <a:t>Scene</a:t>
            </a:r>
            <a:r>
              <a:rPr lang="sk-SK" sz="2000" dirty="0"/>
              <a:t> môže byť ľubovoľný počet jej potomkov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0F4D73C-ECA3-90B2-45A9-525DB6EB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34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43432748-8F54-4189-84F4-7C56E5F3F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974" y="21486"/>
            <a:ext cx="6512526" cy="476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41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9AEE-04A3-6AC6-AEEC-6DB3A4E0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EDE1C5-194C-18ED-4703-A8BD83C9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SceneBuilder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67CD80-3740-931E-354B-B852C705B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Editor na používateľské rozhranie pre </a:t>
            </a:r>
            <a:r>
              <a:rPr lang="sk-SK" dirty="0" err="1"/>
              <a:t>JavaFX</a:t>
            </a:r>
            <a:endParaRPr lang="sk-SK" dirty="0"/>
          </a:p>
          <a:p>
            <a:r>
              <a:rPr lang="sk-SK" dirty="0"/>
              <a:t>Generuje FXML – nie Java kód</a:t>
            </a:r>
          </a:p>
          <a:p>
            <a:r>
              <a:rPr lang="sk-SK" dirty="0"/>
              <a:t>Oddeľuje sa tým vzhľad aplikácie (FXML) od logiky (</a:t>
            </a:r>
            <a:r>
              <a:rPr lang="sk-SK" dirty="0" err="1"/>
              <a:t>Controller</a:t>
            </a:r>
            <a:r>
              <a:rPr lang="sk-SK" dirty="0"/>
              <a:t>)</a:t>
            </a:r>
          </a:p>
          <a:p>
            <a:r>
              <a:rPr lang="sk-SK" dirty="0"/>
              <a:t>Výhody:</a:t>
            </a:r>
          </a:p>
          <a:p>
            <a:pPr lvl="1"/>
            <a:r>
              <a:rPr lang="sk-SK" dirty="0"/>
              <a:t>Šetrenie času návrhu</a:t>
            </a:r>
          </a:p>
          <a:p>
            <a:pPr lvl="1"/>
            <a:r>
              <a:rPr lang="sk-SK" dirty="0"/>
              <a:t>Nastavenie štýlov cez menu</a:t>
            </a:r>
          </a:p>
          <a:p>
            <a:pPr lvl="1"/>
            <a:r>
              <a:rPr lang="sk-SK" dirty="0"/>
              <a:t>Rozloženie komponentov pomocou </a:t>
            </a:r>
            <a:r>
              <a:rPr lang="sk-SK" dirty="0" err="1"/>
              <a:t>drag</a:t>
            </a:r>
            <a:r>
              <a:rPr lang="en-US" dirty="0"/>
              <a:t>&amp;</a:t>
            </a:r>
            <a:r>
              <a:rPr lang="sk-SK" dirty="0"/>
              <a:t>drop</a:t>
            </a:r>
          </a:p>
          <a:p>
            <a:r>
              <a:rPr lang="sk-SK" dirty="0"/>
              <a:t>Výsledkom je v zásade XML súbor</a:t>
            </a:r>
            <a:endParaRPr lang="en-US" dirty="0"/>
          </a:p>
          <a:p>
            <a:endParaRPr lang="sk-SK" sz="2800" dirty="0"/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DE31977-48DE-1CC0-5050-35BEC6F6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35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24921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0F37D-DA0F-0E68-724F-58AF76CB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F3C261-3CEB-E1E6-801D-8881A99A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Štruktúra FXML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07FD02-5805-1D76-622C-CB4D9A075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FXML a CSS súbory sa umiestňujú do </a:t>
            </a:r>
            <a:r>
              <a:rPr lang="sk-SK" dirty="0" err="1"/>
              <a:t>resources</a:t>
            </a:r>
            <a:endParaRPr lang="sk-SK" dirty="0"/>
          </a:p>
          <a:p>
            <a:r>
              <a:rPr lang="sk-SK" sz="2800" dirty="0"/>
              <a:t>Načítanie zdrojov prebieha pomocou príkazu</a:t>
            </a:r>
            <a:br>
              <a:rPr lang="sk-SK" sz="2800" dirty="0"/>
            </a:br>
            <a:r>
              <a:rPr lang="sk-SK" sz="2800" dirty="0" err="1"/>
              <a:t>getResource</a:t>
            </a:r>
            <a:r>
              <a:rPr lang="sk-SK" sz="2800" dirty="0"/>
              <a:t>()</a:t>
            </a:r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CB317FD-FC58-B966-1500-6536C7F4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36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834ADDB1-1E99-43EF-9BE8-7126DE253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185" y="277597"/>
            <a:ext cx="2814582" cy="246560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B89196-086F-7DD5-BAFB-5DE52235A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193" y="3720393"/>
            <a:ext cx="9723944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start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 stage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throws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IOException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FXMLLoader fxmlLoader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FXMLLoader(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HelloApplication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.getResource(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"hello-view.fxml"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 scene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Scene(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fxmlLoader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.load(),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320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240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.setTitle(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"Hello!"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.setScene(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scene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stage</a:t>
            </a: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.show();</a:t>
            </a:r>
            <a:b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sk-SK" altLang="sk-SK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390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A82ED-B70C-09A2-A4C9-F69CBB1B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55865F-733E-E8A9-25B1-311DFC29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Základy FXML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730F0FA-956E-468D-B9CF-A2F6D80EA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Každý tag = </a:t>
            </a:r>
            <a:r>
              <a:rPr lang="sk-SK" dirty="0" err="1"/>
              <a:t>JavaFX</a:t>
            </a:r>
            <a:r>
              <a:rPr lang="sk-SK" dirty="0"/>
              <a:t> trieda (</a:t>
            </a:r>
            <a:r>
              <a:rPr lang="sk-SK" dirty="0" err="1"/>
              <a:t>Button</a:t>
            </a:r>
            <a:r>
              <a:rPr lang="sk-SK" dirty="0"/>
              <a:t>, </a:t>
            </a:r>
            <a:r>
              <a:rPr lang="sk-SK" dirty="0" err="1"/>
              <a:t>Label</a:t>
            </a:r>
            <a:r>
              <a:rPr lang="sk-SK" dirty="0"/>
              <a:t>, </a:t>
            </a:r>
            <a:r>
              <a:rPr lang="sk-SK" dirty="0" err="1"/>
              <a:t>VBox</a:t>
            </a:r>
            <a:r>
              <a:rPr lang="sk-SK" dirty="0"/>
              <a:t>, ...)</a:t>
            </a:r>
            <a:endParaRPr lang="en-US" dirty="0"/>
          </a:p>
          <a:p>
            <a:r>
              <a:rPr lang="sk-SK" dirty="0"/>
              <a:t>id - CSS</a:t>
            </a:r>
          </a:p>
          <a:p>
            <a:r>
              <a:rPr lang="sk-SK" sz="2800" dirty="0" err="1"/>
              <a:t>fx</a:t>
            </a:r>
            <a:r>
              <a:rPr lang="sk-SK" dirty="0" err="1"/>
              <a:t>:id</a:t>
            </a:r>
            <a:r>
              <a:rPr lang="sk-SK" dirty="0"/>
              <a:t> - </a:t>
            </a:r>
            <a:r>
              <a:rPr lang="sk-SK" dirty="0" err="1"/>
              <a:t>controller</a:t>
            </a:r>
            <a:endParaRPr lang="sk-SK" sz="2800" dirty="0"/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97C3E38-0A98-F9E2-A833-0F689658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37</a:t>
            </a:fld>
            <a:endParaRPr lang="sk-SK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F2A86D2-1669-5351-066D-0238B6CBA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0718" y="2286949"/>
            <a:ext cx="7539180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xml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version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="1.0"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encoding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="UTF-8"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?&gt;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import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javafx.geometry.Insets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?&gt;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import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javafx.scene.control.Label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?&gt;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import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javafx.scene.layout.VBox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?&gt;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&lt;?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import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javafx.scene.control.Button</a:t>
            </a:r>
            <a: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?&gt;</a:t>
            </a:r>
            <a:br>
              <a:rPr kumimoji="0" lang="sk-SK" altLang="sk-SK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alignment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="CENTER"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spacing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="20.0"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xmlns: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="http://javafx.com/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fxml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fx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:controller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="com.example.prednaska02.HelloController"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padding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Insets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bottom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="20.0"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left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="20.0"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right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="20.0"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top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="20.0"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&lt;/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padding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Label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fx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:id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welcomeText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text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Hello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!"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onAction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="#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onHelloButtonClick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endParaRPr kumimoji="0" lang="sk-SK" altLang="sk-S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066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62AE-E9A6-335E-D384-D27F1C69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E478E7-C481-DCAA-AB0E-A3E002234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Controller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6456862-E375-F590-32F7-B0C11385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Metódy v </a:t>
            </a:r>
            <a:r>
              <a:rPr lang="sk-SK" dirty="0" err="1"/>
              <a:t>controller</a:t>
            </a:r>
            <a:r>
              <a:rPr lang="sk-SK" dirty="0"/>
              <a:t> môžu byť aj </a:t>
            </a:r>
            <a:r>
              <a:rPr lang="sk-SK" dirty="0" err="1"/>
              <a:t>private</a:t>
            </a:r>
            <a:endParaRPr lang="sk-SK" dirty="0"/>
          </a:p>
          <a:p>
            <a:r>
              <a:rPr lang="sk-SK" sz="2800" dirty="0" err="1"/>
              <a:t>Controller</a:t>
            </a:r>
            <a:r>
              <a:rPr lang="sk-SK" sz="2800" dirty="0"/>
              <a:t> musí mať konštruktor bez parametrov</a:t>
            </a:r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26DFCFF-7FBA-9991-1327-BB2ED59E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38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8F72DC-BE0F-506D-1A24-493960C1C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141" y="3122276"/>
            <a:ext cx="6569234" cy="3539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HelloController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@FXML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Label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welcomeText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@FXML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protected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onHelloButtonClick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welcomeText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.setText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Welcome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JavaFX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sk-SK" altLang="sk-SK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Application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!"</a:t>
            </a: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sk-SK" altLang="sk-SK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sk-SK" altLang="sk-SK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2247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DF5FB-7702-5A12-EBDF-0CA57AEA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721C0-A4FA-BA86-AA7A-CB607727A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Úprava v </a:t>
            </a:r>
            <a:r>
              <a:rPr lang="sk-SK" b="1" dirty="0" err="1"/>
              <a:t>SceneBuilder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1E25C0-1B5D-1D10-3869-7FB06A442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Samostatná aplikácia, nie je integrovaná v </a:t>
            </a:r>
            <a:r>
              <a:rPr lang="sk-SK" dirty="0" err="1"/>
              <a:t>IntelIiJ</a:t>
            </a:r>
            <a:endParaRPr lang="sk-SK" dirty="0"/>
          </a:p>
          <a:p>
            <a:r>
              <a:rPr lang="sk-SK" dirty="0"/>
              <a:t>Možnosť otvorenia FXML súboru v príbuznej aplikácii = </a:t>
            </a:r>
            <a:r>
              <a:rPr lang="sk-SK" dirty="0" err="1"/>
              <a:t>SceneBuilder</a:t>
            </a:r>
            <a:endParaRPr lang="sk-SK" sz="2800" dirty="0"/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645BB37-01EB-D261-2126-3E6668BE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39</a:t>
            </a:fld>
            <a:endParaRPr lang="sk-SK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6B89A584-BD0B-9D1F-AAA6-914526D92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805" y="435824"/>
            <a:ext cx="5155811" cy="1144915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8145079B-0739-0903-958C-5524AA0F3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986" y="2870382"/>
            <a:ext cx="8552329" cy="344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52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DCA5-E916-2DBA-6731-77D5CFF4E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EBCD92-4010-56FC-CA0E-8D34FE9E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Úprava komponentov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07B87B4-8C10-160E-FDE6-107EC0F98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err="1"/>
              <a:t>Inspector</a:t>
            </a:r>
            <a:r>
              <a:rPr lang="sk-SK" dirty="0"/>
              <a:t> – dovolí nastaviť parametre pre jednotlivé</a:t>
            </a:r>
            <a:br>
              <a:rPr lang="sk-SK" dirty="0"/>
            </a:br>
            <a:r>
              <a:rPr lang="sk-SK" dirty="0"/>
              <a:t>komponenty</a:t>
            </a:r>
          </a:p>
          <a:p>
            <a:endParaRPr lang="sk-SK" sz="2800" dirty="0"/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B25E02E-06BE-4B80-3262-A8B17DD2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40</a:t>
            </a:fld>
            <a:endParaRPr lang="sk-SK" dirty="0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7D93297D-83DA-C6D1-7183-44BBA34B4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026" y="315326"/>
            <a:ext cx="2379100" cy="6177549"/>
          </a:xfrm>
          <a:prstGeom prst="rect">
            <a:avLst/>
          </a:prstGeom>
        </p:spPr>
      </p:pic>
      <p:pic>
        <p:nvPicPr>
          <p:cNvPr id="12" name="Obrázok 11">
            <a:extLst>
              <a:ext uri="{FF2B5EF4-FFF2-40B4-BE49-F238E27FC236}">
                <a16:creationId xmlns:a16="http://schemas.microsoft.com/office/drawing/2014/main" id="{2A525CE1-5F61-C81D-668C-FCA1BE1D8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90" y="3272976"/>
            <a:ext cx="3286584" cy="3219899"/>
          </a:xfrm>
          <a:prstGeom prst="rect">
            <a:avLst/>
          </a:prstGeom>
        </p:spPr>
      </p:pic>
      <p:pic>
        <p:nvPicPr>
          <p:cNvPr id="14" name="Obrázok 13">
            <a:extLst>
              <a:ext uri="{FF2B5EF4-FFF2-40B4-BE49-F238E27FC236}">
                <a16:creationId xmlns:a16="http://schemas.microsoft.com/office/drawing/2014/main" id="{FD606FDE-D8BF-A248-1B0C-F1FB37FC1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8228" y="4633698"/>
            <a:ext cx="3305636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520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4DDA-D869-EF6A-2A6B-A8E50F0F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CA9656-38E8-8A97-9862-955E3E31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Príklad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C04E283-B473-90D3-967A-A908131F2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sz="2800" dirty="0"/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3561796-C5D3-433E-A73A-FB450FCA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41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F8DA5DD6-A582-445C-741A-392EA68A7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580841" cy="3773369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06308CC0-6C5D-0290-417E-9315A91C6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104" y="2895996"/>
            <a:ext cx="3353268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32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2EA7C-B395-1223-81D0-DD209C2F5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640D12-5278-2272-999C-E10712D36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FXML súbor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170345E-48B0-E3D3-BF85-828FFE273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k-SK" sz="2800" dirty="0"/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F0FB746-CDAE-4AB8-6A1B-E14D9566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42</a:t>
            </a:fld>
            <a:endParaRPr lang="sk-SK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C183B6-FD2E-307A-8209-005095DB2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976" y="1204537"/>
            <a:ext cx="10921259" cy="5078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Pane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maxHeight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="-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Infinity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maxWidth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="-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Infinity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minHeight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="-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Infinity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minWidth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="-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Infinity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prefHeight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="400.0" 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prefWidth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="600.0"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xmlns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="http://javafx.com/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javafx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/24.0.1"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xmlns: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="http://javafx.com/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fxml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/1"</a:t>
            </a:r>
            <a:r>
              <a:rPr kumimoji="0" lang="en-US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br>
              <a:rPr kumimoji="0" lang="en-US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lang="sk-SK" altLang="sk-SK" dirty="0" err="1">
                <a:solidFill>
                  <a:srgbClr val="871094"/>
                </a:solidFill>
                <a:latin typeface="JetBrains Mono"/>
              </a:rPr>
              <a:t>fx</a:t>
            </a:r>
            <a:r>
              <a:rPr lang="sk-SK" altLang="sk-SK" dirty="0" err="1">
                <a:solidFill>
                  <a:srgbClr val="174AD4"/>
                </a:solidFill>
                <a:latin typeface="JetBrains Mono"/>
              </a:rPr>
              <a:t>:controller</a:t>
            </a:r>
            <a:r>
              <a:rPr lang="sk-SK" altLang="sk-SK" dirty="0">
                <a:solidFill>
                  <a:srgbClr val="067D17"/>
                </a:solidFill>
                <a:latin typeface="JetBrains Mono"/>
              </a:rPr>
              <a:t>="com.example.prednaska02.HelloController"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layoutX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="22.0"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layoutY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="23.0"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prefHeight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="214.0"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prefWidth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="278.0"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spacing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="10.0"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HBox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prefHeight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="100.0"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prefWidth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="200.0"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spacing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="5.0"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fx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:id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="tf1"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fx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:id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="tf2"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&lt;/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&lt;/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HBox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Button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mnemonicParsing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false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onAction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="#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onAdditionClick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text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Addition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&lt;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TextField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fx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:id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="tf3"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&lt;/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&lt;/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VBox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&lt;/</a:t>
            </a:r>
            <a:r>
              <a:rPr kumimoji="0" lang="sk-SK" altLang="sk-SK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children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Pane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endParaRPr kumimoji="0" lang="sk-SK" altLang="sk-S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2123-5487-AAE7-F0D9-3B59BFF49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D95AED-CFA6-ACBA-7980-42B0B52C8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Controller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19E6F38-ED24-5714-6F9B-F967D7F8F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Pracujeme s </a:t>
            </a:r>
            <a:r>
              <a:rPr lang="sk-SK" sz="2800" dirty="0" err="1"/>
              <a:t>nodmi</a:t>
            </a:r>
            <a:r>
              <a:rPr lang="sk-SK" sz="2800" dirty="0"/>
              <a:t>, ktoré sme vytvorili v </a:t>
            </a:r>
            <a:r>
              <a:rPr lang="sk-SK" sz="2800" dirty="0" err="1"/>
              <a:t>SceneBuilder</a:t>
            </a:r>
            <a:endParaRPr lang="sk-SK" sz="2800" dirty="0"/>
          </a:p>
          <a:p>
            <a:r>
              <a:rPr lang="sk-SK" dirty="0"/>
              <a:t>Každý </a:t>
            </a:r>
            <a:r>
              <a:rPr lang="sk-SK" dirty="0" err="1"/>
              <a:t>node</a:t>
            </a:r>
            <a:r>
              <a:rPr lang="sk-SK" dirty="0"/>
              <a:t>, ku ktorému chceme pristúpiť, musí mať nastavené </a:t>
            </a:r>
            <a:r>
              <a:rPr lang="sk-SK" dirty="0" err="1"/>
              <a:t>fx:id</a:t>
            </a:r>
            <a:endParaRPr lang="sk-SK" sz="2800" dirty="0"/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39B5D73-0BCD-4FF2-84B5-C0804DF0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43</a:t>
            </a:fld>
            <a:endParaRPr lang="sk-SK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5AC9DF8-832F-06FE-F6E6-0D252B12C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483" y="3006864"/>
            <a:ext cx="8268417" cy="317009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HelloController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@FXML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TextField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tf3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@FXML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protected void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onAdditionClick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result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parseInt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tf1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.getText()) +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parseInt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tf2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.getText());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tf3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sk-SK" altLang="sk-SK" sz="20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valueOf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result</a:t>
            </a: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sk-SK" altLang="sk-SK" sz="20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sk-SK" altLang="sk-SK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390628B4-FCFC-8322-F859-EC06E253E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7929" y="2912268"/>
            <a:ext cx="2495898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991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7230-CCAF-916F-5B1E-020F5A08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D1DE30-A8FE-88A7-FCCF-A61A7DBC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Workflow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939E0F-F5F1-F3E2-7F87-61C2A5665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sz="2800" dirty="0"/>
              <a:t>Začnite návrhom dizajnu (komponenty, </a:t>
            </a:r>
            <a:r>
              <a:rPr lang="sk-SK" sz="2800" dirty="0" err="1"/>
              <a:t>layout</a:t>
            </a:r>
            <a:r>
              <a:rPr lang="sk-SK" sz="2800" dirty="0"/>
              <a:t> manager, ...)</a:t>
            </a:r>
          </a:p>
          <a:p>
            <a:r>
              <a:rPr lang="sk-SK" dirty="0"/>
              <a:t>Pridajte parametre </a:t>
            </a:r>
            <a:r>
              <a:rPr lang="sk-SK" dirty="0" err="1"/>
              <a:t>fx:id</a:t>
            </a:r>
            <a:r>
              <a:rPr lang="sk-SK" dirty="0"/>
              <a:t> a </a:t>
            </a:r>
            <a:r>
              <a:rPr lang="sk-SK" dirty="0" err="1"/>
              <a:t>onAction</a:t>
            </a:r>
            <a:r>
              <a:rPr lang="sk-SK" dirty="0"/>
              <a:t> komponentom</a:t>
            </a:r>
          </a:p>
          <a:p>
            <a:r>
              <a:rPr lang="sk-SK" sz="2800" dirty="0"/>
              <a:t>Vytvorte</a:t>
            </a:r>
            <a:r>
              <a:rPr lang="sk-SK" dirty="0"/>
              <a:t>/upravte </a:t>
            </a:r>
            <a:r>
              <a:rPr lang="sk-SK" dirty="0" err="1"/>
              <a:t>controller</a:t>
            </a:r>
            <a:endParaRPr lang="sk-SK" dirty="0"/>
          </a:p>
          <a:p>
            <a:r>
              <a:rPr lang="sk-SK" sz="2800" dirty="0"/>
              <a:t>Prípadne upravte CSS</a:t>
            </a:r>
          </a:p>
          <a:p>
            <a:pPr algn="ctr">
              <a:buFont typeface="Wingdings" pitchFamily="2" charset="2"/>
              <a:buNone/>
            </a:pPr>
            <a:endParaRPr lang="sk-SK" sz="2800" b="1" dirty="0">
              <a:latin typeface="Courier New" pitchFamily="49" charset="0"/>
              <a:cs typeface="Courier New" pitchFamily="49" charset="0"/>
            </a:endParaRP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2B5981F-BE82-2B5A-F106-5A6843AC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44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531923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C1E6-D641-72E9-6545-05A38424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1460B3-5F0F-98DD-4C59-878F247A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Containers</a:t>
            </a:r>
            <a:endParaRPr lang="sk-S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8912-D73F-06DF-67A1-859F6A4BD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doc. </a:t>
            </a:r>
            <a:r>
              <a:rPr lang="en-US" dirty="0"/>
              <a:t>Mgr. </a:t>
            </a:r>
            <a:r>
              <a:rPr lang="sk-SK" dirty="0"/>
              <a:t>Ľubomír Benko, </a:t>
            </a:r>
            <a:r>
              <a:rPr lang="sk-SK" dirty="0" err="1"/>
              <a:t>Ph.D</a:t>
            </a:r>
            <a:r>
              <a:rPr lang="sk-SK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C6DB8-130B-DA7E-BCB4-A114537A16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lbenko@ukf.sk</a:t>
            </a:r>
            <a:endParaRPr lang="sk-SK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3F03E5F8-27B0-35B8-8873-05C9112323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985818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3E070-8463-CD8D-F587-78C41C2B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7E4CF0-9103-BE6D-ADC5-E4C255F5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Pane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59AEBBC-11DF-D310-2B97-042B91283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Základný </a:t>
            </a:r>
            <a:r>
              <a:rPr lang="sk-SK" dirty="0" err="1"/>
              <a:t>layout</a:t>
            </a:r>
            <a:r>
              <a:rPr lang="sk-SK" dirty="0"/>
              <a:t> manager</a:t>
            </a:r>
          </a:p>
          <a:p>
            <a:r>
              <a:rPr lang="sk-SK" dirty="0"/>
              <a:t>Absolútne pozície</a:t>
            </a:r>
          </a:p>
          <a:p>
            <a:r>
              <a:rPr lang="sk-SK" dirty="0"/>
              <a:t>Pri zmene veľkosti scény nič nemení</a:t>
            </a:r>
          </a:p>
          <a:p>
            <a:r>
              <a:rPr lang="sk-SK" dirty="0"/>
              <a:t>Vhodné na kreslenie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C356B91-E635-67AA-51CE-9B653B5C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46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1140D3FE-B042-42EF-0DBE-9EE2E3AA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764" y="667906"/>
            <a:ext cx="175303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44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1257D-E55F-9A64-307E-C7EDEB63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D99F78-3E95-ECA2-A593-27D71D20B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AnchorPane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E90EAFE-6DDB-FE1C-C896-EF7240F1E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Kotvenie k okrajom (</a:t>
            </a:r>
            <a:r>
              <a:rPr lang="sk-SK" dirty="0" err="1"/>
              <a:t>setTopAnchor</a:t>
            </a:r>
            <a:r>
              <a:rPr lang="sk-SK" dirty="0"/>
              <a:t>, </a:t>
            </a:r>
            <a:r>
              <a:rPr lang="sk-SK" dirty="0" err="1"/>
              <a:t>setLeftAnchor</a:t>
            </a:r>
            <a:r>
              <a:rPr lang="sk-SK" dirty="0"/>
              <a:t>, </a:t>
            </a:r>
            <a:r>
              <a:rPr lang="sk-SK" dirty="0" err="1"/>
              <a:t>setRightAnchor</a:t>
            </a:r>
            <a:r>
              <a:rPr lang="sk-SK" dirty="0"/>
              <a:t>, </a:t>
            </a:r>
            <a:r>
              <a:rPr lang="sk-SK" dirty="0" err="1"/>
              <a:t>setBottomAnchor</a:t>
            </a:r>
            <a:r>
              <a:rPr lang="sk-SK" dirty="0"/>
              <a:t>)</a:t>
            </a:r>
          </a:p>
          <a:p>
            <a:r>
              <a:rPr lang="sk-SK" dirty="0"/>
              <a:t>Vhodné k natiahnutiu komponentov na ploche, napr. na celú šírku/výšku alebo ak chceme pripojiť k okraju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F44FAA8-23B0-D418-118D-24286E140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47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131FA53D-BBC8-7C67-7FA7-B205E2DA7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069" y="667906"/>
            <a:ext cx="3272731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855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F6B33-8E75-C6F5-F1A8-11ED05616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356908-0FF7-A275-2ACE-CE9C1147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HBox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B0779F1-8BE7-8E1F-F13F-9BDCF3D2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Ukladá komponenty horizontálne zľava doprava</a:t>
            </a:r>
          </a:p>
          <a:p>
            <a:r>
              <a:rPr lang="sk-SK" dirty="0"/>
              <a:t>Rešpektuje </a:t>
            </a:r>
            <a:r>
              <a:rPr lang="sk-SK" dirty="0" err="1"/>
              <a:t>spacing</a:t>
            </a:r>
            <a:r>
              <a:rPr lang="sk-SK" dirty="0"/>
              <a:t>, </a:t>
            </a:r>
            <a:r>
              <a:rPr lang="sk-SK" dirty="0" err="1"/>
              <a:t>alignment</a:t>
            </a:r>
            <a:r>
              <a:rPr lang="sk-SK" dirty="0"/>
              <a:t>, </a:t>
            </a:r>
            <a:r>
              <a:rPr lang="sk-SK" dirty="0" err="1"/>
              <a:t>padding</a:t>
            </a:r>
            <a:endParaRPr lang="sk-SK" dirty="0"/>
          </a:p>
          <a:p>
            <a:r>
              <a:rPr lang="sk-SK" dirty="0"/>
              <a:t>Vhodné, ak chceme riadok </a:t>
            </a:r>
            <a:r>
              <a:rPr lang="sk-SK" dirty="0" err="1"/>
              <a:t>komponentnov</a:t>
            </a:r>
            <a:endParaRPr lang="sk-SK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A965A8A-0E86-A9A3-5FE5-46E26BB8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48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DA70039-B0BA-A663-D7DA-CD27B5B3C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803" y="667906"/>
            <a:ext cx="259999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18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F6ED-11E6-450A-0940-0941031C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26A5FD-1506-E889-EF50-3580608B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VBox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7934995-9262-A36E-619C-A2B18D3F4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Vertikálna alternatíva </a:t>
            </a:r>
            <a:r>
              <a:rPr lang="sk-SK" dirty="0" err="1"/>
              <a:t>HBox</a:t>
            </a:r>
            <a:endParaRPr lang="sk-SK" dirty="0"/>
          </a:p>
          <a:p>
            <a:r>
              <a:rPr lang="sk-SK" dirty="0"/>
              <a:t>Ukladá komponenty pod seba zhora nadol</a:t>
            </a:r>
          </a:p>
          <a:p>
            <a:r>
              <a:rPr lang="sk-SK" dirty="0"/>
              <a:t>Podobne podporuje </a:t>
            </a:r>
            <a:r>
              <a:rPr lang="sk-SK" dirty="0" err="1"/>
              <a:t>padding</a:t>
            </a:r>
            <a:r>
              <a:rPr lang="sk-SK" dirty="0"/>
              <a:t>, </a:t>
            </a:r>
            <a:r>
              <a:rPr lang="sk-SK" dirty="0" err="1"/>
              <a:t>spacing</a:t>
            </a:r>
            <a:endParaRPr lang="sk-SK" dirty="0"/>
          </a:p>
          <a:p>
            <a:r>
              <a:rPr lang="sk-SK" dirty="0"/>
              <a:t>Vhodné pri vytváraní stĺpcov s komponentami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E304CC9-5C71-CE35-0DE2-0A209A52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49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72C8B6E-1065-3611-8627-D67E7A550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325" y="667906"/>
            <a:ext cx="234947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502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C4B13-3405-7346-B454-3F454AA3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EFF6CC-0068-508B-61D2-69359B45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GridPane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F9BB78E-40BA-66BA-9E89-493F235F4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Mriežka na ukladanie komponentov akoby do tabuľky</a:t>
            </a:r>
          </a:p>
          <a:p>
            <a:r>
              <a:rPr lang="sk-SK" dirty="0"/>
              <a:t>Vhodné na vytváranie formulárov alebo </a:t>
            </a:r>
            <a:r>
              <a:rPr lang="sk-SK" dirty="0" err="1"/>
              <a:t>dashboardov</a:t>
            </a:r>
            <a:endParaRPr lang="sk-SK" dirty="0"/>
          </a:p>
          <a:p>
            <a:r>
              <a:rPr lang="sk-SK" dirty="0" err="1"/>
              <a:t>Halignment</a:t>
            </a:r>
            <a:r>
              <a:rPr lang="sk-SK" dirty="0"/>
              <a:t> a </a:t>
            </a:r>
            <a:r>
              <a:rPr lang="sk-SK" dirty="0" err="1"/>
              <a:t>Valignment</a:t>
            </a:r>
            <a:r>
              <a:rPr lang="sk-SK" dirty="0"/>
              <a:t> – umožňuje zarovnať komponenty v bunkách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0AA78BE-6A2F-DE70-CA69-FEB8D983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50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B1893953-292D-2BCD-B8FB-FD415510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800" y="667906"/>
            <a:ext cx="25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489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0565-2B29-9E59-6D26-DB63CFAE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8F50F7-E8A5-4DE5-0E4C-DF1A3A91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StackPane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F813E5-B703-D5FE-44B8-2427681E3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Komponenty ukladá na seba, čím vzniká možnosť prekrývania komponentov</a:t>
            </a:r>
          </a:p>
          <a:p>
            <a:r>
              <a:rPr lang="sk-SK" dirty="0"/>
              <a:t>Pomocou </a:t>
            </a:r>
            <a:r>
              <a:rPr lang="sk-SK" dirty="0" err="1"/>
              <a:t>setAlignment</a:t>
            </a:r>
            <a:r>
              <a:rPr lang="sk-SK" dirty="0"/>
              <a:t> je možné nastaviť </a:t>
            </a:r>
            <a:r>
              <a:rPr lang="sk-SK" dirty="0" err="1"/>
              <a:t>zarovananie</a:t>
            </a:r>
            <a:r>
              <a:rPr lang="sk-SK" dirty="0"/>
              <a:t> komponentu</a:t>
            </a:r>
          </a:p>
          <a:p>
            <a:r>
              <a:rPr lang="sk-SK" dirty="0"/>
              <a:t>Vhodný na prekrytie obrazovky, napr. pri načítavaní dát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A6EF094-4429-8CE9-6A49-50C0C732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51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48FEA321-A41D-68BE-DD18-CC69EA751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802" y="667906"/>
            <a:ext cx="257999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139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4BBCE-87F4-9C9D-610A-10327CE1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FE7B56-B41C-665B-A825-AC26D439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BorderPane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41E126D-F025-FB1F-8D7F-F395C0020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Skladá sa z 5 zón: top, </a:t>
            </a:r>
            <a:r>
              <a:rPr lang="sk-SK" dirty="0" err="1"/>
              <a:t>left</a:t>
            </a:r>
            <a:r>
              <a:rPr lang="sk-SK" dirty="0"/>
              <a:t>, center, </a:t>
            </a:r>
            <a:r>
              <a:rPr lang="sk-SK" dirty="0" err="1"/>
              <a:t>right</a:t>
            </a:r>
            <a:r>
              <a:rPr lang="sk-SK" dirty="0"/>
              <a:t> a </a:t>
            </a:r>
            <a:r>
              <a:rPr lang="sk-SK" dirty="0" err="1"/>
              <a:t>bottom</a:t>
            </a:r>
            <a:endParaRPr lang="sk-SK" dirty="0"/>
          </a:p>
          <a:p>
            <a:r>
              <a:rPr lang="sk-SK" dirty="0"/>
              <a:t>Stred vždy roztiahne a okraje sú udržiavané v dostatočnej veľkosti</a:t>
            </a:r>
          </a:p>
          <a:p>
            <a:r>
              <a:rPr lang="sk-SK" dirty="0"/>
              <a:t>Vhodné, ak potrebujeme v aplikácií bočný panel, hlavičku, </a:t>
            </a:r>
            <a:r>
              <a:rPr lang="sk-SK" dirty="0" err="1"/>
              <a:t>päťu</a:t>
            </a:r>
            <a:r>
              <a:rPr lang="sk-SK" dirty="0"/>
              <a:t> a podobne</a:t>
            </a:r>
          </a:p>
          <a:p>
            <a:r>
              <a:rPr lang="sk-SK" dirty="0"/>
              <a:t>Typické rozloženie pre väčšinu aplikácií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7C63964-5860-FCE3-EA59-722C1FD3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52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96693D5E-8476-903A-5AA0-CE58B1151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795" y="678157"/>
            <a:ext cx="324000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935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EB4A-0139-65C6-0294-E5306027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4C5170-CF66-144D-8D71-553459B44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ScrollPane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D555A88-646F-B4C7-99B4-224FE57F5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Pri pretečení komponentov pridáva </a:t>
            </a:r>
            <a:r>
              <a:rPr lang="sk-SK" dirty="0" err="1"/>
              <a:t>posuvníky</a:t>
            </a:r>
            <a:endParaRPr lang="sk-SK" dirty="0"/>
          </a:p>
          <a:p>
            <a:r>
              <a:rPr lang="sk-SK" dirty="0"/>
              <a:t>Vhodné je vnútri pane použiť ďalší </a:t>
            </a:r>
            <a:r>
              <a:rPr lang="sk-SK" dirty="0" err="1"/>
              <a:t>layout</a:t>
            </a:r>
            <a:r>
              <a:rPr lang="sk-SK" dirty="0"/>
              <a:t> manager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F46553B6-A511-6B1D-EE1E-8302FD6F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53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E01E56CB-8C3D-34B5-49B3-F86A433C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801" y="681037"/>
            <a:ext cx="2639999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4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7E0A-A29C-7BDE-18BE-99857A8F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CEF47B-AB4D-E969-8E9A-AF31139F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Controls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034D3-32CE-D8F3-4328-20D693A2AC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doc. </a:t>
            </a:r>
            <a:r>
              <a:rPr lang="en-US" dirty="0"/>
              <a:t>Mgr. </a:t>
            </a:r>
            <a:r>
              <a:rPr lang="sk-SK" dirty="0"/>
              <a:t>Ľubomír Benko, </a:t>
            </a:r>
            <a:r>
              <a:rPr lang="sk-SK" dirty="0" err="1"/>
              <a:t>Ph.D</a:t>
            </a:r>
            <a:r>
              <a:rPr lang="sk-SK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479B5-2CE3-A9E7-53EB-36A237558E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lbenko@ukf.sk</a:t>
            </a:r>
            <a:endParaRPr lang="sk-SK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05245E5-E8BB-2483-A618-513450B4E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8802501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9078-3EB1-893C-A079-F652A61E3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003FB9-03C8-FF39-ACC8-ED47E99B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CheckBox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8383E41-3676-D374-F946-81F96B2CA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Zaškrtávacie políčko</a:t>
            </a:r>
          </a:p>
          <a:p>
            <a:r>
              <a:rPr lang="sk-SK" dirty="0"/>
              <a:t>Umožňuje nezávislú voľbu</a:t>
            </a:r>
          </a:p>
          <a:p>
            <a:r>
              <a:rPr lang="sk-SK" dirty="0" err="1"/>
              <a:t>isSelected</a:t>
            </a:r>
            <a:r>
              <a:rPr lang="sk-SK" dirty="0"/>
              <a:t>()</a:t>
            </a:r>
          </a:p>
          <a:p>
            <a:r>
              <a:rPr lang="sk-SK" dirty="0" err="1"/>
              <a:t>setSelected</a:t>
            </a:r>
            <a:r>
              <a:rPr lang="sk-SK" dirty="0"/>
              <a:t>(boolean)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BA2026D-383E-A71C-781D-CF1A4E49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55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7A9E045E-A743-C58F-3D02-DD3254115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08" y="681037"/>
            <a:ext cx="3095992" cy="720000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59B8255A-4F6C-AB4A-6932-610065BF4017}"/>
              </a:ext>
            </a:extLst>
          </p:cNvPr>
          <p:cNvSpPr txBox="1"/>
          <p:nvPr/>
        </p:nvSpPr>
        <p:spPr>
          <a:xfrm>
            <a:off x="6193774" y="4263467"/>
            <a:ext cx="61519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sz="2400" dirty="0">
                <a:solidFill>
                  <a:srgbClr val="9E880D"/>
                </a:solidFill>
                <a:effectLst/>
                <a:latin typeface="JetBrains Mono"/>
              </a:rPr>
              <a:t>@FXML </a:t>
            </a:r>
            <a:r>
              <a:rPr lang="sk-SK" sz="24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sk-SK" sz="2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400" dirty="0" err="1">
                <a:solidFill>
                  <a:srgbClr val="000000"/>
                </a:solidFill>
                <a:effectLst/>
                <a:latin typeface="JetBrains Mono"/>
              </a:rPr>
              <a:t>CheckBox</a:t>
            </a:r>
            <a:r>
              <a:rPr lang="sk-SK" sz="2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check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 dirty="0">
                <a:solidFill>
                  <a:srgbClr val="080808"/>
                </a:solidFill>
                <a:effectLst/>
                <a:latin typeface="JetBrains Mono"/>
              </a:rPr>
              <a:t>…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4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check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.isSelected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label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.setText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400" dirty="0" err="1">
                <a:solidFill>
                  <a:srgbClr val="067D17"/>
                </a:solidFill>
                <a:effectLst/>
                <a:latin typeface="JetBrains Mono"/>
              </a:rPr>
              <a:t>Checked</a:t>
            </a:r>
            <a:r>
              <a:rPr lang="sk-SK" sz="2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400" dirty="0" err="1"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lang="sk-SK" sz="2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label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.setText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400" dirty="0" err="1">
                <a:solidFill>
                  <a:srgbClr val="067D17"/>
                </a:solidFill>
                <a:effectLst/>
                <a:latin typeface="JetBrains Mono"/>
              </a:rPr>
              <a:t>Disabled</a:t>
            </a:r>
            <a:r>
              <a:rPr lang="sk-SK" sz="24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E789312D-E6AD-23D7-6E4B-992896A44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404" y="4872942"/>
            <a:ext cx="2181438" cy="109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113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5D091-25FB-CE64-E8A1-F1E9EF5B3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37DBCD-550B-33D2-8C95-C3FBD5725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RadioButton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6C6FCAE-32C3-CB64-2D65-4A412C503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Ponúka jednu možnosť zo skupiny </a:t>
            </a:r>
          </a:p>
          <a:p>
            <a:r>
              <a:rPr lang="sk-SK" dirty="0" err="1"/>
              <a:t>ToggleGroup</a:t>
            </a:r>
            <a:r>
              <a:rPr lang="sk-SK" dirty="0"/>
              <a:t> dokáže zoskupiť viaceré </a:t>
            </a:r>
            <a:r>
              <a:rPr lang="sk-SK" dirty="0" err="1"/>
              <a:t>RadioButton</a:t>
            </a:r>
            <a:endParaRPr lang="sk-SK" dirty="0"/>
          </a:p>
          <a:p>
            <a:r>
              <a:rPr lang="sk-SK" dirty="0"/>
              <a:t>Podobné ako </a:t>
            </a:r>
            <a:r>
              <a:rPr lang="sk-SK" dirty="0" err="1"/>
              <a:t>CheckBox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3E2A47F-E8E8-20BA-4D5D-18F168CF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56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DA161734-A96C-E31E-5583-F05AACDD0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801" y="667906"/>
            <a:ext cx="3179999" cy="720000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1EB46DFE-EBE6-E2A1-ED1F-9989A82C9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88" y="4479403"/>
            <a:ext cx="2924631" cy="1555655"/>
          </a:xfrm>
          <a:prstGeom prst="rect">
            <a:avLst/>
          </a:prstGeom>
        </p:spPr>
      </p:pic>
      <p:sp>
        <p:nvSpPr>
          <p:cNvPr id="10" name="BlokTextu 9">
            <a:extLst>
              <a:ext uri="{FF2B5EF4-FFF2-40B4-BE49-F238E27FC236}">
                <a16:creationId xmlns:a16="http://schemas.microsoft.com/office/drawing/2014/main" id="{069A740D-948E-B4A6-0294-F456C39EBB6B}"/>
              </a:ext>
            </a:extLst>
          </p:cNvPr>
          <p:cNvSpPr txBox="1"/>
          <p:nvPr/>
        </p:nvSpPr>
        <p:spPr>
          <a:xfrm>
            <a:off x="6271139" y="3663913"/>
            <a:ext cx="61519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sz="2000" dirty="0">
                <a:solidFill>
                  <a:srgbClr val="9E880D"/>
                </a:solidFill>
                <a:effectLst/>
                <a:latin typeface="JetBrains Mono"/>
              </a:rPr>
              <a:t>@FXML </a:t>
            </a: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sk-SK" sz="20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RadioButton</a:t>
            </a:r>
            <a:r>
              <a:rPr lang="sk-SK" sz="20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radioButton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>
                <a:solidFill>
                  <a:srgbClr val="9E880D"/>
                </a:solidFill>
                <a:effectLst/>
                <a:latin typeface="JetBrains Mono"/>
              </a:rPr>
              <a:t>@FXML </a:t>
            </a: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sk-SK" sz="20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RadioButton</a:t>
            </a:r>
            <a:r>
              <a:rPr lang="sk-SK" sz="20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000" dirty="0">
                <a:solidFill>
                  <a:srgbClr val="871094"/>
                </a:solidFill>
                <a:effectLst/>
                <a:latin typeface="JetBrains Mono"/>
              </a:rPr>
              <a:t>radioButton2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080808"/>
                </a:solidFill>
                <a:effectLst/>
                <a:latin typeface="JetBrains Mono"/>
              </a:rPr>
              <a:t>…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ToggleGroup</a:t>
            </a:r>
            <a:r>
              <a:rPr lang="sk-SK" sz="20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grp</a:t>
            </a:r>
            <a:r>
              <a:rPr lang="sk-SK" sz="20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sk-SK" sz="20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ToggleGroup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radioButton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.setToggleGroup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grp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>
                <a:solidFill>
                  <a:srgbClr val="871094"/>
                </a:solidFill>
                <a:effectLst/>
                <a:latin typeface="JetBrains Mono"/>
              </a:rPr>
              <a:t>radioButton2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.setToggleGroup(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grp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radioButton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.isSelected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label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.setText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 err="1">
                <a:solidFill>
                  <a:srgbClr val="067D17"/>
                </a:solidFill>
                <a:effectLst/>
                <a:latin typeface="JetBrains Mono"/>
              </a:rPr>
              <a:t>Checked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 A"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>
                <a:solidFill>
                  <a:srgbClr val="871094"/>
                </a:solidFill>
                <a:effectLst/>
                <a:latin typeface="JetBrains Mono"/>
              </a:rPr>
              <a:t>radioButton2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.isSelected()) 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label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.setText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 err="1">
                <a:solidFill>
                  <a:srgbClr val="067D17"/>
                </a:solidFill>
                <a:effectLst/>
                <a:latin typeface="JetBrains Mono"/>
              </a:rPr>
              <a:t>Checked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 B"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008212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7CAE7-A2CD-AAAB-9ECE-794408202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495DF2-76F8-ACFE-F8BB-D513756F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ComboBox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EDC381A-EBB9-64D4-4420-B48C0ECFE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Výberové zoznamy</a:t>
            </a:r>
          </a:p>
          <a:p>
            <a:r>
              <a:rPr lang="sk-SK" dirty="0"/>
              <a:t>Môžu slúžiť na filtrovanie dát</a:t>
            </a:r>
          </a:p>
          <a:p>
            <a:r>
              <a:rPr lang="sk-SK" dirty="0"/>
              <a:t>Podobná práca ako s </a:t>
            </a:r>
            <a:r>
              <a:rPr lang="sk-SK" dirty="0" err="1"/>
              <a:t>ListView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072D033-D2A1-BE7D-54E8-F030BEA9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57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8F5AA99C-FD3E-FC7D-C089-EC7B980B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95" y="3745288"/>
            <a:ext cx="1904528" cy="2321709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FEFF094E-3BBF-D043-5132-013BFD9D0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197" y="651376"/>
            <a:ext cx="2942603" cy="720000"/>
          </a:xfrm>
          <a:prstGeom prst="rect">
            <a:avLst/>
          </a:prstGeom>
        </p:spPr>
      </p:pic>
      <p:sp>
        <p:nvSpPr>
          <p:cNvPr id="10" name="BlokTextu 9">
            <a:extLst>
              <a:ext uri="{FF2B5EF4-FFF2-40B4-BE49-F238E27FC236}">
                <a16:creationId xmlns:a16="http://schemas.microsoft.com/office/drawing/2014/main" id="{6C6A075B-5CFC-8074-8C8F-7CE6CA3F5448}"/>
              </a:ext>
            </a:extLst>
          </p:cNvPr>
          <p:cNvSpPr txBox="1"/>
          <p:nvPr/>
        </p:nvSpPr>
        <p:spPr>
          <a:xfrm>
            <a:off x="4599551" y="3923581"/>
            <a:ext cx="76559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sz="2000" dirty="0">
                <a:solidFill>
                  <a:srgbClr val="9E880D"/>
                </a:solidFill>
                <a:effectLst/>
                <a:latin typeface="JetBrains Mono"/>
              </a:rPr>
              <a:t>@FXML </a:t>
            </a: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sk-SK" sz="20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ComboBox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mainCategory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categories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.addAll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 err="1">
                <a:solidFill>
                  <a:srgbClr val="067D17"/>
                </a:solidFill>
                <a:effectLst/>
                <a:latin typeface="JetBrains Mono"/>
              </a:rPr>
              <a:t>Work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 err="1">
                <a:solidFill>
                  <a:srgbClr val="067D17"/>
                </a:solidFill>
                <a:effectLst/>
                <a:latin typeface="JetBrains Mono"/>
              </a:rPr>
              <a:t>School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 err="1">
                <a:solidFill>
                  <a:srgbClr val="067D17"/>
                </a:solidFill>
                <a:effectLst/>
                <a:latin typeface="JetBrains Mono"/>
              </a:rPr>
              <a:t>Personal</a:t>
            </a:r>
            <a:r>
              <a:rPr lang="sk-SK" sz="20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mainCategory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.setItems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categories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mainCategory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.getSelectionModel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select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endParaRPr lang="sk-SK" sz="2000" dirty="0">
              <a:solidFill>
                <a:srgbClr val="080808"/>
              </a:solidFill>
              <a:effectLst/>
              <a:latin typeface="JetBrains Mono"/>
            </a:endParaRPr>
          </a:p>
          <a:p>
            <a:pPr>
              <a:buNone/>
            </a:pP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list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.getSelectionModel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getSelectedIndex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 != -</a:t>
            </a:r>
            <a:r>
              <a:rPr lang="sk-SK" sz="20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sk-SK" sz="20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category</a:t>
            </a:r>
            <a:r>
              <a:rPr lang="sk-SK" sz="20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mainCategory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.getSelectionModel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getSelectedItem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endParaRPr lang="sk-SK" sz="200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730224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19F6-F0D5-07C7-85FD-8D7C34A5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A8B578-3470-2FBC-2318-97ADD883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Spinner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CB6F4B5-2AD6-4017-00D2-32006DDFE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Číselný výber hodnoty</a:t>
            </a:r>
          </a:p>
          <a:p>
            <a:r>
              <a:rPr lang="sk-SK" dirty="0"/>
              <a:t>Dokážeme nastaviť rozsah a aj krok zvyšovania/znižovania</a:t>
            </a:r>
          </a:p>
          <a:p>
            <a:r>
              <a:rPr lang="sk-SK" dirty="0"/>
              <a:t>Funkcie </a:t>
            </a:r>
            <a:r>
              <a:rPr lang="sk-SK" dirty="0" err="1"/>
              <a:t>increment</a:t>
            </a:r>
            <a:r>
              <a:rPr lang="sk-SK" dirty="0"/>
              <a:t>() / </a:t>
            </a:r>
            <a:r>
              <a:rPr lang="sk-SK" dirty="0" err="1"/>
              <a:t>decrement</a:t>
            </a:r>
            <a:r>
              <a:rPr lang="sk-SK" dirty="0"/>
              <a:t>()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517931D-E3F3-EC00-6D8D-396E4EB9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58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381DEE95-692C-4544-D806-94B281D6B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824920"/>
            <a:ext cx="2480907" cy="1228639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824EAE8A-BB46-F93D-DB17-6004B0240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0761" y="667906"/>
            <a:ext cx="2473039" cy="720000"/>
          </a:xfrm>
          <a:prstGeom prst="rect">
            <a:avLst/>
          </a:prstGeom>
        </p:spPr>
      </p:pic>
      <p:sp>
        <p:nvSpPr>
          <p:cNvPr id="10" name="BlokTextu 9">
            <a:extLst>
              <a:ext uri="{FF2B5EF4-FFF2-40B4-BE49-F238E27FC236}">
                <a16:creationId xmlns:a16="http://schemas.microsoft.com/office/drawing/2014/main" id="{12DEFC5E-385B-36C8-7561-241F9666C6FB}"/>
              </a:ext>
            </a:extLst>
          </p:cNvPr>
          <p:cNvSpPr txBox="1"/>
          <p:nvPr/>
        </p:nvSpPr>
        <p:spPr>
          <a:xfrm>
            <a:off x="6103556" y="4385184"/>
            <a:ext cx="61519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sz="2000" dirty="0">
                <a:solidFill>
                  <a:srgbClr val="9E880D"/>
                </a:solidFill>
                <a:effectLst/>
                <a:latin typeface="JetBrains Mono"/>
              </a:rPr>
              <a:t>@FXML </a:t>
            </a: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sk-SK" sz="20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Spinner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prioritySpinner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prioritySpinner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.setValueFactory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sk-SK" sz="2000" dirty="0" err="1">
                <a:solidFill>
                  <a:srgbClr val="000000"/>
                </a:solidFill>
                <a:effectLst/>
                <a:latin typeface="JetBrains Mono"/>
              </a:rPr>
              <a:t>SpinnerValueFactory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.IntegerSpinnerValueFactory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0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sk-SK" sz="200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000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sk-SK" sz="20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000" dirty="0">
                <a:solidFill>
                  <a:srgbClr val="000000"/>
                </a:solidFill>
                <a:effectLst/>
                <a:latin typeface="JetBrains Mono"/>
              </a:rPr>
              <a:t>priority 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sk-SK" sz="2000" dirty="0" err="1">
                <a:solidFill>
                  <a:srgbClr val="871094"/>
                </a:solidFill>
                <a:effectLst/>
                <a:latin typeface="JetBrains Mono"/>
              </a:rPr>
              <a:t>prioritySpinner</a:t>
            </a:r>
            <a:r>
              <a:rPr lang="sk-SK" sz="2000" dirty="0" err="1">
                <a:solidFill>
                  <a:srgbClr val="080808"/>
                </a:solidFill>
                <a:effectLst/>
                <a:latin typeface="JetBrains Mono"/>
              </a:rPr>
              <a:t>.getValue</a:t>
            </a:r>
            <a:r>
              <a:rPr lang="sk-SK" sz="20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0024057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E7507-FA42-F889-7AD5-9320708B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4DFCA2-D98E-E6AB-8FEA-2BC1640E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Slider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3C4539A-0289-050A-167B-6664707FE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Posuvník</a:t>
            </a:r>
            <a:endParaRPr lang="sk-SK" dirty="0"/>
          </a:p>
          <a:p>
            <a:r>
              <a:rPr lang="sk-SK" dirty="0"/>
              <a:t>Môžeme použiť na kontinuálne hodnoty</a:t>
            </a:r>
          </a:p>
          <a:p>
            <a:r>
              <a:rPr lang="sk-SK" dirty="0"/>
              <a:t>Alternatíva k </a:t>
            </a:r>
            <a:r>
              <a:rPr lang="sk-SK" dirty="0" err="1"/>
              <a:t>ProgressBar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814B9A2-84BB-E457-4D89-72B27C1C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59</a:t>
            </a:fld>
            <a:endParaRPr lang="sk-SK" dirty="0"/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52037F15-B828-8A93-3E39-7C9AA1D5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18" y="5725648"/>
            <a:ext cx="5658640" cy="314369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3C4C5422-A36A-4E0E-C708-2A1B507E84B7}"/>
              </a:ext>
            </a:extLst>
          </p:cNvPr>
          <p:cNvSpPr txBox="1"/>
          <p:nvPr/>
        </p:nvSpPr>
        <p:spPr>
          <a:xfrm>
            <a:off x="8006787" y="2441760"/>
            <a:ext cx="61519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sz="2400" dirty="0">
                <a:solidFill>
                  <a:srgbClr val="9E880D"/>
                </a:solidFill>
                <a:effectLst/>
                <a:latin typeface="JetBrains Mono"/>
              </a:rPr>
              <a:t>@FXML </a:t>
            </a:r>
            <a:r>
              <a:rPr lang="sk-SK" sz="24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sk-SK" sz="2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400" dirty="0" err="1">
                <a:solidFill>
                  <a:srgbClr val="000000"/>
                </a:solidFill>
                <a:effectLst/>
                <a:latin typeface="JetBrains Mono"/>
              </a:rPr>
              <a:t>Slider</a:t>
            </a:r>
            <a:r>
              <a:rPr lang="sk-SK" sz="2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sliderBar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...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sliderBar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.setMin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sliderBar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.setMax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>
                <a:solidFill>
                  <a:srgbClr val="1750EB"/>
                </a:solidFill>
                <a:effectLst/>
                <a:latin typeface="JetBrains Mono"/>
              </a:rPr>
              <a:t>60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sliderBar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.setValue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>
                <a:solidFill>
                  <a:srgbClr val="1750EB"/>
                </a:solidFill>
                <a:effectLst/>
                <a:latin typeface="JetBrains Mono"/>
              </a:rPr>
              <a:t>25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endParaRPr lang="sk-SK" sz="2400" dirty="0">
              <a:solidFill>
                <a:srgbClr val="080808"/>
              </a:solidFill>
              <a:effectLst/>
              <a:latin typeface="JetBrains Mono"/>
            </a:endParaRPr>
          </a:p>
          <a:p>
            <a:r>
              <a:rPr lang="sk-SK" sz="2400" dirty="0" err="1">
                <a:solidFill>
                  <a:srgbClr val="871094"/>
                </a:solidFill>
                <a:latin typeface="JetBrains Mono"/>
              </a:rPr>
              <a:t>sliderBar</a:t>
            </a:r>
            <a:r>
              <a:rPr lang="sk-SK" sz="2400" dirty="0" err="1"/>
              <a:t>.increment</a:t>
            </a:r>
            <a:r>
              <a:rPr lang="sk-SK" sz="2400" dirty="0"/>
              <a:t>();</a:t>
            </a:r>
          </a:p>
          <a:p>
            <a:r>
              <a:rPr lang="sk-SK" sz="2400" dirty="0" err="1">
                <a:solidFill>
                  <a:srgbClr val="871094"/>
                </a:solidFill>
                <a:latin typeface="JetBrains Mono"/>
              </a:rPr>
              <a:t>sliderBar</a:t>
            </a:r>
            <a:r>
              <a:rPr lang="sk-SK" sz="2400" dirty="0" err="1"/>
              <a:t>.decrement</a:t>
            </a:r>
            <a:r>
              <a:rPr lang="sk-SK" sz="2400" dirty="0"/>
              <a:t>();</a:t>
            </a:r>
          </a:p>
          <a:p>
            <a:pPr>
              <a:buNone/>
            </a:pPr>
            <a:endParaRPr lang="sk-SK" sz="2400" dirty="0">
              <a:solidFill>
                <a:srgbClr val="080808"/>
              </a:solidFill>
              <a:latin typeface="JetBrains Mono"/>
            </a:endParaRPr>
          </a:p>
          <a:p>
            <a:r>
              <a:rPr lang="sk-SK" sz="2400" dirty="0" err="1"/>
              <a:t>int</a:t>
            </a:r>
            <a:r>
              <a:rPr lang="sk-SK" sz="2400" dirty="0"/>
              <a:t> v = (</a:t>
            </a:r>
            <a:r>
              <a:rPr lang="sk-SK" sz="2400" dirty="0" err="1"/>
              <a:t>int</a:t>
            </a:r>
            <a:r>
              <a:rPr lang="sk-SK" sz="2400" dirty="0"/>
              <a:t>)</a:t>
            </a:r>
            <a:r>
              <a:rPr lang="sk-SK" sz="2400" dirty="0" err="1">
                <a:solidFill>
                  <a:srgbClr val="871094"/>
                </a:solidFill>
                <a:latin typeface="JetBrains Mono"/>
              </a:rPr>
              <a:t>sliderBar</a:t>
            </a:r>
            <a:r>
              <a:rPr lang="sk-SK" sz="2400" dirty="0" err="1"/>
              <a:t>.getValue</a:t>
            </a:r>
            <a:r>
              <a:rPr lang="sk-SK" sz="2400" dirty="0"/>
              <a:t>()</a:t>
            </a:r>
          </a:p>
          <a:p>
            <a:pPr>
              <a:buNone/>
            </a:pPr>
            <a:endParaRPr lang="sk-SK" sz="24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2C97CE1B-6D71-D83A-E30F-E404709F6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87" y="256064"/>
            <a:ext cx="4765713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0637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8D4DE-2B60-E4A9-BD13-611B5D55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05ECCF-4DC7-0F55-9B06-771EDB41F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 err="1"/>
              <a:t>DatePicker</a:t>
            </a:r>
            <a:endParaRPr lang="sk-SK" b="1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6640D2C-3BBC-48EE-BC1E-47ACA6F5D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Nemusíme riešiť transformáciu dátumu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492E3C4F-71ED-D277-15B5-D8B902E0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DCBF8-15A4-1F49-85F6-A02F017E0111}" type="slidenum">
              <a:rPr lang="sk-SK" smtClean="0"/>
              <a:pPr/>
              <a:t>60</a:t>
            </a:fld>
            <a:endParaRPr lang="sk-SK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07CA6541-FD63-06E9-3AE2-0F2073B7B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496" y="667906"/>
            <a:ext cx="2492304" cy="720000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0821F4AA-A08A-DC7F-D90F-81D202E01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2807" y="3232279"/>
            <a:ext cx="3001065" cy="3625721"/>
          </a:xfrm>
          <a:prstGeom prst="rect">
            <a:avLst/>
          </a:prstGeom>
        </p:spPr>
      </p:pic>
      <p:sp>
        <p:nvSpPr>
          <p:cNvPr id="11" name="BlokTextu 10">
            <a:extLst>
              <a:ext uri="{FF2B5EF4-FFF2-40B4-BE49-F238E27FC236}">
                <a16:creationId xmlns:a16="http://schemas.microsoft.com/office/drawing/2014/main" id="{8CACD530-0248-9FA1-FC52-770D08F1C2A8}"/>
              </a:ext>
            </a:extLst>
          </p:cNvPr>
          <p:cNvSpPr txBox="1"/>
          <p:nvPr/>
        </p:nvSpPr>
        <p:spPr>
          <a:xfrm>
            <a:off x="6543872" y="3567772"/>
            <a:ext cx="6151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sz="2400" dirty="0">
                <a:solidFill>
                  <a:srgbClr val="9E880D"/>
                </a:solidFill>
                <a:effectLst/>
                <a:latin typeface="JetBrains Mono"/>
              </a:rPr>
              <a:t>@FXML </a:t>
            </a:r>
            <a:r>
              <a:rPr lang="sk-SK" sz="24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sk-SK" sz="2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sk-SK" sz="2400" dirty="0" err="1">
                <a:solidFill>
                  <a:srgbClr val="000000"/>
                </a:solidFill>
                <a:effectLst/>
                <a:latin typeface="JetBrains Mono"/>
              </a:rPr>
              <a:t>DatePicker</a:t>
            </a:r>
            <a:r>
              <a:rPr lang="sk-SK" sz="2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dateField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ACCD346C-5FEC-6033-1C2E-558E8EEF4DD5}"/>
              </a:ext>
            </a:extLst>
          </p:cNvPr>
          <p:cNvSpPr txBox="1"/>
          <p:nvPr/>
        </p:nvSpPr>
        <p:spPr>
          <a:xfrm>
            <a:off x="6543872" y="4297334"/>
            <a:ext cx="6655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dateField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.getEditor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clear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</a:p>
          <a:p>
            <a:pPr>
              <a:buNone/>
            </a:pPr>
            <a:endParaRPr lang="sk-SK" sz="2400" dirty="0">
              <a:solidFill>
                <a:srgbClr val="080808"/>
              </a:solidFill>
              <a:latin typeface="JetBrains Mono"/>
            </a:endParaRPr>
          </a:p>
          <a:p>
            <a:pPr>
              <a:buNone/>
            </a:pP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dateField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.getEditor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setText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 err="1">
                <a:solidFill>
                  <a:srgbClr val="000000"/>
                </a:solidFill>
                <a:effectLst/>
                <a:latin typeface="JetBrains Mono"/>
              </a:rPr>
              <a:t>exp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.getDate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sk-SK" sz="2400" dirty="0" err="1">
                <a:solidFill>
                  <a:srgbClr val="871094"/>
                </a:solidFill>
                <a:latin typeface="JetBrains Mono"/>
              </a:rPr>
              <a:t>label</a:t>
            </a:r>
            <a:r>
              <a:rPr lang="sk-SK" sz="2400" dirty="0" err="1">
                <a:solidFill>
                  <a:srgbClr val="000000"/>
                </a:solidFill>
                <a:latin typeface="JetBrains Mono"/>
              </a:rPr>
              <a:t>.setText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sk-SK" sz="2400" dirty="0" err="1">
                <a:solidFill>
                  <a:srgbClr val="871094"/>
                </a:solidFill>
                <a:effectLst/>
                <a:latin typeface="JetBrains Mono"/>
              </a:rPr>
              <a:t>dateField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.getEditor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sk-SK" sz="2400" dirty="0" err="1">
                <a:solidFill>
                  <a:srgbClr val="080808"/>
                </a:solidFill>
                <a:effectLst/>
                <a:latin typeface="JetBrains Mono"/>
              </a:rPr>
              <a:t>getText</a:t>
            </a:r>
            <a:r>
              <a:rPr lang="sk-SK" sz="24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7221704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1CBEDB-CC27-F4B9-2FDA-731F2351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b="1" dirty="0"/>
              <a:t>Ďakujem za pozornosť</a:t>
            </a:r>
            <a:br>
              <a:rPr lang="sk-SK" dirty="0"/>
            </a:br>
            <a:br>
              <a:rPr lang="sk-SK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12299021"/>
      </p:ext>
    </p:extLst>
  </p:cSld>
  <p:clrMapOvr>
    <a:masterClrMapping/>
  </p:clrMapOvr>
</p:sld>
</file>

<file path=ppt/theme/theme1.xml><?xml version="1.0" encoding="utf-8"?>
<a:theme xmlns:a="http://schemas.openxmlformats.org/drawingml/2006/main" name="FPVAI_G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8373757-091E-4373-A9A8-F24361D6A906}" vid="{A66AA0ED-7E77-4B98-95CA-41CDCAB7F383}"/>
    </a:ext>
  </a:extLst>
</a:theme>
</file>

<file path=ppt/theme/theme2.xml><?xml version="1.0" encoding="utf-8"?>
<a:theme xmlns:a="http://schemas.openxmlformats.org/drawingml/2006/main" name="FPVAI_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8373757-091E-4373-A9A8-F24361D6A906}" vid="{837A84BA-13BD-4504-9DD3-84F746C68A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FPVaI_sk</Template>
  <TotalTime>376</TotalTime>
  <Words>3887</Words>
  <Application>Microsoft Office PowerPoint</Application>
  <PresentationFormat>Širokouhlá</PresentationFormat>
  <Paragraphs>421</Paragraphs>
  <Slides>61</Slides>
  <Notes>60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2</vt:i4>
      </vt:variant>
      <vt:variant>
        <vt:lpstr>Nadpisy snímok</vt:lpstr>
      </vt:variant>
      <vt:variant>
        <vt:i4>61</vt:i4>
      </vt:variant>
    </vt:vector>
  </HeadingPairs>
  <TitlesOfParts>
    <vt:vector size="69" baseType="lpstr">
      <vt:lpstr>Arial</vt:lpstr>
      <vt:lpstr>Calibri</vt:lpstr>
      <vt:lpstr>Calibri Light</vt:lpstr>
      <vt:lpstr>Courier New</vt:lpstr>
      <vt:lpstr>JetBrains Mono</vt:lpstr>
      <vt:lpstr>Wingdings</vt:lpstr>
      <vt:lpstr>FPVAI_GREEN</vt:lpstr>
      <vt:lpstr>FPVAI_WHITE</vt:lpstr>
      <vt:lpstr>Grafika v JavaFX</vt:lpstr>
      <vt:lpstr>Grafika v Jave</vt:lpstr>
      <vt:lpstr>Java FX</vt:lpstr>
      <vt:lpstr>Čo je to Java FX?</vt:lpstr>
      <vt:lpstr>Architektúra</vt:lpstr>
      <vt:lpstr>Scene Graph</vt:lpstr>
      <vt:lpstr>Grafický dizajn</vt:lpstr>
      <vt:lpstr>Štruktúra aplikácie</vt:lpstr>
      <vt:lpstr>Štruktúra</vt:lpstr>
      <vt:lpstr>Prvá aplikácia</vt:lpstr>
      <vt:lpstr>Komponenty  v Java FX</vt:lpstr>
      <vt:lpstr>Komponenty</vt:lpstr>
      <vt:lpstr>Komponenty v JavaFX</vt:lpstr>
      <vt:lpstr>Pridajme tlačidlá na scénu</vt:lpstr>
      <vt:lpstr>Ručné umiestnenie</vt:lpstr>
      <vt:lpstr>Dokončime zadanie </vt:lpstr>
      <vt:lpstr>Layout manager I</vt:lpstr>
      <vt:lpstr>Layout manager II</vt:lpstr>
      <vt:lpstr>Vytvorenie dizajnu</vt:lpstr>
      <vt:lpstr>Úprava dizajnu</vt:lpstr>
      <vt:lpstr>HBox</vt:lpstr>
      <vt:lpstr>GridPane</vt:lpstr>
      <vt:lpstr>Oživenie aplikácie </vt:lpstr>
      <vt:lpstr>Udalosti v Java FX</vt:lpstr>
      <vt:lpstr>setOnAction I</vt:lpstr>
      <vt:lpstr>setOnAction II</vt:lpstr>
      <vt:lpstr>Zoomovanie Label-u</vt:lpstr>
      <vt:lpstr>Tiene pre tlačidlo</vt:lpstr>
      <vt:lpstr>Ošetrenie udalostí</vt:lpstr>
      <vt:lpstr>Záver</vt:lpstr>
      <vt:lpstr>Vytváranie aplikácii</vt:lpstr>
      <vt:lpstr>Rozloženie</vt:lpstr>
      <vt:lpstr>Výber vhodnej triedy</vt:lpstr>
      <vt:lpstr>Ideálne riešenie</vt:lpstr>
      <vt:lpstr>SceneBuilder</vt:lpstr>
      <vt:lpstr>Štruktúra FXML</vt:lpstr>
      <vt:lpstr>Základy FXML</vt:lpstr>
      <vt:lpstr>Controller</vt:lpstr>
      <vt:lpstr>Úprava v SceneBuilder</vt:lpstr>
      <vt:lpstr>Úprava komponentov</vt:lpstr>
      <vt:lpstr>Príklad</vt:lpstr>
      <vt:lpstr>FXML súbor</vt:lpstr>
      <vt:lpstr>Controller</vt:lpstr>
      <vt:lpstr>Workflow</vt:lpstr>
      <vt:lpstr>Containers</vt:lpstr>
      <vt:lpstr>Pane</vt:lpstr>
      <vt:lpstr>AnchorPane</vt:lpstr>
      <vt:lpstr>HBox</vt:lpstr>
      <vt:lpstr>VBox</vt:lpstr>
      <vt:lpstr>GridPane</vt:lpstr>
      <vt:lpstr>StackPane</vt:lpstr>
      <vt:lpstr>BorderPane</vt:lpstr>
      <vt:lpstr>ScrollPane</vt:lpstr>
      <vt:lpstr>Controls</vt:lpstr>
      <vt:lpstr>CheckBox</vt:lpstr>
      <vt:lpstr>RadioButton</vt:lpstr>
      <vt:lpstr>ComboBox</vt:lpstr>
      <vt:lpstr>Spinner</vt:lpstr>
      <vt:lpstr>Slider</vt:lpstr>
      <vt:lpstr>DatePicker</vt:lpstr>
      <vt:lpstr>Ďakujem za pozornosť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Deň otvorených dverí</dc:title>
  <dc:creator>Ľubomír Benko</dc:creator>
  <cp:lastModifiedBy>Ľubomír Benko</cp:lastModifiedBy>
  <cp:revision>48</cp:revision>
  <dcterms:created xsi:type="dcterms:W3CDTF">2022-11-21T14:08:07Z</dcterms:created>
  <dcterms:modified xsi:type="dcterms:W3CDTF">2026-07-22T08:38:59Z</dcterms:modified>
</cp:coreProperties>
</file>