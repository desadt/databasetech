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9"/>
  </p:notesMasterIdLst>
  <p:sldIdLst>
    <p:sldId id="256" r:id="rId2"/>
    <p:sldId id="318" r:id="rId3"/>
    <p:sldId id="335" r:id="rId4"/>
    <p:sldId id="345" r:id="rId5"/>
    <p:sldId id="343" r:id="rId6"/>
    <p:sldId id="349" r:id="rId7"/>
    <p:sldId id="355" r:id="rId8"/>
    <p:sldId id="350" r:id="rId9"/>
    <p:sldId id="356" r:id="rId10"/>
    <p:sldId id="352" r:id="rId11"/>
    <p:sldId id="353" r:id="rId12"/>
    <p:sldId id="354" r:id="rId13"/>
    <p:sldId id="357" r:id="rId14"/>
    <p:sldId id="358" r:id="rId15"/>
    <p:sldId id="323" r:id="rId16"/>
    <p:sldId id="329" r:id="rId17"/>
    <p:sldId id="303" r:id="rId18"/>
    <p:sldId id="341" r:id="rId19"/>
    <p:sldId id="346" r:id="rId20"/>
    <p:sldId id="360" r:id="rId21"/>
    <p:sldId id="359" r:id="rId22"/>
    <p:sldId id="361" r:id="rId23"/>
    <p:sldId id="362" r:id="rId24"/>
    <p:sldId id="363" r:id="rId25"/>
    <p:sldId id="364" r:id="rId26"/>
    <p:sldId id="365" r:id="rId27"/>
    <p:sldId id="285" r:id="rId28"/>
  </p:sldIdLst>
  <p:sldSz cx="9144000" cy="5143500" type="screen16x9"/>
  <p:notesSz cx="6858000" cy="9144000"/>
  <p:embeddedFontLst>
    <p:embeddedFont>
      <p:font typeface="Arvo" panose="020B0604020202020204" charset="0"/>
      <p:regular r:id="rId30"/>
      <p:bold r:id="rId31"/>
      <p:italic r:id="rId32"/>
      <p:boldItalic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Montserrat" panose="00000500000000000000" pitchFamily="2" charset="-18"/>
      <p:regular r:id="rId38"/>
      <p:bold r:id="rId39"/>
      <p:italic r:id="rId40"/>
      <p:boldItalic r:id="rId41"/>
    </p:embeddedFont>
    <p:embeddedFont>
      <p:font typeface="Montserrat ExtraBold" panose="00000900000000000000" pitchFamily="2" charset="-18"/>
      <p:bold r:id="rId42"/>
      <p:boldItalic r:id="rId43"/>
    </p:embeddedFont>
    <p:embeddedFont>
      <p:font typeface="Montserrat Light" panose="00000400000000000000" pitchFamily="2" charset="-18"/>
      <p:regular r:id="rId44"/>
      <p:bold r:id="rId45"/>
      <p:italic r:id="rId46"/>
      <p:boldItalic r:id="rId47"/>
    </p:embeddedFont>
    <p:embeddedFont>
      <p:font typeface="Montserrat Medium" panose="00000600000000000000" pitchFamily="2" charset="-18"/>
      <p:regular r:id="rId48"/>
      <p:bold r:id="rId49"/>
      <p:italic r:id="rId50"/>
      <p:boldItalic r:id="rId51"/>
    </p:embeddedFont>
    <p:embeddedFont>
      <p:font typeface="Open Sans" panose="020B0606030504020204" pitchFamily="34" charset="0"/>
      <p:regular r:id="rId52"/>
      <p:bold r:id="rId53"/>
      <p:italic r:id="rId54"/>
      <p:boldItalic r:id="rId55"/>
    </p:embeddedFont>
    <p:embeddedFont>
      <p:font typeface="Roboto" panose="02000000000000000000" pitchFamily="2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3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1A6B584-79FD-488D-8BF4-6CAF928A66D4}">
  <a:tblStyle styleId="{E1A6B584-79FD-488D-8BF4-6CAF928A66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2" autoAdjust="0"/>
    <p:restoredTop sz="78561" autoAdjust="0"/>
  </p:normalViewPr>
  <p:slideViewPr>
    <p:cSldViewPr snapToGrid="0">
      <p:cViewPr varScale="1">
        <p:scale>
          <a:sx n="124" d="100"/>
          <a:sy n="124" d="100"/>
        </p:scale>
        <p:origin x="676" y="76"/>
      </p:cViewPr>
      <p:guideLst>
        <p:guide orient="horz" pos="3134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font" Target="fonts/font21.fntdata"/><Relationship Id="rId55" Type="http://schemas.openxmlformats.org/officeDocument/2006/relationships/font" Target="fonts/font2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openxmlformats.org/officeDocument/2006/relationships/font" Target="fonts/font24.fntdata"/><Relationship Id="rId58" Type="http://schemas.openxmlformats.org/officeDocument/2006/relationships/font" Target="fonts/font29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font" Target="fonts/font19.fntdata"/><Relationship Id="rId56" Type="http://schemas.openxmlformats.org/officeDocument/2006/relationships/font" Target="fonts/font27.fntdata"/><Relationship Id="rId8" Type="http://schemas.openxmlformats.org/officeDocument/2006/relationships/slide" Target="slides/slide7.xml"/><Relationship Id="rId51" Type="http://schemas.openxmlformats.org/officeDocument/2006/relationships/font" Target="fonts/font2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59" Type="http://schemas.openxmlformats.org/officeDocument/2006/relationships/font" Target="fonts/font30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54" Type="http://schemas.openxmlformats.org/officeDocument/2006/relationships/font" Target="fonts/font2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font" Target="fonts/font20.fntdata"/><Relationship Id="rId57" Type="http://schemas.openxmlformats.org/officeDocument/2006/relationships/font" Target="fonts/font28.fntdata"/><Relationship Id="rId10" Type="http://schemas.openxmlformats.org/officeDocument/2006/relationships/slide" Target="slides/slide9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openxmlformats.org/officeDocument/2006/relationships/font" Target="fonts/font23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e745794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e745794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sk-SK" dirty="0">
                <a:solidFill>
                  <a:srgbClr val="666666"/>
                </a:solidFill>
              </a:rPr>
              <a:t>https://vuejs.org/guide/quick-start.html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4996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e7457949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e7457949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sk-SK" dirty="0">
                <a:solidFill>
                  <a:srgbClr val="666666"/>
                </a:solidFill>
              </a:rPr>
              <a:t>https://vuejs.org/guide/quick-start.html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6076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745794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745794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Vo Vue.js je šablóna základnou súčasťou komponentu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Vue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Definuje štruktúru a rozloženie HTML, ktoré sa vykreslí, keď sa komponent použije alebo zobrazí na webovej stránke. Šablóna obsahuje značku (HTML), ktorá predstavuje zobrazenie komponentu a môže obsahovať zástupné symboly a špecifické direktívy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Vue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na vykresľovanie dynamického obsahu a viazanie údajov.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7579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745794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745794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Vo Vue.js je šablóna základnou súčasťou komponentu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Vue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Definuje štruktúru a rozloženie HTML, ktoré sa vykreslí, keď sa komponent použije alebo zobrazí na webovej stránke. Šablóna obsahuje značku (HTML), ktorá predstavuje zobrazenie komponentu a môže obsahovať zástupné symboly a špecifické direktívy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Vue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na vykresľovanie dynamického obsahu a viazanie údajov.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4887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r>
              <a:rPr lang="sk-SK" sz="1100" b="0" u="none" dirty="0">
                <a:latin typeface="Montserrat Light" panose="00000400000000000000" pitchFamily="2" charset="-18"/>
              </a:rPr>
              <a:t>Pod kapotou </a:t>
            </a:r>
            <a:r>
              <a:rPr lang="sk-SK" sz="1100" b="0" u="none" dirty="0" err="1">
                <a:latin typeface="Montserrat Light" panose="00000400000000000000" pitchFamily="2" charset="-18"/>
              </a:rPr>
              <a:t>Vue</a:t>
            </a:r>
            <a:r>
              <a:rPr lang="sk-SK" sz="1100" b="0" u="none" dirty="0">
                <a:latin typeface="Montserrat Light" panose="00000400000000000000" pitchFamily="2" charset="-18"/>
              </a:rPr>
              <a:t> kompiluje šablóny do vysoko optimalizovaného JavaScript</a:t>
            </a:r>
            <a:r>
              <a:rPr lang="en-US" sz="1100" b="0" u="none" dirty="0">
                <a:latin typeface="Montserrat Light" panose="00000400000000000000" pitchFamily="2" charset="-18"/>
              </a:rPr>
              <a:t> </a:t>
            </a:r>
            <a:r>
              <a:rPr lang="sk-SK" sz="1100" b="0" u="none" dirty="0">
                <a:latin typeface="Montserrat Light" panose="00000400000000000000" pitchFamily="2" charset="-18"/>
              </a:rPr>
              <a:t>kódu.</a:t>
            </a:r>
            <a:endParaRPr lang="en-US" sz="1100" b="0" u="none" dirty="0">
              <a:latin typeface="Montserrat Light" panose="00000400000000000000" pitchFamily="2" charset="-18"/>
            </a:endParaRPr>
          </a:p>
          <a:p>
            <a:pPr marL="139700" indent="0" algn="l">
              <a:buFont typeface="Arial" panose="020B0604020202020204" pitchFamily="34" charset="0"/>
              <a:buNone/>
            </a:pPr>
            <a:r>
              <a:rPr lang="sk-SK" sz="1100" b="0" u="none" dirty="0">
                <a:latin typeface="Montserrat Light" panose="00000400000000000000" pitchFamily="2" charset="-18"/>
              </a:rPr>
              <a:t>V kombinácii so systémom reaktivity dokáže </a:t>
            </a:r>
            <a:r>
              <a:rPr lang="sk-SK" sz="1100" b="0" u="none" dirty="0" err="1">
                <a:latin typeface="Montserrat Light" panose="00000400000000000000" pitchFamily="2" charset="-18"/>
              </a:rPr>
              <a:t>Vue</a:t>
            </a:r>
            <a:r>
              <a:rPr lang="sk-SK" sz="1100" b="0" u="none" dirty="0">
                <a:latin typeface="Montserrat Light" panose="00000400000000000000" pitchFamily="2" charset="-18"/>
              </a:rPr>
              <a:t> inteligentne zistiť minimálny počet komponentov na opätovné vykreslenie a použiť minimálne množstvo DOM manipulácií pri zmene stavu aplikácie.</a:t>
            </a:r>
          </a:p>
        </p:txBody>
      </p:sp>
    </p:spTree>
    <p:extLst>
      <p:ext uri="{BB962C8B-B14F-4D97-AF65-F5344CB8AC3E}">
        <p14:creationId xmlns:p14="http://schemas.microsoft.com/office/powerpoint/2010/main" val="3175564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050092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819735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Dvojité fúzy interpretujú údaje ako obyčajný text, nie ako HTML. Na výstup skutočného HTML budete musieť použiť direktívu v-html:</a:t>
            </a: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63720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Direktíva v-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bind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inštruuje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Vue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aby ponechala atribút id prvku v synchronizácii s premenou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dynamicId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Ak je viazaná hodnota =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null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alebo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undefined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atribút sa z vykresleného prvku odstráni.</a:t>
            </a: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127900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Direktíva v-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bind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inštruuje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Vue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aby ponechala atribút id prvku v synchronizácii s premenou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dynamicId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Ak je viazaná hodnota =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null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alebo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undefined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atribút sa z vykresleného prvku odstráni.</a:t>
            </a: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941128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Direktíva v-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bind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inštruuje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Vue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aby ponechala atribút id prvku v synchronizácii s premenou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dynamicId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Ak je viazaná hodnota =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null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alebo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undefined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atribút sa z vykresleného prvku odstráni.</a:t>
            </a: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511393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Inline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JavaScript, ktorý sa má spustiť pri spustení udalosti (podobne ako natívny atribút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onclick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). </a:t>
            </a:r>
            <a:endParaRPr lang="en-US" b="0" i="0" dirty="0">
              <a:solidFill>
                <a:srgbClr val="252525"/>
              </a:solidFill>
              <a:effectLst/>
              <a:latin typeface="Roboto" panose="02000000000000000000" pitchFamily="2" charset="0"/>
            </a:endParaRPr>
          </a:p>
          <a:p>
            <a:pPr marL="139700" indent="0" algn="l">
              <a:buFont typeface="Arial" panose="020B0604020202020204" pitchFamily="34" charset="0"/>
              <a:buNone/>
            </a:pP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Method handlers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: Názov vlastnosti alebo cesta, ktorá ukazuje na metódu definovanú na komponente.</a:t>
            </a: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185571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Logika mnohých udalostí však bude zložitejšia a pravdepodobne nie je uskutočniteľná s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inline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zapisovan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ím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Preto v-on môže akceptovať aj názov alebo cestu metódy komponentu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</a:t>
            </a:r>
            <a:endParaRPr lang="sk-SK" b="0" i="0" dirty="0">
              <a:solidFill>
                <a:srgbClr val="252525"/>
              </a:solidFill>
              <a:effectLst/>
              <a:latin typeface="Roboto" panose="02000000000000000000" pitchFamily="2" charset="0"/>
            </a:endParaRPr>
          </a:p>
          <a:p>
            <a:pPr marL="158750" indent="0">
              <a:buNone/>
            </a:pP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Event 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predstavuje udalosť, ktorá sa odohráva v DOM. Udalosť môže byť vyvolaná akciou užívateľa napr. kliknutím na tlačidlo myši alebo ťuknutím na klávesnicu, alebo generované rozhraním API, aby reprezentovalo priebeh asynchrónnej úlohy</a:t>
            </a: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7668678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745794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745794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2935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745794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745794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:  = ALT + 58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@ = ALT + 64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2004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745794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745794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Každá inštancia komponentu </a:t>
            </a:r>
            <a:r>
              <a:rPr lang="sk-SK" dirty="0" err="1"/>
              <a:t>Vue</a:t>
            </a:r>
            <a:r>
              <a:rPr lang="sk-SK" dirty="0"/>
              <a:t> pri svojom vytvorení prechádza sériou inicializačných krokov – napríklad potrebuje nastaviť pozorovanie údajov, zostaviť šablónu, pripojiť inštanciu k DOM a aktualizovať DOM pri zmene údajov.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Červené sú </a:t>
            </a:r>
            <a:r>
              <a:rPr lang="sk-SK" dirty="0" err="1"/>
              <a:t>hooks</a:t>
            </a:r>
            <a:r>
              <a:rPr lang="en-US" dirty="0"/>
              <a:t>(h</a:t>
            </a:r>
            <a:r>
              <a:rPr lang="sk-SK" dirty="0" err="1"/>
              <a:t>áky</a:t>
            </a:r>
            <a:r>
              <a:rPr lang="en-US" dirty="0"/>
              <a:t>)</a:t>
            </a:r>
            <a:r>
              <a:rPr lang="sk-SK" dirty="0"/>
              <a:t>, ktoré používateľom poskytujú možnosť pridať svoj vlastný kód v konkrétnych fázach.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beforeCreate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- 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Volá sa okamžite po inicializácii inštancie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pred spracovaním iných možností, ako sú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data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() alebo 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computed()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</a:t>
            </a:r>
            <a:endParaRPr lang="en-US" b="0" i="0" dirty="0">
              <a:solidFill>
                <a:srgbClr val="252525"/>
              </a:solidFill>
              <a:effectLst/>
              <a:latin typeface="Roboto" panose="020000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created - 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nastaví sa nasledovné: 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data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computed, methods, watchers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Property </a:t>
            </a:r>
            <a:r>
              <a:rPr lang="sk-SK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$</a:t>
            </a:r>
            <a:r>
              <a:rPr lang="sk-SK" b="1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el</a:t>
            </a:r>
            <a:r>
              <a:rPr lang="sk-SK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zatiaľ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nie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je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k dispozícii</a:t>
            </a:r>
            <a:endParaRPr lang="en-US" b="0" i="0" dirty="0">
              <a:solidFill>
                <a:srgbClr val="252525"/>
              </a:solidFill>
              <a:effectLst/>
              <a:latin typeface="Roboto" panose="020000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beforeMount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- 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komponent dokončil nastavenie svojho reaktívneho stavu, ale ešte neboli vytvorené žiadne uzly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v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DOM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8656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7457949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7457949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Každá inštancia komponentu </a:t>
            </a:r>
            <a:r>
              <a:rPr lang="sk-SK" dirty="0" err="1"/>
              <a:t>Vue</a:t>
            </a:r>
            <a:r>
              <a:rPr lang="sk-SK" dirty="0"/>
              <a:t> pri svojom vytvorení prechádza sériou inicializačných krokov – napríklad potrebuje nastaviť pozorovanie údajov, zostaviť šablónu, pripojiť inštanciu k DOM a aktualizovať DOM pri zmene údajov.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Červené sú </a:t>
            </a:r>
            <a:r>
              <a:rPr lang="sk-SK" dirty="0" err="1"/>
              <a:t>hooks</a:t>
            </a:r>
            <a:r>
              <a:rPr lang="sk-SK" dirty="0"/>
              <a:t>(háky), ktoré používateľom poskytujú možnosť pridať svoj vlastný kód v konkrétnych fázach.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none" dirty="0"/>
              <a:t>mounted</a:t>
            </a:r>
            <a:r>
              <a:rPr lang="en-US" dirty="0"/>
              <a:t> –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ak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jeho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vlastný strom DOM bol vytvorený a vložený do nadradeného kontajnera. Objekt </a:t>
            </a:r>
            <a:r>
              <a:rPr lang="sk-SK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$</a:t>
            </a:r>
            <a:r>
              <a:rPr lang="sk-SK" b="1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el</a:t>
            </a:r>
            <a:r>
              <a:rPr lang="en-US" b="1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u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ž existuje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beforeUnmounted</a:t>
            </a:r>
            <a:r>
              <a:rPr lang="en-US" dirty="0"/>
              <a:t> –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pri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tomto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hook-u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inštancia komponentu je stále plne funkčná.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Unmounted -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 na vyčistenie manuálne vytvorených vedľajších efektov, ako sú časovače, DOM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event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lsiteners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alebo pripojenia k serveru.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Ďalšie </a:t>
            </a:r>
            <a:r>
              <a:rPr lang="sk-SK" dirty="0" err="1"/>
              <a:t>hooks</a:t>
            </a:r>
            <a:r>
              <a:rPr lang="en-US" dirty="0"/>
              <a:t>: </a:t>
            </a:r>
            <a:r>
              <a:rPr lang="sk-SK" dirty="0"/>
              <a:t>https://vuejs.org/api/options-lifecycle.html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1064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r>
              <a:rPr lang="sk-SK" sz="1100" b="0" u="none" dirty="0" err="1">
                <a:latin typeface="Montserrat Light" panose="00000400000000000000" pitchFamily="2" charset="-18"/>
              </a:rPr>
              <a:t>Created</a:t>
            </a:r>
            <a:r>
              <a:rPr lang="sk-SK" sz="1100" b="0" u="none" dirty="0">
                <a:latin typeface="Montserrat Light" panose="00000400000000000000" pitchFamily="2" charset="-18"/>
              </a:rPr>
              <a:t>(): prístup k údajom hneď, ako budú k dispozícii. napr. asynchrónna alebo vzdialená manipulácia s údajmi. </a:t>
            </a:r>
          </a:p>
          <a:p>
            <a:pPr marL="139700" indent="0" algn="l">
              <a:buFont typeface="Arial" panose="020B0604020202020204" pitchFamily="34" charset="0"/>
              <a:buNone/>
            </a:pPr>
            <a:r>
              <a:rPr lang="sk-SK" sz="1100" b="0" u="none" dirty="0" err="1">
                <a:latin typeface="Montserrat Light" panose="00000400000000000000" pitchFamily="2" charset="-18"/>
              </a:rPr>
              <a:t>Mounted</a:t>
            </a:r>
            <a:r>
              <a:rPr lang="sk-SK" sz="1100" b="0" u="none" dirty="0">
                <a:latin typeface="Montserrat Light" panose="00000400000000000000" pitchFamily="2" charset="-18"/>
              </a:rPr>
              <a:t>(): prístup k "DOM" čo najskôr pre pridávanie </a:t>
            </a:r>
            <a:r>
              <a:rPr lang="sk-SK" sz="1100" b="0" u="none" dirty="0" err="1">
                <a:latin typeface="Montserrat Light" panose="00000400000000000000" pitchFamily="2" charset="-18"/>
              </a:rPr>
              <a:t>listener</a:t>
            </a:r>
            <a:r>
              <a:rPr lang="sk-SK" sz="1100" b="0" u="none" dirty="0">
                <a:latin typeface="Montserrat Light" panose="00000400000000000000" pitchFamily="2" charset="-18"/>
              </a:rPr>
              <a:t> eventov, manipuláciu s prvkami a podobne. </a:t>
            </a:r>
          </a:p>
          <a:p>
            <a:pPr marL="139700" indent="0" algn="l">
              <a:buFont typeface="Arial" panose="020B0604020202020204" pitchFamily="34" charset="0"/>
              <a:buNone/>
            </a:pPr>
            <a:r>
              <a:rPr lang="sk-SK" sz="1100" b="0" u="none" dirty="0" err="1">
                <a:latin typeface="Montserrat Light" panose="00000400000000000000" pitchFamily="2" charset="-18"/>
              </a:rPr>
              <a:t>beforeUnmount</a:t>
            </a:r>
            <a:r>
              <a:rPr lang="sk-SK" sz="1100" b="0" u="none" dirty="0">
                <a:latin typeface="Montserrat Light" panose="00000400000000000000" pitchFamily="2" charset="-18"/>
              </a:rPr>
              <a:t>(): kedy a kde by ste sa mali zbaviť </a:t>
            </a:r>
            <a:r>
              <a:rPr lang="sk-SK" sz="1100" b="0" u="none" dirty="0" err="1">
                <a:latin typeface="Montserrat Light" panose="00000400000000000000" pitchFamily="2" charset="-18"/>
              </a:rPr>
              <a:t>listener</a:t>
            </a:r>
            <a:r>
              <a:rPr lang="sk-SK" sz="1100" b="0" u="none" dirty="0">
                <a:latin typeface="Montserrat Light" panose="00000400000000000000" pitchFamily="2" charset="-18"/>
              </a:rPr>
              <a:t> eventov a podobných prvkov. </a:t>
            </a:r>
          </a:p>
          <a:p>
            <a:pPr marL="139700" indent="0" algn="l">
              <a:buFont typeface="Arial" panose="020B0604020202020204" pitchFamily="34" charset="0"/>
              <a:buNone/>
            </a:pPr>
            <a:r>
              <a:rPr lang="sk-SK" sz="1100" b="0" u="none" dirty="0">
                <a:latin typeface="Montserrat Light" panose="00000400000000000000" pitchFamily="2" charset="-1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05741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9483811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653818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Pri práci s formulármi na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frontende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často potrebujeme synchronizovať stav vstupných prvkov formulára s príslušným stavom v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JavaScripte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Manuálne prepojenie hodnôt a zmena poslucháčov udalostí môže byť ťažkopádne.</a:t>
            </a:r>
            <a:endParaRPr lang="en-US" b="0" i="0" dirty="0">
              <a:solidFill>
                <a:srgbClr val="252525"/>
              </a:solidFill>
              <a:effectLst/>
              <a:latin typeface="Roboto" panose="02000000000000000000" pitchFamily="2" charset="0"/>
            </a:endParaRPr>
          </a:p>
          <a:p>
            <a:pPr marL="482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tabLst/>
              <a:defRPr/>
            </a:pPr>
            <a:r>
              <a:rPr lang="en-US" sz="1100" b="0" i="0" u="none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S v-model </a:t>
            </a:r>
            <a:r>
              <a:rPr lang="en-US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vytvor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íme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obojsmernú väzbu na vstupný prvok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( </a:t>
            </a:r>
            <a:r>
              <a:rPr lang="sk-SK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sk-SK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sk-SK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sk-SK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sk-SK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sk-SK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).</a:t>
            </a:r>
            <a:endParaRPr lang="sk-SK" sz="1100" b="0" u="none" dirty="0">
              <a:latin typeface="Montserrat Light" panose="00000400000000000000" pitchFamily="2" charset="-18"/>
            </a:endParaRPr>
          </a:p>
          <a:p>
            <a:pPr marL="482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tabLst/>
              <a:defRPr/>
            </a:pPr>
            <a:endParaRPr lang="en-US" sz="11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marL="482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 pitchFamily="34" charset="0"/>
              <a:buChar char="•"/>
              <a:tabLst/>
              <a:defRPr/>
            </a:pPr>
            <a:endParaRPr lang="sk-SK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sk-SK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5551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9237290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192179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l">
              <a:buNone/>
            </a:pP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Všeobecne povedané, v-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if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 má vyššie náklady na prepínanie, zatiaľ čo v-show má vyššie počiatočné náklady na 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render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. Takže uprednostnite v-show, ak potrebujete niečo prepínať veľmi často, a uprednostnite v-</a:t>
            </a:r>
            <a:r>
              <a:rPr lang="sk-SK" b="0" i="0" dirty="0" err="1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if</a:t>
            </a:r>
            <a:r>
              <a:rPr lang="sk-SK" b="0" i="0" dirty="0">
                <a:solidFill>
                  <a:srgbClr val="252525"/>
                </a:solidFill>
                <a:effectLst/>
                <a:latin typeface="Roboto" panose="02000000000000000000" pitchFamily="2" charset="0"/>
              </a:rPr>
              <a:t>, ak je nepravdepodobné, že sa podmienka počas behu zmení.</a:t>
            </a:r>
            <a:endParaRPr lang="sk-SK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501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4523b52df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4523b52df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l">
              <a:buFont typeface="Arial" panose="020B0604020202020204" pitchFamily="34" charset="0"/>
              <a:buNone/>
            </a:pPr>
            <a:endParaRPr lang="sk-SK" sz="1100" b="0" u="none" dirty="0">
              <a:latin typeface="Montserrat Light" panose="000004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958783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e7457949_0_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de7457949_0_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40900" y="1856275"/>
            <a:ext cx="6809100" cy="14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Font typeface="Montserrat ExtraBold"/>
              <a:buNone/>
              <a:defRPr sz="30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9053" y="-19506"/>
            <a:ext cx="9174378" cy="5239395"/>
            <a:chOff x="918675" y="1874825"/>
            <a:chExt cx="1583400" cy="909475"/>
          </a:xfrm>
        </p:grpSpPr>
        <p:sp>
          <p:nvSpPr>
            <p:cNvPr id="12" name="Google Shape;12;p2"/>
            <p:cNvSpPr/>
            <p:nvPr/>
          </p:nvSpPr>
          <p:spPr>
            <a:xfrm>
              <a:off x="961825" y="1874825"/>
              <a:ext cx="1540175" cy="228475"/>
            </a:xfrm>
            <a:custGeom>
              <a:avLst/>
              <a:gdLst/>
              <a:ahLst/>
              <a:cxnLst/>
              <a:rect l="l" t="t" r="r" b="b"/>
              <a:pathLst>
                <a:path w="61607" h="9139" extrusionOk="0">
                  <a:moveTo>
                    <a:pt x="0" y="1"/>
                  </a:moveTo>
                  <a:cubicBezTo>
                    <a:pt x="0" y="1"/>
                    <a:pt x="8577" y="9085"/>
                    <a:pt x="18717" y="9138"/>
                  </a:cubicBezTo>
                  <a:cubicBezTo>
                    <a:pt x="18758" y="9138"/>
                    <a:pt x="18800" y="9138"/>
                    <a:pt x="18841" y="9138"/>
                  </a:cubicBezTo>
                  <a:cubicBezTo>
                    <a:pt x="28811" y="9138"/>
                    <a:pt x="34708" y="2774"/>
                    <a:pt x="42198" y="2250"/>
                  </a:cubicBezTo>
                  <a:cubicBezTo>
                    <a:pt x="42725" y="2213"/>
                    <a:pt x="43251" y="2196"/>
                    <a:pt x="43773" y="2196"/>
                  </a:cubicBezTo>
                  <a:cubicBezTo>
                    <a:pt x="53257" y="2196"/>
                    <a:pt x="61606" y="7948"/>
                    <a:pt x="61606" y="7948"/>
                  </a:cubicBezTo>
                  <a:lnTo>
                    <a:pt x="61606" y="1"/>
                  </a:lnTo>
                  <a:close/>
                </a:path>
              </a:pathLst>
            </a:custGeom>
            <a:solidFill>
              <a:srgbClr val="FF88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918675" y="2170075"/>
              <a:ext cx="1098100" cy="489400"/>
            </a:xfrm>
            <a:custGeom>
              <a:avLst/>
              <a:gdLst/>
              <a:ahLst/>
              <a:cxnLst/>
              <a:rect l="l" t="t" r="r" b="b"/>
              <a:pathLst>
                <a:path w="43924" h="19576" extrusionOk="0">
                  <a:moveTo>
                    <a:pt x="0" y="0"/>
                  </a:moveTo>
                  <a:lnTo>
                    <a:pt x="0" y="6149"/>
                  </a:lnTo>
                  <a:cubicBezTo>
                    <a:pt x="890" y="8943"/>
                    <a:pt x="4970" y="19576"/>
                    <a:pt x="16264" y="19576"/>
                  </a:cubicBezTo>
                  <a:cubicBezTo>
                    <a:pt x="17493" y="19576"/>
                    <a:pt x="18808" y="19450"/>
                    <a:pt x="20214" y="19174"/>
                  </a:cubicBezTo>
                  <a:cubicBezTo>
                    <a:pt x="30826" y="17094"/>
                    <a:pt x="35168" y="13000"/>
                    <a:pt x="43884" y="13000"/>
                  </a:cubicBezTo>
                  <a:cubicBezTo>
                    <a:pt x="43897" y="13000"/>
                    <a:pt x="43910" y="13000"/>
                    <a:pt x="43924" y="13000"/>
                  </a:cubicBezTo>
                  <a:cubicBezTo>
                    <a:pt x="43924" y="13000"/>
                    <a:pt x="43038" y="12663"/>
                    <a:pt x="40990" y="12663"/>
                  </a:cubicBezTo>
                  <a:cubicBezTo>
                    <a:pt x="38870" y="12663"/>
                    <a:pt x="35506" y="13024"/>
                    <a:pt x="30592" y="14491"/>
                  </a:cubicBezTo>
                  <a:cubicBezTo>
                    <a:pt x="26720" y="15648"/>
                    <a:pt x="23321" y="16141"/>
                    <a:pt x="20340" y="16141"/>
                  </a:cubicBezTo>
                  <a:cubicBezTo>
                    <a:pt x="3572" y="16141"/>
                    <a:pt x="51" y="548"/>
                    <a:pt x="0" y="0"/>
                  </a:cubicBezTo>
                  <a:close/>
                </a:path>
              </a:pathLst>
            </a:custGeom>
            <a:solidFill>
              <a:srgbClr val="FB58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69525" y="1951075"/>
              <a:ext cx="732550" cy="228250"/>
            </a:xfrm>
            <a:custGeom>
              <a:avLst/>
              <a:gdLst/>
              <a:ahLst/>
              <a:cxnLst/>
              <a:rect l="l" t="t" r="r" b="b"/>
              <a:pathLst>
                <a:path w="29302" h="9130" extrusionOk="0">
                  <a:moveTo>
                    <a:pt x="11904" y="1"/>
                  </a:moveTo>
                  <a:cubicBezTo>
                    <a:pt x="8174" y="1"/>
                    <a:pt x="4164" y="979"/>
                    <a:pt x="1" y="3607"/>
                  </a:cubicBezTo>
                  <a:cubicBezTo>
                    <a:pt x="3309" y="2311"/>
                    <a:pt x="6516" y="1798"/>
                    <a:pt x="9520" y="1798"/>
                  </a:cubicBezTo>
                  <a:cubicBezTo>
                    <a:pt x="20255" y="1798"/>
                    <a:pt x="28398" y="8349"/>
                    <a:pt x="29302" y="9130"/>
                  </a:cubicBezTo>
                  <a:lnTo>
                    <a:pt x="29302" y="6004"/>
                  </a:lnTo>
                  <a:cubicBezTo>
                    <a:pt x="25095" y="3549"/>
                    <a:pt x="19007" y="1"/>
                    <a:pt x="11904" y="1"/>
                  </a:cubicBezTo>
                  <a:close/>
                </a:path>
              </a:pathLst>
            </a:custGeom>
            <a:solidFill>
              <a:srgbClr val="F76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918675" y="2371325"/>
              <a:ext cx="1582000" cy="412975"/>
            </a:xfrm>
            <a:custGeom>
              <a:avLst/>
              <a:gdLst/>
              <a:ahLst/>
              <a:cxnLst/>
              <a:rect l="l" t="t" r="r" b="b"/>
              <a:pathLst>
                <a:path w="63280" h="16519" extrusionOk="0">
                  <a:moveTo>
                    <a:pt x="0" y="1"/>
                  </a:moveTo>
                  <a:lnTo>
                    <a:pt x="0" y="16518"/>
                  </a:lnTo>
                  <a:lnTo>
                    <a:pt x="63279" y="16518"/>
                  </a:lnTo>
                  <a:lnTo>
                    <a:pt x="63279" y="10620"/>
                  </a:lnTo>
                  <a:cubicBezTo>
                    <a:pt x="59488" y="6783"/>
                    <a:pt x="54932" y="5446"/>
                    <a:pt x="50011" y="5446"/>
                  </a:cubicBezTo>
                  <a:cubicBezTo>
                    <a:pt x="38672" y="5446"/>
                    <a:pt x="25389" y="12545"/>
                    <a:pt x="15035" y="12545"/>
                  </a:cubicBezTo>
                  <a:cubicBezTo>
                    <a:pt x="8386" y="12545"/>
                    <a:pt x="2944" y="9617"/>
                    <a:pt x="0" y="1"/>
                  </a:cubicBezTo>
                  <a:close/>
                </a:path>
              </a:pathLst>
            </a:custGeom>
            <a:solidFill>
              <a:srgbClr val="CC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18675" y="2597125"/>
              <a:ext cx="1582000" cy="187175"/>
            </a:xfrm>
            <a:custGeom>
              <a:avLst/>
              <a:gdLst/>
              <a:ahLst/>
              <a:cxnLst/>
              <a:rect l="l" t="t" r="r" b="b"/>
              <a:pathLst>
                <a:path w="63280" h="7487" extrusionOk="0">
                  <a:moveTo>
                    <a:pt x="47545" y="1"/>
                  </a:moveTo>
                  <a:cubicBezTo>
                    <a:pt x="36005" y="1"/>
                    <a:pt x="23715" y="6271"/>
                    <a:pt x="13072" y="6271"/>
                  </a:cubicBezTo>
                  <a:cubicBezTo>
                    <a:pt x="8315" y="6271"/>
                    <a:pt x="3886" y="5019"/>
                    <a:pt x="0" y="1393"/>
                  </a:cubicBezTo>
                  <a:lnTo>
                    <a:pt x="0" y="7486"/>
                  </a:lnTo>
                  <a:lnTo>
                    <a:pt x="63279" y="7486"/>
                  </a:lnTo>
                  <a:lnTo>
                    <a:pt x="63279" y="5635"/>
                  </a:lnTo>
                  <a:cubicBezTo>
                    <a:pt x="58378" y="1426"/>
                    <a:pt x="53047" y="1"/>
                    <a:pt x="47545" y="1"/>
                  </a:cubicBezTo>
                  <a:close/>
                </a:path>
              </a:pathLst>
            </a:custGeom>
            <a:solidFill>
              <a:srgbClr val="AD3A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4200" y="1874825"/>
              <a:ext cx="594400" cy="77400"/>
            </a:xfrm>
            <a:custGeom>
              <a:avLst/>
              <a:gdLst/>
              <a:ahLst/>
              <a:cxnLst/>
              <a:rect l="l" t="t" r="r" b="b"/>
              <a:pathLst>
                <a:path w="23776" h="3096" extrusionOk="0">
                  <a:moveTo>
                    <a:pt x="0" y="1"/>
                  </a:moveTo>
                  <a:cubicBezTo>
                    <a:pt x="3023" y="1501"/>
                    <a:pt x="5861" y="3096"/>
                    <a:pt x="11888" y="3096"/>
                  </a:cubicBezTo>
                  <a:cubicBezTo>
                    <a:pt x="17915" y="3096"/>
                    <a:pt x="20753" y="1498"/>
                    <a:pt x="23776" y="1"/>
                  </a:cubicBezTo>
                  <a:close/>
                </a:path>
              </a:pathLst>
            </a:custGeom>
            <a:solidFill>
              <a:srgbClr val="FFC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TITLE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9053" y="-19506"/>
            <a:ext cx="9174378" cy="5239395"/>
            <a:chOff x="918675" y="1874825"/>
            <a:chExt cx="1583400" cy="909475"/>
          </a:xfrm>
        </p:grpSpPr>
        <p:sp>
          <p:nvSpPr>
            <p:cNvPr id="20" name="Google Shape;20;p3"/>
            <p:cNvSpPr/>
            <p:nvPr/>
          </p:nvSpPr>
          <p:spPr>
            <a:xfrm>
              <a:off x="961825" y="1874825"/>
              <a:ext cx="1540175" cy="228475"/>
            </a:xfrm>
            <a:custGeom>
              <a:avLst/>
              <a:gdLst/>
              <a:ahLst/>
              <a:cxnLst/>
              <a:rect l="l" t="t" r="r" b="b"/>
              <a:pathLst>
                <a:path w="61607" h="9139" extrusionOk="0">
                  <a:moveTo>
                    <a:pt x="0" y="1"/>
                  </a:moveTo>
                  <a:cubicBezTo>
                    <a:pt x="0" y="1"/>
                    <a:pt x="8577" y="9085"/>
                    <a:pt x="18717" y="9138"/>
                  </a:cubicBezTo>
                  <a:cubicBezTo>
                    <a:pt x="18758" y="9138"/>
                    <a:pt x="18800" y="9138"/>
                    <a:pt x="18841" y="9138"/>
                  </a:cubicBezTo>
                  <a:cubicBezTo>
                    <a:pt x="28811" y="9138"/>
                    <a:pt x="34708" y="2774"/>
                    <a:pt x="42198" y="2250"/>
                  </a:cubicBezTo>
                  <a:cubicBezTo>
                    <a:pt x="42725" y="2213"/>
                    <a:pt x="43251" y="2196"/>
                    <a:pt x="43773" y="2196"/>
                  </a:cubicBezTo>
                  <a:cubicBezTo>
                    <a:pt x="53257" y="2196"/>
                    <a:pt x="61606" y="7948"/>
                    <a:pt x="61606" y="7948"/>
                  </a:cubicBezTo>
                  <a:lnTo>
                    <a:pt x="61606" y="1"/>
                  </a:lnTo>
                  <a:close/>
                </a:path>
              </a:pathLst>
            </a:custGeom>
            <a:solidFill>
              <a:srgbClr val="FF88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918675" y="2170075"/>
              <a:ext cx="1098100" cy="489400"/>
            </a:xfrm>
            <a:custGeom>
              <a:avLst/>
              <a:gdLst/>
              <a:ahLst/>
              <a:cxnLst/>
              <a:rect l="l" t="t" r="r" b="b"/>
              <a:pathLst>
                <a:path w="43924" h="19576" extrusionOk="0">
                  <a:moveTo>
                    <a:pt x="0" y="0"/>
                  </a:moveTo>
                  <a:lnTo>
                    <a:pt x="0" y="6149"/>
                  </a:lnTo>
                  <a:cubicBezTo>
                    <a:pt x="890" y="8943"/>
                    <a:pt x="4970" y="19576"/>
                    <a:pt x="16264" y="19576"/>
                  </a:cubicBezTo>
                  <a:cubicBezTo>
                    <a:pt x="17493" y="19576"/>
                    <a:pt x="18808" y="19450"/>
                    <a:pt x="20214" y="19174"/>
                  </a:cubicBezTo>
                  <a:cubicBezTo>
                    <a:pt x="30826" y="17094"/>
                    <a:pt x="35168" y="13000"/>
                    <a:pt x="43884" y="13000"/>
                  </a:cubicBezTo>
                  <a:cubicBezTo>
                    <a:pt x="43897" y="13000"/>
                    <a:pt x="43910" y="13000"/>
                    <a:pt x="43924" y="13000"/>
                  </a:cubicBezTo>
                  <a:cubicBezTo>
                    <a:pt x="43924" y="13000"/>
                    <a:pt x="43038" y="12663"/>
                    <a:pt x="40990" y="12663"/>
                  </a:cubicBezTo>
                  <a:cubicBezTo>
                    <a:pt x="38870" y="12663"/>
                    <a:pt x="35506" y="13024"/>
                    <a:pt x="30592" y="14491"/>
                  </a:cubicBezTo>
                  <a:cubicBezTo>
                    <a:pt x="26720" y="15648"/>
                    <a:pt x="23321" y="16141"/>
                    <a:pt x="20340" y="16141"/>
                  </a:cubicBezTo>
                  <a:cubicBezTo>
                    <a:pt x="3572" y="16141"/>
                    <a:pt x="51" y="548"/>
                    <a:pt x="0" y="0"/>
                  </a:cubicBezTo>
                  <a:close/>
                </a:path>
              </a:pathLst>
            </a:custGeom>
            <a:solidFill>
              <a:srgbClr val="FB58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1769525" y="1951075"/>
              <a:ext cx="732550" cy="228250"/>
            </a:xfrm>
            <a:custGeom>
              <a:avLst/>
              <a:gdLst/>
              <a:ahLst/>
              <a:cxnLst/>
              <a:rect l="l" t="t" r="r" b="b"/>
              <a:pathLst>
                <a:path w="29302" h="9130" extrusionOk="0">
                  <a:moveTo>
                    <a:pt x="11904" y="1"/>
                  </a:moveTo>
                  <a:cubicBezTo>
                    <a:pt x="8174" y="1"/>
                    <a:pt x="4164" y="979"/>
                    <a:pt x="1" y="3607"/>
                  </a:cubicBezTo>
                  <a:cubicBezTo>
                    <a:pt x="3309" y="2311"/>
                    <a:pt x="6516" y="1798"/>
                    <a:pt x="9520" y="1798"/>
                  </a:cubicBezTo>
                  <a:cubicBezTo>
                    <a:pt x="20255" y="1798"/>
                    <a:pt x="28398" y="8349"/>
                    <a:pt x="29302" y="9130"/>
                  </a:cubicBezTo>
                  <a:lnTo>
                    <a:pt x="29302" y="6004"/>
                  </a:lnTo>
                  <a:cubicBezTo>
                    <a:pt x="25095" y="3549"/>
                    <a:pt x="19007" y="1"/>
                    <a:pt x="11904" y="1"/>
                  </a:cubicBezTo>
                  <a:close/>
                </a:path>
              </a:pathLst>
            </a:custGeom>
            <a:solidFill>
              <a:srgbClr val="F76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918675" y="2371325"/>
              <a:ext cx="1582000" cy="412975"/>
            </a:xfrm>
            <a:custGeom>
              <a:avLst/>
              <a:gdLst/>
              <a:ahLst/>
              <a:cxnLst/>
              <a:rect l="l" t="t" r="r" b="b"/>
              <a:pathLst>
                <a:path w="63280" h="16519" extrusionOk="0">
                  <a:moveTo>
                    <a:pt x="0" y="1"/>
                  </a:moveTo>
                  <a:lnTo>
                    <a:pt x="0" y="16518"/>
                  </a:lnTo>
                  <a:lnTo>
                    <a:pt x="63279" y="16518"/>
                  </a:lnTo>
                  <a:lnTo>
                    <a:pt x="63279" y="10620"/>
                  </a:lnTo>
                  <a:cubicBezTo>
                    <a:pt x="59488" y="6783"/>
                    <a:pt x="54932" y="5446"/>
                    <a:pt x="50011" y="5446"/>
                  </a:cubicBezTo>
                  <a:cubicBezTo>
                    <a:pt x="38672" y="5446"/>
                    <a:pt x="25389" y="12545"/>
                    <a:pt x="15035" y="12545"/>
                  </a:cubicBezTo>
                  <a:cubicBezTo>
                    <a:pt x="8386" y="12545"/>
                    <a:pt x="2944" y="9617"/>
                    <a:pt x="0" y="1"/>
                  </a:cubicBezTo>
                  <a:close/>
                </a:path>
              </a:pathLst>
            </a:custGeom>
            <a:solidFill>
              <a:srgbClr val="CC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918675" y="2597125"/>
              <a:ext cx="1582000" cy="187175"/>
            </a:xfrm>
            <a:custGeom>
              <a:avLst/>
              <a:gdLst/>
              <a:ahLst/>
              <a:cxnLst/>
              <a:rect l="l" t="t" r="r" b="b"/>
              <a:pathLst>
                <a:path w="63280" h="7487" extrusionOk="0">
                  <a:moveTo>
                    <a:pt x="47545" y="1"/>
                  </a:moveTo>
                  <a:cubicBezTo>
                    <a:pt x="36005" y="1"/>
                    <a:pt x="23715" y="6271"/>
                    <a:pt x="13072" y="6271"/>
                  </a:cubicBezTo>
                  <a:cubicBezTo>
                    <a:pt x="8315" y="6271"/>
                    <a:pt x="3886" y="5019"/>
                    <a:pt x="0" y="1393"/>
                  </a:cubicBezTo>
                  <a:lnTo>
                    <a:pt x="0" y="7486"/>
                  </a:lnTo>
                  <a:lnTo>
                    <a:pt x="63279" y="7486"/>
                  </a:lnTo>
                  <a:lnTo>
                    <a:pt x="63279" y="5635"/>
                  </a:lnTo>
                  <a:cubicBezTo>
                    <a:pt x="58378" y="1426"/>
                    <a:pt x="53047" y="1"/>
                    <a:pt x="47545" y="1"/>
                  </a:cubicBezTo>
                  <a:close/>
                </a:path>
              </a:pathLst>
            </a:custGeom>
            <a:solidFill>
              <a:srgbClr val="AD3A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4200" y="1874825"/>
              <a:ext cx="594400" cy="77400"/>
            </a:xfrm>
            <a:custGeom>
              <a:avLst/>
              <a:gdLst/>
              <a:ahLst/>
              <a:cxnLst/>
              <a:rect l="l" t="t" r="r" b="b"/>
              <a:pathLst>
                <a:path w="23776" h="3096" extrusionOk="0">
                  <a:moveTo>
                    <a:pt x="0" y="1"/>
                  </a:moveTo>
                  <a:cubicBezTo>
                    <a:pt x="3023" y="1501"/>
                    <a:pt x="5861" y="3096"/>
                    <a:pt x="11888" y="3096"/>
                  </a:cubicBezTo>
                  <a:cubicBezTo>
                    <a:pt x="17915" y="3096"/>
                    <a:pt x="20753" y="1498"/>
                    <a:pt x="23776" y="1"/>
                  </a:cubicBezTo>
                  <a:close/>
                </a:path>
              </a:pathLst>
            </a:custGeom>
            <a:solidFill>
              <a:srgbClr val="FFC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769125" y="1360325"/>
            <a:ext cx="7591500" cy="48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2831900" y="1990125"/>
            <a:ext cx="5528700" cy="3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2"/>
          </p:nvPr>
        </p:nvSpPr>
        <p:spPr>
          <a:xfrm>
            <a:off x="2831900" y="2315325"/>
            <a:ext cx="5528700" cy="3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3"/>
          </p:nvPr>
        </p:nvSpPr>
        <p:spPr>
          <a:xfrm>
            <a:off x="2831900" y="2640525"/>
            <a:ext cx="5528700" cy="3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slide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1350000" y="9334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FD67E"/>
              </a:buClr>
              <a:buSzPts val="2400"/>
              <a:buNone/>
              <a:defRPr b="1">
                <a:solidFill>
                  <a:srgbClr val="EFD67E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1350000" y="1695450"/>
            <a:ext cx="7047300" cy="250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Light"/>
              <a:buChar char="⏷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 rot="5400000">
            <a:off x="-1482580" y="1482595"/>
            <a:ext cx="5143715" cy="2178595"/>
            <a:chOff x="918675" y="2170075"/>
            <a:chExt cx="1582000" cy="614225"/>
          </a:xfrm>
        </p:grpSpPr>
        <p:sp>
          <p:nvSpPr>
            <p:cNvPr id="45" name="Google Shape;45;p6"/>
            <p:cNvSpPr/>
            <p:nvPr/>
          </p:nvSpPr>
          <p:spPr>
            <a:xfrm>
              <a:off x="918675" y="2170075"/>
              <a:ext cx="1098100" cy="489400"/>
            </a:xfrm>
            <a:custGeom>
              <a:avLst/>
              <a:gdLst/>
              <a:ahLst/>
              <a:cxnLst/>
              <a:rect l="l" t="t" r="r" b="b"/>
              <a:pathLst>
                <a:path w="43924" h="19576" extrusionOk="0">
                  <a:moveTo>
                    <a:pt x="0" y="0"/>
                  </a:moveTo>
                  <a:lnTo>
                    <a:pt x="0" y="6149"/>
                  </a:lnTo>
                  <a:cubicBezTo>
                    <a:pt x="890" y="8943"/>
                    <a:pt x="4970" y="19576"/>
                    <a:pt x="16264" y="19576"/>
                  </a:cubicBezTo>
                  <a:cubicBezTo>
                    <a:pt x="17493" y="19576"/>
                    <a:pt x="18808" y="19450"/>
                    <a:pt x="20214" y="19174"/>
                  </a:cubicBezTo>
                  <a:cubicBezTo>
                    <a:pt x="30826" y="17094"/>
                    <a:pt x="35168" y="13000"/>
                    <a:pt x="43884" y="13000"/>
                  </a:cubicBezTo>
                  <a:cubicBezTo>
                    <a:pt x="43897" y="13000"/>
                    <a:pt x="43910" y="13000"/>
                    <a:pt x="43924" y="13000"/>
                  </a:cubicBezTo>
                  <a:cubicBezTo>
                    <a:pt x="43924" y="13000"/>
                    <a:pt x="43038" y="12663"/>
                    <a:pt x="40990" y="12663"/>
                  </a:cubicBezTo>
                  <a:cubicBezTo>
                    <a:pt x="38870" y="12663"/>
                    <a:pt x="35506" y="13024"/>
                    <a:pt x="30592" y="14491"/>
                  </a:cubicBezTo>
                  <a:cubicBezTo>
                    <a:pt x="26720" y="15648"/>
                    <a:pt x="23321" y="16141"/>
                    <a:pt x="20340" y="16141"/>
                  </a:cubicBezTo>
                  <a:cubicBezTo>
                    <a:pt x="3572" y="16141"/>
                    <a:pt x="51" y="548"/>
                    <a:pt x="0" y="0"/>
                  </a:cubicBezTo>
                  <a:close/>
                </a:path>
              </a:pathLst>
            </a:custGeom>
            <a:solidFill>
              <a:srgbClr val="FB58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918675" y="2371325"/>
              <a:ext cx="1582000" cy="412975"/>
            </a:xfrm>
            <a:custGeom>
              <a:avLst/>
              <a:gdLst/>
              <a:ahLst/>
              <a:cxnLst/>
              <a:rect l="l" t="t" r="r" b="b"/>
              <a:pathLst>
                <a:path w="63280" h="16519" extrusionOk="0">
                  <a:moveTo>
                    <a:pt x="0" y="1"/>
                  </a:moveTo>
                  <a:lnTo>
                    <a:pt x="0" y="16518"/>
                  </a:lnTo>
                  <a:lnTo>
                    <a:pt x="63279" y="16518"/>
                  </a:lnTo>
                  <a:lnTo>
                    <a:pt x="63279" y="10620"/>
                  </a:lnTo>
                  <a:cubicBezTo>
                    <a:pt x="59488" y="6783"/>
                    <a:pt x="54932" y="5446"/>
                    <a:pt x="50011" y="5446"/>
                  </a:cubicBezTo>
                  <a:cubicBezTo>
                    <a:pt x="38672" y="5446"/>
                    <a:pt x="25389" y="12545"/>
                    <a:pt x="15035" y="12545"/>
                  </a:cubicBezTo>
                  <a:cubicBezTo>
                    <a:pt x="8386" y="12545"/>
                    <a:pt x="2944" y="9617"/>
                    <a:pt x="0" y="1"/>
                  </a:cubicBezTo>
                  <a:close/>
                </a:path>
              </a:pathLst>
            </a:custGeom>
            <a:solidFill>
              <a:srgbClr val="CC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918675" y="2597125"/>
              <a:ext cx="1582000" cy="187175"/>
            </a:xfrm>
            <a:custGeom>
              <a:avLst/>
              <a:gdLst/>
              <a:ahLst/>
              <a:cxnLst/>
              <a:rect l="l" t="t" r="r" b="b"/>
              <a:pathLst>
                <a:path w="63280" h="7487" extrusionOk="0">
                  <a:moveTo>
                    <a:pt x="47545" y="1"/>
                  </a:moveTo>
                  <a:cubicBezTo>
                    <a:pt x="36005" y="1"/>
                    <a:pt x="23715" y="6271"/>
                    <a:pt x="13072" y="6271"/>
                  </a:cubicBezTo>
                  <a:cubicBezTo>
                    <a:pt x="8315" y="6271"/>
                    <a:pt x="3886" y="5019"/>
                    <a:pt x="0" y="1393"/>
                  </a:cubicBezTo>
                  <a:lnTo>
                    <a:pt x="0" y="7486"/>
                  </a:lnTo>
                  <a:lnTo>
                    <a:pt x="63279" y="7486"/>
                  </a:lnTo>
                  <a:lnTo>
                    <a:pt x="63279" y="5635"/>
                  </a:lnTo>
                  <a:cubicBezTo>
                    <a:pt x="58378" y="1426"/>
                    <a:pt x="53047" y="1"/>
                    <a:pt x="47545" y="1"/>
                  </a:cubicBezTo>
                  <a:close/>
                </a:path>
              </a:pathLst>
            </a:custGeom>
            <a:solidFill>
              <a:srgbClr val="AD3A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r" rtl="0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&amp; Image slide">
  <p:cSld name="TITLE_AND_BODY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7"/>
          <p:cNvGrpSpPr/>
          <p:nvPr/>
        </p:nvGrpSpPr>
        <p:grpSpPr>
          <a:xfrm rot="5400000">
            <a:off x="5840082" y="1853202"/>
            <a:ext cx="5170773" cy="1437088"/>
            <a:chOff x="961825" y="1874825"/>
            <a:chExt cx="1540250" cy="304500"/>
          </a:xfrm>
        </p:grpSpPr>
        <p:sp>
          <p:nvSpPr>
            <p:cNvPr id="51" name="Google Shape;51;p7"/>
            <p:cNvSpPr/>
            <p:nvPr/>
          </p:nvSpPr>
          <p:spPr>
            <a:xfrm>
              <a:off x="961825" y="1874825"/>
              <a:ext cx="1540175" cy="228475"/>
            </a:xfrm>
            <a:custGeom>
              <a:avLst/>
              <a:gdLst/>
              <a:ahLst/>
              <a:cxnLst/>
              <a:rect l="l" t="t" r="r" b="b"/>
              <a:pathLst>
                <a:path w="61607" h="9139" extrusionOk="0">
                  <a:moveTo>
                    <a:pt x="0" y="1"/>
                  </a:moveTo>
                  <a:cubicBezTo>
                    <a:pt x="0" y="1"/>
                    <a:pt x="8577" y="9085"/>
                    <a:pt x="18717" y="9138"/>
                  </a:cubicBezTo>
                  <a:cubicBezTo>
                    <a:pt x="18758" y="9138"/>
                    <a:pt x="18800" y="9138"/>
                    <a:pt x="18841" y="9138"/>
                  </a:cubicBezTo>
                  <a:cubicBezTo>
                    <a:pt x="28811" y="9138"/>
                    <a:pt x="34708" y="2774"/>
                    <a:pt x="42198" y="2250"/>
                  </a:cubicBezTo>
                  <a:cubicBezTo>
                    <a:pt x="42725" y="2213"/>
                    <a:pt x="43251" y="2196"/>
                    <a:pt x="43773" y="2196"/>
                  </a:cubicBezTo>
                  <a:cubicBezTo>
                    <a:pt x="53257" y="2196"/>
                    <a:pt x="61606" y="7948"/>
                    <a:pt x="61606" y="7948"/>
                  </a:cubicBezTo>
                  <a:lnTo>
                    <a:pt x="61606" y="1"/>
                  </a:lnTo>
                  <a:close/>
                </a:path>
              </a:pathLst>
            </a:custGeom>
            <a:solidFill>
              <a:srgbClr val="FF88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1769525" y="1951075"/>
              <a:ext cx="732550" cy="228250"/>
            </a:xfrm>
            <a:custGeom>
              <a:avLst/>
              <a:gdLst/>
              <a:ahLst/>
              <a:cxnLst/>
              <a:rect l="l" t="t" r="r" b="b"/>
              <a:pathLst>
                <a:path w="29302" h="9130" extrusionOk="0">
                  <a:moveTo>
                    <a:pt x="11904" y="1"/>
                  </a:moveTo>
                  <a:cubicBezTo>
                    <a:pt x="8174" y="1"/>
                    <a:pt x="4164" y="979"/>
                    <a:pt x="1" y="3607"/>
                  </a:cubicBezTo>
                  <a:cubicBezTo>
                    <a:pt x="3309" y="2311"/>
                    <a:pt x="6516" y="1798"/>
                    <a:pt x="9520" y="1798"/>
                  </a:cubicBezTo>
                  <a:cubicBezTo>
                    <a:pt x="20255" y="1798"/>
                    <a:pt x="28398" y="8349"/>
                    <a:pt x="29302" y="9130"/>
                  </a:cubicBezTo>
                  <a:lnTo>
                    <a:pt x="29302" y="6004"/>
                  </a:lnTo>
                  <a:cubicBezTo>
                    <a:pt x="25095" y="3549"/>
                    <a:pt x="19007" y="1"/>
                    <a:pt x="11904" y="1"/>
                  </a:cubicBezTo>
                  <a:close/>
                </a:path>
              </a:pathLst>
            </a:custGeom>
            <a:solidFill>
              <a:srgbClr val="F76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7"/>
            <p:cNvSpPr/>
            <p:nvPr/>
          </p:nvSpPr>
          <p:spPr>
            <a:xfrm>
              <a:off x="1204200" y="1874825"/>
              <a:ext cx="594400" cy="77400"/>
            </a:xfrm>
            <a:custGeom>
              <a:avLst/>
              <a:gdLst/>
              <a:ahLst/>
              <a:cxnLst/>
              <a:rect l="l" t="t" r="r" b="b"/>
              <a:pathLst>
                <a:path w="23776" h="3096" extrusionOk="0">
                  <a:moveTo>
                    <a:pt x="0" y="1"/>
                  </a:moveTo>
                  <a:cubicBezTo>
                    <a:pt x="3023" y="1501"/>
                    <a:pt x="5861" y="3096"/>
                    <a:pt x="11888" y="3096"/>
                  </a:cubicBezTo>
                  <a:cubicBezTo>
                    <a:pt x="17915" y="3096"/>
                    <a:pt x="20753" y="1498"/>
                    <a:pt x="23776" y="1"/>
                  </a:cubicBezTo>
                  <a:close/>
                </a:path>
              </a:pathLst>
            </a:custGeom>
            <a:solidFill>
              <a:srgbClr val="FFC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768867" y="1903050"/>
            <a:ext cx="3888000" cy="49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4886675" y="2364838"/>
            <a:ext cx="2770200" cy="7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7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 with lateral waves ">
  <p:cSld name="BLANK_1_1_1_1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1pPr>
            <a:lvl2pPr lvl="1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2pPr>
            <a:lvl3pPr lvl="2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3pPr>
            <a:lvl4pPr lvl="3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4pPr>
            <a:lvl5pPr lvl="4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5pPr>
            <a:lvl6pPr lvl="5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6pPr>
            <a:lvl7pPr lvl="6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7pPr>
            <a:lvl8pPr lvl="7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8pPr>
            <a:lvl9pPr lvl="8" rtl="0">
              <a:buNone/>
              <a:defRPr sz="1200"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 rot="5400000">
            <a:off x="-1482580" y="1482595"/>
            <a:ext cx="5143715" cy="2178595"/>
            <a:chOff x="918675" y="2170075"/>
            <a:chExt cx="1582000" cy="614225"/>
          </a:xfrm>
        </p:grpSpPr>
        <p:sp>
          <p:nvSpPr>
            <p:cNvPr id="141" name="Google Shape;141;p21"/>
            <p:cNvSpPr/>
            <p:nvPr/>
          </p:nvSpPr>
          <p:spPr>
            <a:xfrm>
              <a:off x="918675" y="2170075"/>
              <a:ext cx="1098100" cy="489400"/>
            </a:xfrm>
            <a:custGeom>
              <a:avLst/>
              <a:gdLst/>
              <a:ahLst/>
              <a:cxnLst/>
              <a:rect l="l" t="t" r="r" b="b"/>
              <a:pathLst>
                <a:path w="43924" h="19576" extrusionOk="0">
                  <a:moveTo>
                    <a:pt x="0" y="0"/>
                  </a:moveTo>
                  <a:lnTo>
                    <a:pt x="0" y="6149"/>
                  </a:lnTo>
                  <a:cubicBezTo>
                    <a:pt x="890" y="8943"/>
                    <a:pt x="4970" y="19576"/>
                    <a:pt x="16264" y="19576"/>
                  </a:cubicBezTo>
                  <a:cubicBezTo>
                    <a:pt x="17493" y="19576"/>
                    <a:pt x="18808" y="19450"/>
                    <a:pt x="20214" y="19174"/>
                  </a:cubicBezTo>
                  <a:cubicBezTo>
                    <a:pt x="30826" y="17094"/>
                    <a:pt x="35168" y="13000"/>
                    <a:pt x="43884" y="13000"/>
                  </a:cubicBezTo>
                  <a:cubicBezTo>
                    <a:pt x="43897" y="13000"/>
                    <a:pt x="43910" y="13000"/>
                    <a:pt x="43924" y="13000"/>
                  </a:cubicBezTo>
                  <a:cubicBezTo>
                    <a:pt x="43924" y="13000"/>
                    <a:pt x="43038" y="12663"/>
                    <a:pt x="40990" y="12663"/>
                  </a:cubicBezTo>
                  <a:cubicBezTo>
                    <a:pt x="38870" y="12663"/>
                    <a:pt x="35506" y="13024"/>
                    <a:pt x="30592" y="14491"/>
                  </a:cubicBezTo>
                  <a:cubicBezTo>
                    <a:pt x="26720" y="15648"/>
                    <a:pt x="23321" y="16141"/>
                    <a:pt x="20340" y="16141"/>
                  </a:cubicBezTo>
                  <a:cubicBezTo>
                    <a:pt x="3572" y="16141"/>
                    <a:pt x="51" y="548"/>
                    <a:pt x="0" y="0"/>
                  </a:cubicBezTo>
                  <a:close/>
                </a:path>
              </a:pathLst>
            </a:custGeom>
            <a:solidFill>
              <a:srgbClr val="FB58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918675" y="2371325"/>
              <a:ext cx="1582000" cy="412975"/>
            </a:xfrm>
            <a:custGeom>
              <a:avLst/>
              <a:gdLst/>
              <a:ahLst/>
              <a:cxnLst/>
              <a:rect l="l" t="t" r="r" b="b"/>
              <a:pathLst>
                <a:path w="63280" h="16519" extrusionOk="0">
                  <a:moveTo>
                    <a:pt x="0" y="1"/>
                  </a:moveTo>
                  <a:lnTo>
                    <a:pt x="0" y="16518"/>
                  </a:lnTo>
                  <a:lnTo>
                    <a:pt x="63279" y="16518"/>
                  </a:lnTo>
                  <a:lnTo>
                    <a:pt x="63279" y="10620"/>
                  </a:lnTo>
                  <a:cubicBezTo>
                    <a:pt x="59488" y="6783"/>
                    <a:pt x="54932" y="5446"/>
                    <a:pt x="50011" y="5446"/>
                  </a:cubicBezTo>
                  <a:cubicBezTo>
                    <a:pt x="38672" y="5446"/>
                    <a:pt x="25389" y="12545"/>
                    <a:pt x="15035" y="12545"/>
                  </a:cubicBezTo>
                  <a:cubicBezTo>
                    <a:pt x="8386" y="12545"/>
                    <a:pt x="2944" y="9617"/>
                    <a:pt x="0" y="1"/>
                  </a:cubicBezTo>
                  <a:close/>
                </a:path>
              </a:pathLst>
            </a:custGeom>
            <a:solidFill>
              <a:srgbClr val="CC4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918675" y="2597125"/>
              <a:ext cx="1582000" cy="187175"/>
            </a:xfrm>
            <a:custGeom>
              <a:avLst/>
              <a:gdLst/>
              <a:ahLst/>
              <a:cxnLst/>
              <a:rect l="l" t="t" r="r" b="b"/>
              <a:pathLst>
                <a:path w="63280" h="7487" extrusionOk="0">
                  <a:moveTo>
                    <a:pt x="47545" y="1"/>
                  </a:moveTo>
                  <a:cubicBezTo>
                    <a:pt x="36005" y="1"/>
                    <a:pt x="23715" y="6271"/>
                    <a:pt x="13072" y="6271"/>
                  </a:cubicBezTo>
                  <a:cubicBezTo>
                    <a:pt x="8315" y="6271"/>
                    <a:pt x="3886" y="5019"/>
                    <a:pt x="0" y="1393"/>
                  </a:cubicBezTo>
                  <a:lnTo>
                    <a:pt x="0" y="7486"/>
                  </a:lnTo>
                  <a:lnTo>
                    <a:pt x="63279" y="7486"/>
                  </a:lnTo>
                  <a:lnTo>
                    <a:pt x="63279" y="5635"/>
                  </a:lnTo>
                  <a:cubicBezTo>
                    <a:pt x="58378" y="1426"/>
                    <a:pt x="53047" y="1"/>
                    <a:pt x="47545" y="1"/>
                  </a:cubicBezTo>
                  <a:close/>
                </a:path>
              </a:pathLst>
            </a:custGeom>
            <a:solidFill>
              <a:srgbClr val="AD3A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" name="Google Shape;144;p21"/>
          <p:cNvGrpSpPr/>
          <p:nvPr/>
        </p:nvGrpSpPr>
        <p:grpSpPr>
          <a:xfrm rot="5400000">
            <a:off x="5840082" y="1853202"/>
            <a:ext cx="5170773" cy="1437088"/>
            <a:chOff x="961825" y="1874825"/>
            <a:chExt cx="1540250" cy="304500"/>
          </a:xfrm>
        </p:grpSpPr>
        <p:sp>
          <p:nvSpPr>
            <p:cNvPr id="145" name="Google Shape;145;p21"/>
            <p:cNvSpPr/>
            <p:nvPr/>
          </p:nvSpPr>
          <p:spPr>
            <a:xfrm>
              <a:off x="961825" y="1874825"/>
              <a:ext cx="1540175" cy="228475"/>
            </a:xfrm>
            <a:custGeom>
              <a:avLst/>
              <a:gdLst/>
              <a:ahLst/>
              <a:cxnLst/>
              <a:rect l="l" t="t" r="r" b="b"/>
              <a:pathLst>
                <a:path w="61607" h="9139" extrusionOk="0">
                  <a:moveTo>
                    <a:pt x="0" y="1"/>
                  </a:moveTo>
                  <a:cubicBezTo>
                    <a:pt x="0" y="1"/>
                    <a:pt x="8577" y="9085"/>
                    <a:pt x="18717" y="9138"/>
                  </a:cubicBezTo>
                  <a:cubicBezTo>
                    <a:pt x="18758" y="9138"/>
                    <a:pt x="18800" y="9138"/>
                    <a:pt x="18841" y="9138"/>
                  </a:cubicBezTo>
                  <a:cubicBezTo>
                    <a:pt x="28811" y="9138"/>
                    <a:pt x="34708" y="2774"/>
                    <a:pt x="42198" y="2250"/>
                  </a:cubicBezTo>
                  <a:cubicBezTo>
                    <a:pt x="42725" y="2213"/>
                    <a:pt x="43251" y="2196"/>
                    <a:pt x="43773" y="2196"/>
                  </a:cubicBezTo>
                  <a:cubicBezTo>
                    <a:pt x="53257" y="2196"/>
                    <a:pt x="61606" y="7948"/>
                    <a:pt x="61606" y="7948"/>
                  </a:cubicBezTo>
                  <a:lnTo>
                    <a:pt x="61606" y="1"/>
                  </a:lnTo>
                  <a:close/>
                </a:path>
              </a:pathLst>
            </a:custGeom>
            <a:solidFill>
              <a:srgbClr val="FF88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1769525" y="1951075"/>
              <a:ext cx="732550" cy="228250"/>
            </a:xfrm>
            <a:custGeom>
              <a:avLst/>
              <a:gdLst/>
              <a:ahLst/>
              <a:cxnLst/>
              <a:rect l="l" t="t" r="r" b="b"/>
              <a:pathLst>
                <a:path w="29302" h="9130" extrusionOk="0">
                  <a:moveTo>
                    <a:pt x="11904" y="1"/>
                  </a:moveTo>
                  <a:cubicBezTo>
                    <a:pt x="8174" y="1"/>
                    <a:pt x="4164" y="979"/>
                    <a:pt x="1" y="3607"/>
                  </a:cubicBezTo>
                  <a:cubicBezTo>
                    <a:pt x="3309" y="2311"/>
                    <a:pt x="6516" y="1798"/>
                    <a:pt x="9520" y="1798"/>
                  </a:cubicBezTo>
                  <a:cubicBezTo>
                    <a:pt x="20255" y="1798"/>
                    <a:pt x="28398" y="8349"/>
                    <a:pt x="29302" y="9130"/>
                  </a:cubicBezTo>
                  <a:lnTo>
                    <a:pt x="29302" y="6004"/>
                  </a:lnTo>
                  <a:cubicBezTo>
                    <a:pt x="25095" y="3549"/>
                    <a:pt x="19007" y="1"/>
                    <a:pt x="11904" y="1"/>
                  </a:cubicBezTo>
                  <a:close/>
                </a:path>
              </a:pathLst>
            </a:custGeom>
            <a:solidFill>
              <a:srgbClr val="F76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1204200" y="1874825"/>
              <a:ext cx="594400" cy="77400"/>
            </a:xfrm>
            <a:custGeom>
              <a:avLst/>
              <a:gdLst/>
              <a:ahLst/>
              <a:cxnLst/>
              <a:rect l="l" t="t" r="r" b="b"/>
              <a:pathLst>
                <a:path w="23776" h="3096" extrusionOk="0">
                  <a:moveTo>
                    <a:pt x="0" y="1"/>
                  </a:moveTo>
                  <a:cubicBezTo>
                    <a:pt x="3023" y="1501"/>
                    <a:pt x="5861" y="3096"/>
                    <a:pt x="11888" y="3096"/>
                  </a:cubicBezTo>
                  <a:cubicBezTo>
                    <a:pt x="17915" y="3096"/>
                    <a:pt x="20753" y="1498"/>
                    <a:pt x="23776" y="1"/>
                  </a:cubicBezTo>
                  <a:close/>
                </a:path>
              </a:pathLst>
            </a:custGeom>
            <a:solidFill>
              <a:srgbClr val="FFC1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1349850" y="1457970"/>
            <a:ext cx="6779700" cy="112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800"/>
              <a:buNone/>
              <a:defRPr sz="4800" b="1"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subTitle" idx="1"/>
          </p:nvPr>
        </p:nvSpPr>
        <p:spPr>
          <a:xfrm>
            <a:off x="1899150" y="2890088"/>
            <a:ext cx="56811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666666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1" type="blank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sldNum" idx="12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Char char="●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Char char="○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Char char="■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Char char="●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Char char="○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Char char="■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Char char="●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Char char="○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Char char="■"/>
              <a:defRPr>
                <a:solidFill>
                  <a:srgbClr val="999999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r">
              <a:buNone/>
              <a:defRPr sz="1300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67" r:id="rId5"/>
    <p:sldLayoutId id="214748367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7" Type="http://schemas.openxmlformats.org/officeDocument/2006/relationships/hyperlink" Target="https://vuejs.org/guide/quick-start.html#creating-a-vue-applica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odejs.org/en" TargetMode="External"/><Relationship Id="rId5" Type="http://schemas.openxmlformats.org/officeDocument/2006/relationships/hyperlink" Target="https://nodejs.org/en/download" TargetMode="External"/><Relationship Id="rId4" Type="http://schemas.openxmlformats.org/officeDocument/2006/relationships/hyperlink" Target="https://marketplace.visualstudio.com/items?itemName=Vue.volar&amp;ssr=false#overview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ctrTitle"/>
          </p:nvPr>
        </p:nvSpPr>
        <p:spPr>
          <a:xfrm>
            <a:off x="827712" y="1618858"/>
            <a:ext cx="6809100" cy="143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6000" dirty="0" err="1"/>
              <a:t>Frontendov</a:t>
            </a:r>
            <a:r>
              <a:rPr lang="sk-SK" sz="6000" dirty="0"/>
              <a:t>é technológie</a:t>
            </a:r>
            <a:br>
              <a:rPr lang="sk-SK" sz="6000" dirty="0"/>
            </a:br>
            <a:r>
              <a:rPr lang="sk-SK" dirty="0"/>
              <a:t>3.</a:t>
            </a:r>
            <a:r>
              <a:rPr lang="en-US" dirty="0"/>
              <a:t> </a:t>
            </a:r>
            <a:r>
              <a:rPr lang="sk-SK" dirty="0"/>
              <a:t>týždeň</a:t>
            </a:r>
            <a:endParaRPr dirty="0">
              <a:solidFill>
                <a:srgbClr val="43434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Google Shape;212;p29">
            <a:extLst>
              <a:ext uri="{FF2B5EF4-FFF2-40B4-BE49-F238E27FC236}">
                <a16:creationId xmlns:a16="http://schemas.microsoft.com/office/drawing/2014/main" id="{7A61D581-4B44-4C46-AE5F-60617EFF5764}"/>
              </a:ext>
            </a:extLst>
          </p:cNvPr>
          <p:cNvSpPr txBox="1">
            <a:spLocks/>
          </p:cNvSpPr>
          <p:nvPr/>
        </p:nvSpPr>
        <p:spPr>
          <a:xfrm>
            <a:off x="5257869" y="4514557"/>
            <a:ext cx="3670374" cy="4003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sk-SK" sz="2400" b="1" dirty="0">
                <a:solidFill>
                  <a:schemeClr val="bg1"/>
                </a:solidFill>
              </a:rPr>
              <a:t>Mgr. Matúš Valko, PhD.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>
            <a:spLocks noGrp="1"/>
          </p:cNvSpPr>
          <p:nvPr>
            <p:ph type="body" idx="1"/>
          </p:nvPr>
        </p:nvSpPr>
        <p:spPr>
          <a:xfrm>
            <a:off x="1092708" y="1257299"/>
            <a:ext cx="8051292" cy="3834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k-SK" sz="2000" b="1" dirty="0">
                <a:solidFill>
                  <a:schemeClr val="tx1"/>
                </a:solidFill>
              </a:rPr>
              <a:t>Nainštalujte </a:t>
            </a:r>
            <a:r>
              <a:rPr lang="en-US" sz="2000" b="1" dirty="0">
                <a:solidFill>
                  <a:schemeClr val="tx1"/>
                </a:solidFill>
              </a:rPr>
              <a:t>IDE – </a:t>
            </a:r>
            <a:r>
              <a:rPr lang="en-US" sz="2000" b="1" dirty="0" err="1">
                <a:solidFill>
                  <a:schemeClr val="tx1"/>
                </a:solidFill>
              </a:rPr>
              <a:t>odpor</a:t>
            </a:r>
            <a:r>
              <a:rPr lang="sk-SK" sz="2000" b="1" dirty="0" err="1">
                <a:solidFill>
                  <a:schemeClr val="tx1"/>
                </a:solidFill>
              </a:rPr>
              <a:t>účaný</a:t>
            </a:r>
            <a:r>
              <a:rPr lang="sk-SK" sz="2000" b="1" dirty="0">
                <a:solidFill>
                  <a:schemeClr val="tx1"/>
                </a:solidFill>
              </a:rPr>
              <a:t> je </a:t>
            </a:r>
            <a:r>
              <a:rPr lang="en-US" sz="2000" b="1" u="sng" dirty="0">
                <a:solidFill>
                  <a:schemeClr val="tx1"/>
                </a:solidFill>
                <a:hlinkClick r:id="rId3"/>
              </a:rPr>
              <a:t>VS</a:t>
            </a:r>
            <a:r>
              <a:rPr lang="sk-SK" sz="2000" b="1" u="sng" dirty="0">
                <a:solidFill>
                  <a:schemeClr val="tx1"/>
                </a:solidFill>
                <a:hlinkClick r:id="rId3"/>
              </a:rPr>
              <a:t> C</a:t>
            </a:r>
            <a:r>
              <a:rPr lang="en-US" sz="2000" b="1" u="sng" dirty="0">
                <a:solidFill>
                  <a:schemeClr val="tx1"/>
                </a:solidFill>
                <a:hlinkClick r:id="rId3"/>
              </a:rPr>
              <a:t>ode</a:t>
            </a:r>
            <a:r>
              <a:rPr lang="en-US" sz="2000" b="1" dirty="0">
                <a:solidFill>
                  <a:schemeClr val="tx1"/>
                </a:solidFill>
              </a:rPr>
              <a:t> + </a:t>
            </a:r>
            <a:r>
              <a:rPr lang="sk-SK" sz="2000" b="1" dirty="0" err="1">
                <a:solidFill>
                  <a:schemeClr val="tx1"/>
                </a:solidFill>
                <a:hlinkClick r:id="rId4"/>
              </a:rPr>
              <a:t>Vue</a:t>
            </a:r>
            <a:r>
              <a:rPr lang="sk-SK" sz="2000" b="1" dirty="0">
                <a:solidFill>
                  <a:schemeClr val="tx1"/>
                </a:solidFill>
                <a:hlinkClick r:id="rId4"/>
              </a:rPr>
              <a:t> </a:t>
            </a:r>
            <a:r>
              <a:rPr lang="en-US" sz="2000" b="1" dirty="0">
                <a:solidFill>
                  <a:schemeClr val="tx1"/>
                </a:solidFill>
                <a:hlinkClick r:id="rId4"/>
              </a:rPr>
              <a:t>Official</a:t>
            </a:r>
            <a:endParaRPr lang="sk-SK" sz="2000" b="1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sk-SK" sz="2000" b="1" dirty="0">
                <a:solidFill>
                  <a:schemeClr val="tx1"/>
                </a:solidFill>
              </a:rPr>
              <a:t>Nainštalujte </a:t>
            </a:r>
            <a:r>
              <a:rPr lang="sk-SK" sz="2000" b="1" dirty="0">
                <a:solidFill>
                  <a:schemeClr val="tx1"/>
                </a:solidFill>
                <a:hlinkClick r:id="rId5"/>
              </a:rPr>
              <a:t>Node.js </a:t>
            </a:r>
            <a:r>
              <a:rPr lang="en-US" sz="2000" b="1" dirty="0">
                <a:solidFill>
                  <a:schemeClr val="tx1"/>
                </a:solidFill>
              </a:rPr>
              <a:t>(LTS </a:t>
            </a:r>
            <a:r>
              <a:rPr lang="en-US" sz="2000" b="1" dirty="0" err="1">
                <a:solidFill>
                  <a:schemeClr val="tx1"/>
                </a:solidFill>
              </a:rPr>
              <a:t>verziu</a:t>
            </a:r>
            <a:r>
              <a:rPr lang="en-US" sz="2000" b="1" dirty="0">
                <a:solidFill>
                  <a:schemeClr val="tx1"/>
                </a:solidFill>
              </a:rPr>
              <a:t>) </a:t>
            </a:r>
            <a:r>
              <a:rPr lang="en-US" sz="2000" b="1" dirty="0">
                <a:solidFill>
                  <a:srgbClr val="00B0F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</a:t>
            </a:r>
            <a:endParaRPr lang="en-US" sz="2000" b="1" dirty="0">
              <a:solidFill>
                <a:srgbClr val="00B0F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sk-SK" sz="2000" b="1" dirty="0">
                <a:solidFill>
                  <a:schemeClr val="tx1"/>
                </a:solidFill>
              </a:rPr>
              <a:t>Vytvorte </a:t>
            </a:r>
            <a:r>
              <a:rPr lang="en-US" sz="2000" b="1" dirty="0">
                <a:solidFill>
                  <a:schemeClr val="tx1"/>
                </a:solidFill>
                <a:hlinkClick r:id="rId7"/>
              </a:rPr>
              <a:t>Vue</a:t>
            </a:r>
            <a:r>
              <a:rPr lang="sk-SK" sz="2000" b="1" dirty="0">
                <a:solidFill>
                  <a:schemeClr val="tx1"/>
                </a:solidFill>
                <a:hlinkClick r:id="rId7"/>
              </a:rPr>
              <a:t> projekt</a:t>
            </a:r>
            <a:r>
              <a:rPr lang="sk-SK" sz="2000" b="1" dirty="0">
                <a:solidFill>
                  <a:schemeClr val="tx1"/>
                </a:solidFill>
              </a:rPr>
              <a:t>,</a:t>
            </a:r>
          </a:p>
          <a:p>
            <a:pPr marL="0" indent="0">
              <a:buNone/>
            </a:pPr>
            <a:r>
              <a:rPr lang="sk-SK" sz="2000" b="1" dirty="0">
                <a:solidFill>
                  <a:schemeClr val="tx1"/>
                </a:solidFill>
              </a:rPr>
              <a:t>Postup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vo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u="sng" dirty="0">
                <a:solidFill>
                  <a:schemeClr val="tx1"/>
                </a:solidFill>
              </a:rPr>
              <a:t>VS</a:t>
            </a:r>
            <a:r>
              <a:rPr lang="sk-SK" sz="2000" b="1" u="sng" dirty="0">
                <a:solidFill>
                  <a:schemeClr val="tx1"/>
                </a:solidFill>
              </a:rPr>
              <a:t> C</a:t>
            </a:r>
            <a:r>
              <a:rPr lang="en-US" sz="2000" b="1" u="sng" dirty="0">
                <a:solidFill>
                  <a:schemeClr val="tx1"/>
                </a:solidFill>
              </a:rPr>
              <a:t>ode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alebo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inom</a:t>
            </a:r>
            <a:r>
              <a:rPr lang="sk-SK" sz="2000" b="1" dirty="0">
                <a:solidFill>
                  <a:schemeClr val="tx1"/>
                </a:solidFill>
              </a:rPr>
              <a:t> terminál</a:t>
            </a:r>
            <a:r>
              <a:rPr lang="en-US" sz="2000" b="1" dirty="0">
                <a:solidFill>
                  <a:schemeClr val="tx1"/>
                </a:solidFill>
              </a:rPr>
              <a:t>i:</a:t>
            </a:r>
          </a:p>
          <a:p>
            <a:pPr marL="742950" lvl="1" indent="-285750"/>
            <a:r>
              <a:rPr lang="sk-SK" sz="2000" b="1" dirty="0" err="1">
                <a:solidFill>
                  <a:schemeClr val="tx1"/>
                </a:solidFill>
              </a:rPr>
              <a:t>npm</a:t>
            </a:r>
            <a:r>
              <a:rPr lang="sk-SK" sz="2000" b="1" dirty="0">
                <a:solidFill>
                  <a:schemeClr val="tx1"/>
                </a:solidFill>
              </a:rPr>
              <a:t> </a:t>
            </a:r>
            <a:r>
              <a:rPr lang="sk-SK" sz="2000" b="1" dirty="0" err="1">
                <a:solidFill>
                  <a:schemeClr val="tx1"/>
                </a:solidFill>
              </a:rPr>
              <a:t>create</a:t>
            </a:r>
            <a:r>
              <a:rPr lang="sk-SK" sz="2000" b="1" dirty="0">
                <a:solidFill>
                  <a:schemeClr val="tx1"/>
                </a:solidFill>
              </a:rPr>
              <a:t> </a:t>
            </a:r>
            <a:r>
              <a:rPr lang="sk-SK" sz="2000" b="1" dirty="0" err="1">
                <a:solidFill>
                  <a:schemeClr val="tx1"/>
                </a:solidFill>
              </a:rPr>
              <a:t>vue@latest</a:t>
            </a:r>
            <a:r>
              <a:rPr lang="en-US" sz="2000" b="1" dirty="0">
                <a:solidFill>
                  <a:schemeClr val="tx1"/>
                </a:solidFill>
              </a:rPr>
              <a:t> (v</a:t>
            </a:r>
            <a:r>
              <a:rPr lang="sk-SK" sz="2000" b="1" dirty="0" err="1">
                <a:solidFill>
                  <a:schemeClr val="tx1"/>
                </a:solidFill>
              </a:rPr>
              <a:t>šade</a:t>
            </a:r>
            <a:r>
              <a:rPr lang="sk-SK" sz="2000" b="1" dirty="0">
                <a:solidFill>
                  <a:schemeClr val="tx1"/>
                </a:solidFill>
              </a:rPr>
              <a:t> zvoliť</a:t>
            </a:r>
            <a:r>
              <a:rPr lang="en-US" sz="2000" b="1" dirty="0">
                <a:solidFill>
                  <a:schemeClr val="tx1"/>
                </a:solidFill>
              </a:rPr>
              <a:t>:</a:t>
            </a:r>
            <a:r>
              <a:rPr lang="sk-SK" sz="2000" b="1" dirty="0">
                <a:solidFill>
                  <a:schemeClr val="tx1"/>
                </a:solidFill>
              </a:rPr>
              <a:t> </a:t>
            </a:r>
            <a:r>
              <a:rPr lang="sk-SK" sz="2000" b="1" dirty="0">
                <a:solidFill>
                  <a:srgbClr val="00B0F0"/>
                </a:solidFill>
              </a:rPr>
              <a:t>No</a:t>
            </a:r>
            <a:r>
              <a:rPr lang="en-US" sz="2000" b="1" dirty="0">
                <a:solidFill>
                  <a:srgbClr val="00B0F0"/>
                </a:solidFill>
              </a:rPr>
              <a:t>, 3x ENTER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</a:p>
          <a:p>
            <a:pPr marL="742950" lvl="1" indent="-285750"/>
            <a:r>
              <a:rPr lang="en-US" sz="2000" b="1" dirty="0">
                <a:solidFill>
                  <a:schemeClr val="tx1"/>
                </a:solidFill>
              </a:rPr>
              <a:t>cd &lt;</a:t>
            </a:r>
            <a:r>
              <a:rPr lang="en-US" sz="2000" b="1" dirty="0" err="1">
                <a:solidFill>
                  <a:schemeClr val="tx1"/>
                </a:solidFill>
              </a:rPr>
              <a:t>meno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projektu</a:t>
            </a:r>
            <a:r>
              <a:rPr lang="en-US" sz="2000" b="1" dirty="0">
                <a:solidFill>
                  <a:schemeClr val="tx1"/>
                </a:solidFill>
              </a:rPr>
              <a:t>&gt;</a:t>
            </a:r>
          </a:p>
          <a:p>
            <a:pPr marL="742950" lvl="1" indent="-285750"/>
            <a:r>
              <a:rPr lang="en-US" sz="2000" b="1" dirty="0" err="1">
                <a:solidFill>
                  <a:schemeClr val="tx1"/>
                </a:solidFill>
              </a:rPr>
              <a:t>npm</a:t>
            </a:r>
            <a:r>
              <a:rPr lang="en-US" sz="2000" b="1" dirty="0">
                <a:solidFill>
                  <a:schemeClr val="tx1"/>
                </a:solidFill>
              </a:rPr>
              <a:t> install</a:t>
            </a:r>
          </a:p>
          <a:p>
            <a:pPr marL="742950" lvl="1" indent="-285750"/>
            <a:r>
              <a:rPr lang="en-US" sz="2000" b="1" dirty="0" err="1">
                <a:solidFill>
                  <a:schemeClr val="tx1"/>
                </a:solidFill>
              </a:rPr>
              <a:t>npm</a:t>
            </a:r>
            <a:r>
              <a:rPr lang="en-US" sz="2000" b="1" dirty="0">
                <a:solidFill>
                  <a:schemeClr val="tx1"/>
                </a:solidFill>
              </a:rPr>
              <a:t> run dev (</a:t>
            </a:r>
            <a:r>
              <a:rPr lang="en-US" sz="2000" b="1" dirty="0" err="1">
                <a:solidFill>
                  <a:schemeClr val="tx1"/>
                </a:solidFill>
              </a:rPr>
              <a:t>spustenie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lok</a:t>
            </a:r>
            <a:r>
              <a:rPr lang="sk-SK" sz="2000" b="1" dirty="0" err="1">
                <a:solidFill>
                  <a:schemeClr val="tx1"/>
                </a:solidFill>
              </a:rPr>
              <a:t>álneho</a:t>
            </a:r>
            <a:r>
              <a:rPr lang="sk-SK" sz="2000" b="1" dirty="0">
                <a:solidFill>
                  <a:schemeClr val="tx1"/>
                </a:solidFill>
              </a:rPr>
              <a:t> servera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br>
              <a:rPr lang="sk-SK" sz="2000" b="1" dirty="0">
                <a:solidFill>
                  <a:schemeClr val="tx1"/>
                </a:solidFill>
              </a:rPr>
            </a:br>
            <a:endParaRPr lang="sk-SK" sz="2000" b="1" dirty="0">
              <a:solidFill>
                <a:schemeClr val="tx1"/>
              </a:solidFill>
            </a:endParaRPr>
          </a:p>
          <a:p>
            <a:pPr marL="742950" lvl="1" indent="-285750"/>
            <a:endParaRPr lang="sk-SK" sz="2000" b="1" dirty="0">
              <a:solidFill>
                <a:schemeClr val="tx1"/>
              </a:solidFill>
            </a:endParaRPr>
          </a:p>
          <a:p>
            <a:pPr marL="742950" lvl="1" indent="-285750"/>
            <a:r>
              <a:rPr lang="sk-SK" sz="1800" b="1" dirty="0">
                <a:solidFill>
                  <a:schemeClr val="tx1"/>
                </a:solidFill>
              </a:rPr>
              <a:t>Vypisuje chybu s </a:t>
            </a:r>
            <a:r>
              <a:rPr lang="sk-SK" sz="1800" b="1" dirty="0" err="1">
                <a:solidFill>
                  <a:schemeClr val="tx1"/>
                </a:solidFill>
                <a:latin typeface="Montserrat Medium" panose="00000600000000000000" pitchFamily="2" charset="-18"/>
              </a:rPr>
              <a:t>execution</a:t>
            </a:r>
            <a:r>
              <a:rPr lang="sk-SK" sz="1800" b="1" dirty="0">
                <a:solidFill>
                  <a:schemeClr val="tx1"/>
                </a:solidFill>
                <a:latin typeface="Montserrat Medium" panose="00000600000000000000" pitchFamily="2" charset="-18"/>
              </a:rPr>
              <a:t> </a:t>
            </a:r>
            <a:r>
              <a:rPr lang="sk-SK" sz="1800" b="1" dirty="0" err="1">
                <a:solidFill>
                  <a:schemeClr val="tx1"/>
                </a:solidFill>
                <a:latin typeface="Montserrat Medium" panose="00000600000000000000" pitchFamily="2" charset="-18"/>
              </a:rPr>
              <a:t>policy</a:t>
            </a:r>
            <a:r>
              <a:rPr lang="sk-SK" sz="1800" b="1" dirty="0">
                <a:solidFill>
                  <a:schemeClr val="tx1"/>
                </a:solidFill>
              </a:rPr>
              <a:t>? Pošli toto do terminálu:</a:t>
            </a:r>
          </a:p>
          <a:p>
            <a:pPr marL="742950" lvl="1" indent="-285750"/>
            <a:r>
              <a:rPr lang="en-US" sz="1600" i="1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Set-</a:t>
            </a:r>
            <a:r>
              <a:rPr lang="en-US" sz="1600" i="1" dirty="0" err="1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ExecutionPolicy</a:t>
            </a:r>
            <a:r>
              <a:rPr lang="en-US" sz="1600" i="1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 -Scope </a:t>
            </a:r>
            <a:r>
              <a:rPr lang="en-US" sz="1600" i="1" dirty="0" err="1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CurrentUser</a:t>
            </a:r>
            <a:r>
              <a:rPr lang="en-US" sz="1600" i="1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 -</a:t>
            </a:r>
            <a:r>
              <a:rPr lang="en-US" sz="1600" i="1" dirty="0" err="1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ExecutionPolicy</a:t>
            </a:r>
            <a:r>
              <a:rPr lang="en-US" sz="1600" i="1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sz="1600" i="1" dirty="0" err="1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RemoteSigned</a:t>
            </a:r>
            <a:endParaRPr lang="en-US" sz="2000" b="1" i="1" dirty="0">
              <a:solidFill>
                <a:schemeClr val="tx1"/>
              </a:solidFill>
            </a:endParaRPr>
          </a:p>
        </p:txBody>
      </p:sp>
      <p:sp>
        <p:nvSpPr>
          <p:cNvPr id="241" name="Google Shape;241;p33"/>
          <p:cNvSpPr txBox="1">
            <a:spLocks noGrp="1"/>
          </p:cNvSpPr>
          <p:nvPr>
            <p:ph type="sldNum" idx="12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200"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</a:t>
            </a:fld>
            <a:endParaRPr sz="1200">
              <a:solidFill>
                <a:srgbClr val="43434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211;p29">
            <a:extLst>
              <a:ext uri="{FF2B5EF4-FFF2-40B4-BE49-F238E27FC236}">
                <a16:creationId xmlns:a16="http://schemas.microsoft.com/office/drawing/2014/main" id="{3FF48BDC-AB5C-47CE-A691-F744DD77CB08}"/>
              </a:ext>
            </a:extLst>
          </p:cNvPr>
          <p:cNvSpPr txBox="1">
            <a:spLocks/>
          </p:cNvSpPr>
          <p:nvPr/>
        </p:nvSpPr>
        <p:spPr>
          <a:xfrm>
            <a:off x="239699" y="358143"/>
            <a:ext cx="8608935" cy="94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Inštalácia </a:t>
            </a:r>
            <a:r>
              <a:rPr lang="sk-SK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Vue</a:t>
            </a:r>
            <a:endParaRPr lang="sk-SK" sz="40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2886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>
            <a:spLocks noGrp="1"/>
          </p:cNvSpPr>
          <p:nvPr>
            <p:ph type="body" idx="1"/>
          </p:nvPr>
        </p:nvSpPr>
        <p:spPr>
          <a:xfrm>
            <a:off x="986319" y="1257299"/>
            <a:ext cx="8157681" cy="3834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chemeClr val="tx1"/>
                </a:solidFill>
                <a:latin typeface="Montserrat Medium" panose="00000600000000000000" pitchFamily="2" charset="-18"/>
              </a:rPr>
              <a:t>Vymaza</a:t>
            </a:r>
            <a:r>
              <a:rPr lang="sk-SK" sz="2000" b="1" dirty="0">
                <a:solidFill>
                  <a:schemeClr val="tx1"/>
                </a:solidFill>
                <a:latin typeface="Montserrat Medium" panose="00000600000000000000" pitchFamily="2" charset="-18"/>
              </a:rPr>
              <a:t>ť</a:t>
            </a:r>
            <a:r>
              <a:rPr lang="en-US" sz="2000" b="1" dirty="0">
                <a:solidFill>
                  <a:schemeClr val="tx1"/>
                </a:solidFill>
                <a:latin typeface="Montserrat Medium" panose="00000600000000000000" pitchFamily="2" charset="-18"/>
              </a:rPr>
              <a:t>:  </a:t>
            </a:r>
          </a:p>
          <a:p>
            <a:pPr marL="342900" indent="-342900"/>
            <a:r>
              <a:rPr lang="en-US" sz="2000" b="1" dirty="0">
                <a:solidFill>
                  <a:schemeClr val="tx1"/>
                </a:solidFill>
              </a:rPr>
              <a:t>Components</a:t>
            </a:r>
            <a:r>
              <a:rPr lang="sk-SK" sz="2000" b="1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sk-SK" sz="2000" b="1" dirty="0">
                <a:solidFill>
                  <a:schemeClr val="tx1"/>
                </a:solidFill>
              </a:rPr>
              <a:t>=</a:t>
            </a:r>
            <a:r>
              <a:rPr lang="en-US" sz="2000" b="1" dirty="0">
                <a:solidFill>
                  <a:schemeClr val="tx1"/>
                </a:solidFill>
              </a:rPr>
              <a:t>&gt;</a:t>
            </a:r>
          </a:p>
          <a:p>
            <a:pPr marL="342900" indent="-342900"/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sk-SK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342900" indent="-342900"/>
            <a:r>
              <a:rPr lang="en-US" sz="2000" b="1" dirty="0">
                <a:solidFill>
                  <a:schemeClr val="tx1"/>
                </a:solidFill>
              </a:rPr>
              <a:t>V </a:t>
            </a:r>
            <a:r>
              <a:rPr lang="en-US" sz="2000" b="1" dirty="0" err="1">
                <a:solidFill>
                  <a:schemeClr val="tx1"/>
                </a:solidFill>
              </a:rPr>
              <a:t>App.vue</a:t>
            </a:r>
            <a:r>
              <a:rPr lang="sk-SK" sz="2000" b="1" dirty="0">
                <a:solidFill>
                  <a:schemeClr val="tx1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  </a:t>
            </a:r>
            <a:r>
              <a:rPr lang="sk-SK" sz="2000" b="1" dirty="0">
                <a:solidFill>
                  <a:schemeClr val="tx1"/>
                </a:solidFill>
              </a:rPr>
              <a:t>=</a:t>
            </a:r>
            <a:r>
              <a:rPr lang="en-US" sz="2000" b="1" dirty="0">
                <a:solidFill>
                  <a:schemeClr val="tx1"/>
                </a:solidFill>
              </a:rPr>
              <a:t>&gt;</a:t>
            </a:r>
          </a:p>
          <a:p>
            <a:pPr marL="342900" indent="-342900"/>
            <a:endParaRPr lang="en-US" sz="2000" b="1" dirty="0">
              <a:solidFill>
                <a:schemeClr val="tx1"/>
              </a:solidFill>
            </a:endParaRPr>
          </a:p>
          <a:p>
            <a:pPr marL="342900" indent="-342900"/>
            <a:endParaRPr lang="en-US" sz="2000" b="1" dirty="0">
              <a:solidFill>
                <a:schemeClr val="tx1"/>
              </a:solidFill>
            </a:endParaRPr>
          </a:p>
          <a:p>
            <a:pPr marL="4000500" lvl="8" indent="-342900"/>
            <a:r>
              <a:rPr lang="en-US" sz="2000" b="1" dirty="0">
                <a:solidFill>
                  <a:schemeClr val="tx1"/>
                </a:solidFill>
              </a:rPr>
              <a:t> 	        </a:t>
            </a:r>
            <a:r>
              <a:rPr lang="sk-SK" sz="2000" b="1" dirty="0">
                <a:solidFill>
                  <a:schemeClr val="tx1"/>
                </a:solidFill>
              </a:rPr>
              <a:t>  </a:t>
            </a:r>
            <a:r>
              <a:rPr lang="en-US" sz="2000" b="1" dirty="0">
                <a:solidFill>
                  <a:schemeClr val="tx1"/>
                </a:solidFill>
              </a:rPr>
              <a:t>=&gt;</a:t>
            </a:r>
            <a:endParaRPr lang="sk-SK" sz="2000" b="1" dirty="0">
              <a:solidFill>
                <a:schemeClr val="tx1"/>
              </a:solidFill>
            </a:endParaRPr>
          </a:p>
        </p:txBody>
      </p:sp>
      <p:sp>
        <p:nvSpPr>
          <p:cNvPr id="241" name="Google Shape;241;p33"/>
          <p:cNvSpPr txBox="1">
            <a:spLocks noGrp="1"/>
          </p:cNvSpPr>
          <p:nvPr>
            <p:ph type="sldNum" idx="12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200">
                <a:solidFill>
                  <a:srgbClr val="43434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</a:t>
            </a:fld>
            <a:endParaRPr sz="1200">
              <a:solidFill>
                <a:srgbClr val="43434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" name="Google Shape;211;p29">
            <a:extLst>
              <a:ext uri="{FF2B5EF4-FFF2-40B4-BE49-F238E27FC236}">
                <a16:creationId xmlns:a16="http://schemas.microsoft.com/office/drawing/2014/main" id="{3FF48BDC-AB5C-47CE-A691-F744DD77CB08}"/>
              </a:ext>
            </a:extLst>
          </p:cNvPr>
          <p:cNvSpPr txBox="1">
            <a:spLocks/>
          </p:cNvSpPr>
          <p:nvPr/>
        </p:nvSpPr>
        <p:spPr>
          <a:xfrm>
            <a:off x="239699" y="372212"/>
            <a:ext cx="8608935" cy="75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Príprava</a:t>
            </a: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FBAA5EAF-DC16-4A2C-950E-B7767EA7E0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8836"/>
          <a:stretch/>
        </p:blipFill>
        <p:spPr>
          <a:xfrm>
            <a:off x="3682954" y="1257299"/>
            <a:ext cx="2101958" cy="1251815"/>
          </a:xfrm>
          <a:prstGeom prst="rect">
            <a:avLst/>
          </a:prstGeom>
        </p:spPr>
      </p:pic>
      <p:sp>
        <p:nvSpPr>
          <p:cNvPr id="8" name="Obdĺžnik 7">
            <a:extLst>
              <a:ext uri="{FF2B5EF4-FFF2-40B4-BE49-F238E27FC236}">
                <a16:creationId xmlns:a16="http://schemas.microsoft.com/office/drawing/2014/main" id="{833269D6-2239-4EF3-95B9-1F3099A0A8BE}"/>
              </a:ext>
            </a:extLst>
          </p:cNvPr>
          <p:cNvSpPr/>
          <p:nvPr/>
        </p:nvSpPr>
        <p:spPr>
          <a:xfrm>
            <a:off x="3682954" y="1735429"/>
            <a:ext cx="2101958" cy="25430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5F6C418E-128F-4E74-BDDC-DA2BAF42C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288" y="3082589"/>
            <a:ext cx="2425825" cy="1519626"/>
          </a:xfrm>
          <a:prstGeom prst="rect">
            <a:avLst/>
          </a:prstGeom>
        </p:spPr>
      </p:pic>
      <p:pic>
        <p:nvPicPr>
          <p:cNvPr id="4" name="Obrázok 3">
            <a:extLst>
              <a:ext uri="{FF2B5EF4-FFF2-40B4-BE49-F238E27FC236}">
                <a16:creationId xmlns:a16="http://schemas.microsoft.com/office/drawing/2014/main" id="{31F18747-C677-4B97-8804-2BF6A87FA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6323" y="2634387"/>
            <a:ext cx="2977679" cy="169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7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12;p29">
            <a:extLst>
              <a:ext uri="{FF2B5EF4-FFF2-40B4-BE49-F238E27FC236}">
                <a16:creationId xmlns:a16="http://schemas.microsoft.com/office/drawing/2014/main" id="{E9AB522A-F7D5-4239-BDA0-266CC0A6240B}"/>
              </a:ext>
            </a:extLst>
          </p:cNvPr>
          <p:cNvSpPr txBox="1">
            <a:spLocks/>
          </p:cNvSpPr>
          <p:nvPr/>
        </p:nvSpPr>
        <p:spPr>
          <a:xfrm>
            <a:off x="245607" y="1001016"/>
            <a:ext cx="8121455" cy="2859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základná súčasť komponentu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definuje štruktúru a rozloženie</a:t>
            </a:r>
          </a:p>
        </p:txBody>
      </p:sp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0" y="271460"/>
            <a:ext cx="7325360" cy="846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44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Template</a:t>
            </a:r>
            <a:endParaRPr sz="44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4294967295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/>
              <a:t>4</a:t>
            </a:fld>
            <a:endParaRPr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D3E24AEF-BDCF-4DDC-B9CB-02E3906D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420" y="281188"/>
            <a:ext cx="1165514" cy="1165514"/>
          </a:xfrm>
          <a:prstGeom prst="rect">
            <a:avLst/>
          </a:prstGeom>
        </p:spPr>
      </p:pic>
      <p:pic>
        <p:nvPicPr>
          <p:cNvPr id="3" name="Obrázok 2">
            <a:extLst>
              <a:ext uri="{FF2B5EF4-FFF2-40B4-BE49-F238E27FC236}">
                <a16:creationId xmlns:a16="http://schemas.microsoft.com/office/drawing/2014/main" id="{A74B61EF-7EB5-4783-840A-44717E9E2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59" y="2161275"/>
            <a:ext cx="2273251" cy="1111226"/>
          </a:xfrm>
          <a:prstGeom prst="rect">
            <a:avLst/>
          </a:prstGeom>
        </p:spPr>
      </p:pic>
      <p:sp>
        <p:nvSpPr>
          <p:cNvPr id="13" name="Google Shape;212;p29">
            <a:extLst>
              <a:ext uri="{FF2B5EF4-FFF2-40B4-BE49-F238E27FC236}">
                <a16:creationId xmlns:a16="http://schemas.microsoft.com/office/drawing/2014/main" id="{14022A5A-975A-4912-94F7-E5CECF213CE7}"/>
              </a:ext>
            </a:extLst>
          </p:cNvPr>
          <p:cNvSpPr txBox="1">
            <a:spLocks/>
          </p:cNvSpPr>
          <p:nvPr/>
        </p:nvSpPr>
        <p:spPr>
          <a:xfrm>
            <a:off x="940051" y="2094763"/>
            <a:ext cx="1771252" cy="54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 algn="l"/>
            <a:r>
              <a:rPr lang="sk-SK" sz="2000" b="1" dirty="0" err="1">
                <a:latin typeface="Montserrat Medium" panose="00000600000000000000" pitchFamily="2" charset="-18"/>
              </a:rPr>
              <a:t>App.vue</a:t>
            </a:r>
            <a:endParaRPr lang="sk-SK" sz="2000" b="1" dirty="0">
              <a:latin typeface="Montserrat Medium" panose="00000600000000000000" pitchFamily="2" charset="-18"/>
            </a:endParaRPr>
          </a:p>
        </p:txBody>
      </p:sp>
      <p:pic>
        <p:nvPicPr>
          <p:cNvPr id="19" name="Obrázok 18">
            <a:extLst>
              <a:ext uri="{FF2B5EF4-FFF2-40B4-BE49-F238E27FC236}">
                <a16:creationId xmlns:a16="http://schemas.microsoft.com/office/drawing/2014/main" id="{A5DB60E6-292B-453F-AB0D-553BBEFE5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113757" flipV="1">
            <a:off x="4604934" y="2208046"/>
            <a:ext cx="583197" cy="528769"/>
          </a:xfrm>
          <a:prstGeom prst="rect">
            <a:avLst/>
          </a:prstGeom>
          <a:effectLst>
            <a:glow rad="139700">
              <a:srgbClr val="92D050">
                <a:alpha val="40000"/>
              </a:srgbClr>
            </a:glow>
          </a:effectLst>
        </p:spPr>
      </p:pic>
      <p:sp>
        <p:nvSpPr>
          <p:cNvPr id="20" name="Google Shape;212;p29">
            <a:extLst>
              <a:ext uri="{FF2B5EF4-FFF2-40B4-BE49-F238E27FC236}">
                <a16:creationId xmlns:a16="http://schemas.microsoft.com/office/drawing/2014/main" id="{E1273370-806A-4422-AA3C-5ECAE5011BA3}"/>
              </a:ext>
            </a:extLst>
          </p:cNvPr>
          <p:cNvSpPr txBox="1">
            <a:spLocks/>
          </p:cNvSpPr>
          <p:nvPr/>
        </p:nvSpPr>
        <p:spPr>
          <a:xfrm>
            <a:off x="5010335" y="1852497"/>
            <a:ext cx="1854998" cy="54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 algn="l"/>
            <a:r>
              <a:rPr lang="sk-SK" sz="2000" b="1" dirty="0">
                <a:latin typeface="Montserrat Medium" panose="00000600000000000000" pitchFamily="2" charset="-18"/>
              </a:rPr>
              <a:t>Komponent</a:t>
            </a:r>
          </a:p>
        </p:txBody>
      </p:sp>
    </p:spTree>
    <p:extLst>
      <p:ext uri="{BB962C8B-B14F-4D97-AF65-F5344CB8AC3E}">
        <p14:creationId xmlns:p14="http://schemas.microsoft.com/office/powerpoint/2010/main" val="1896878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12;p29">
            <a:extLst>
              <a:ext uri="{FF2B5EF4-FFF2-40B4-BE49-F238E27FC236}">
                <a16:creationId xmlns:a16="http://schemas.microsoft.com/office/drawing/2014/main" id="{5EFF48C3-88FE-4780-BFCD-CACB4ABFC00D}"/>
              </a:ext>
            </a:extLst>
          </p:cNvPr>
          <p:cNvSpPr txBox="1">
            <a:spLocks/>
          </p:cNvSpPr>
          <p:nvPr/>
        </p:nvSpPr>
        <p:spPr>
          <a:xfrm>
            <a:off x="245607" y="1001016"/>
            <a:ext cx="8121455" cy="768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základná súčasť komponentu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definuje štruktúru a rozloženie</a:t>
            </a:r>
          </a:p>
        </p:txBody>
      </p:sp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0" y="271460"/>
            <a:ext cx="7325360" cy="846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44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Template</a:t>
            </a:r>
            <a:endParaRPr sz="44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4294967295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/>
              <a:t>5</a:t>
            </a:fld>
            <a:endParaRPr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D3E24AEF-BDCF-4DDC-B9CB-02E3906D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420" y="281188"/>
            <a:ext cx="1165514" cy="1165514"/>
          </a:xfrm>
          <a:prstGeom prst="rect">
            <a:avLst/>
          </a:prstGeom>
        </p:spPr>
      </p:pic>
      <p:pic>
        <p:nvPicPr>
          <p:cNvPr id="3" name="Obrázok 2">
            <a:extLst>
              <a:ext uri="{FF2B5EF4-FFF2-40B4-BE49-F238E27FC236}">
                <a16:creationId xmlns:a16="http://schemas.microsoft.com/office/drawing/2014/main" id="{A74B61EF-7EB5-4783-840A-44717E9E2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59" y="2161275"/>
            <a:ext cx="2273251" cy="1111226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42403B53-A82A-4066-B83D-68A8EA03A9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76" y="3944008"/>
            <a:ext cx="2476627" cy="844593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F858C392-9B18-42F2-A807-2E2E96663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9854" y="3944008"/>
            <a:ext cx="4095961" cy="1016052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0A47C2CB-B578-40C0-AB69-1B15A5E83C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4629169" flipV="1">
            <a:off x="1441000" y="3185735"/>
            <a:ext cx="717988" cy="650980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C41BDD41-7AC4-4D5C-97C0-85DE3D1ED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871956" flipV="1">
            <a:off x="2988917" y="4194039"/>
            <a:ext cx="863282" cy="782714"/>
          </a:xfrm>
          <a:prstGeom prst="rect">
            <a:avLst/>
          </a:prstGeom>
        </p:spPr>
      </p:pic>
      <p:sp>
        <p:nvSpPr>
          <p:cNvPr id="11" name="Obdĺžnik 10">
            <a:extLst>
              <a:ext uri="{FF2B5EF4-FFF2-40B4-BE49-F238E27FC236}">
                <a16:creationId xmlns:a16="http://schemas.microsoft.com/office/drawing/2014/main" id="{1F1195E6-484A-457C-956A-44083F2E200B}"/>
              </a:ext>
            </a:extLst>
          </p:cNvPr>
          <p:cNvSpPr/>
          <p:nvPr/>
        </p:nvSpPr>
        <p:spPr>
          <a:xfrm>
            <a:off x="1756529" y="4515173"/>
            <a:ext cx="620954" cy="201478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2" name="Obdĺžnik 11">
            <a:extLst>
              <a:ext uri="{FF2B5EF4-FFF2-40B4-BE49-F238E27FC236}">
                <a16:creationId xmlns:a16="http://schemas.microsoft.com/office/drawing/2014/main" id="{FC4FA93A-3291-40E6-A6DC-6D8D18846308}"/>
              </a:ext>
            </a:extLst>
          </p:cNvPr>
          <p:cNvSpPr/>
          <p:nvPr/>
        </p:nvSpPr>
        <p:spPr>
          <a:xfrm>
            <a:off x="4593741" y="4127149"/>
            <a:ext cx="644686" cy="18138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Google Shape;212;p29">
            <a:extLst>
              <a:ext uri="{FF2B5EF4-FFF2-40B4-BE49-F238E27FC236}">
                <a16:creationId xmlns:a16="http://schemas.microsoft.com/office/drawing/2014/main" id="{14022A5A-975A-4912-94F7-E5CECF213CE7}"/>
              </a:ext>
            </a:extLst>
          </p:cNvPr>
          <p:cNvSpPr txBox="1">
            <a:spLocks/>
          </p:cNvSpPr>
          <p:nvPr/>
        </p:nvSpPr>
        <p:spPr>
          <a:xfrm>
            <a:off x="940051" y="2094763"/>
            <a:ext cx="1771252" cy="54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 algn="l"/>
            <a:r>
              <a:rPr lang="sk-SK" sz="2000" b="1" dirty="0" err="1">
                <a:latin typeface="Montserrat Medium" panose="00000600000000000000" pitchFamily="2" charset="-18"/>
              </a:rPr>
              <a:t>App.vue</a:t>
            </a:r>
            <a:endParaRPr lang="sk-SK" sz="2000" b="1" dirty="0">
              <a:latin typeface="Montserrat Medium" panose="00000600000000000000" pitchFamily="2" charset="-18"/>
            </a:endParaRPr>
          </a:p>
        </p:txBody>
      </p:sp>
      <p:sp>
        <p:nvSpPr>
          <p:cNvPr id="16" name="Google Shape;212;p29">
            <a:extLst>
              <a:ext uri="{FF2B5EF4-FFF2-40B4-BE49-F238E27FC236}">
                <a16:creationId xmlns:a16="http://schemas.microsoft.com/office/drawing/2014/main" id="{89C2B570-FAB2-4939-9789-D01352491C77}"/>
              </a:ext>
            </a:extLst>
          </p:cNvPr>
          <p:cNvSpPr txBox="1">
            <a:spLocks/>
          </p:cNvSpPr>
          <p:nvPr/>
        </p:nvSpPr>
        <p:spPr>
          <a:xfrm>
            <a:off x="234676" y="3463086"/>
            <a:ext cx="1771252" cy="54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 algn="l"/>
            <a:r>
              <a:rPr lang="sk-SK" sz="2000" b="1" dirty="0">
                <a:latin typeface="Montserrat Medium" panose="00000600000000000000" pitchFamily="2" charset="-18"/>
              </a:rPr>
              <a:t>main.js</a:t>
            </a:r>
          </a:p>
        </p:txBody>
      </p:sp>
      <p:sp>
        <p:nvSpPr>
          <p:cNvPr id="17" name="Google Shape;212;p29">
            <a:extLst>
              <a:ext uri="{FF2B5EF4-FFF2-40B4-BE49-F238E27FC236}">
                <a16:creationId xmlns:a16="http://schemas.microsoft.com/office/drawing/2014/main" id="{D801461D-E7E6-474D-8EE1-B3C5650C7C13}"/>
              </a:ext>
            </a:extLst>
          </p:cNvPr>
          <p:cNvSpPr txBox="1">
            <a:spLocks/>
          </p:cNvSpPr>
          <p:nvPr/>
        </p:nvSpPr>
        <p:spPr>
          <a:xfrm>
            <a:off x="4572000" y="3511225"/>
            <a:ext cx="1771252" cy="54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 algn="l"/>
            <a:r>
              <a:rPr lang="sk-SK" sz="2000" b="1" dirty="0">
                <a:latin typeface="Montserrat Medium" panose="00000600000000000000" pitchFamily="2" charset="-18"/>
              </a:rPr>
              <a:t>index.html</a:t>
            </a:r>
          </a:p>
        </p:txBody>
      </p:sp>
      <p:pic>
        <p:nvPicPr>
          <p:cNvPr id="19" name="Obrázok 18">
            <a:extLst>
              <a:ext uri="{FF2B5EF4-FFF2-40B4-BE49-F238E27FC236}">
                <a16:creationId xmlns:a16="http://schemas.microsoft.com/office/drawing/2014/main" id="{D70EAC60-EBCD-435F-8711-42EB707D5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113757" flipV="1">
            <a:off x="4604934" y="2208046"/>
            <a:ext cx="583197" cy="528769"/>
          </a:xfrm>
          <a:prstGeom prst="rect">
            <a:avLst/>
          </a:prstGeom>
          <a:effectLst>
            <a:glow rad="139700">
              <a:srgbClr val="92D050">
                <a:alpha val="40000"/>
              </a:srgbClr>
            </a:glow>
          </a:effectLst>
        </p:spPr>
      </p:pic>
      <p:sp>
        <p:nvSpPr>
          <p:cNvPr id="20" name="Google Shape;212;p29">
            <a:extLst>
              <a:ext uri="{FF2B5EF4-FFF2-40B4-BE49-F238E27FC236}">
                <a16:creationId xmlns:a16="http://schemas.microsoft.com/office/drawing/2014/main" id="{FB869B90-FD41-42B9-87C8-D8C344CB6235}"/>
              </a:ext>
            </a:extLst>
          </p:cNvPr>
          <p:cNvSpPr txBox="1">
            <a:spLocks/>
          </p:cNvSpPr>
          <p:nvPr/>
        </p:nvSpPr>
        <p:spPr>
          <a:xfrm>
            <a:off x="5010335" y="1852497"/>
            <a:ext cx="1854998" cy="54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4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 algn="l"/>
            <a:r>
              <a:rPr lang="sk-SK" sz="2000" b="1" dirty="0">
                <a:latin typeface="Montserrat Medium" panose="00000600000000000000" pitchFamily="2" charset="-18"/>
              </a:rPr>
              <a:t>Komponent</a:t>
            </a:r>
          </a:p>
        </p:txBody>
      </p:sp>
    </p:spTree>
    <p:extLst>
      <p:ext uri="{BB962C8B-B14F-4D97-AF65-F5344CB8AC3E}">
        <p14:creationId xmlns:p14="http://schemas.microsoft.com/office/powerpoint/2010/main" val="322303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4" y="-87549"/>
            <a:ext cx="4049766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380643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Template</a:t>
            </a:r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syntax</a:t>
            </a: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6</a:t>
            </a:fld>
            <a:endParaRPr lang="es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335187" y="675843"/>
            <a:ext cx="4049767" cy="43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sk-S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showMessage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sk-S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 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Go to Google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sk-SK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Shorthand</a:t>
            </a:r>
            <a:r>
              <a:rPr lang="sk-SK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--&gt;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imageUrl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sk-S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Logo"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sk-S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User!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sk-SK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Please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log in to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continue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3559" y="4604402"/>
            <a:ext cx="380999" cy="38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4" y="-87549"/>
            <a:ext cx="4049766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380643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600" b="1" dirty="0"/>
              <a:t>Text </a:t>
            </a:r>
            <a:r>
              <a:rPr lang="sk-SK" sz="3600" b="1" dirty="0" err="1"/>
              <a:t>Interpolation</a:t>
            </a:r>
            <a:endParaRPr lang="sk-SK" sz="36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7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941" y="2097176"/>
            <a:ext cx="5145059" cy="20424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"</a:t>
            </a:r>
            <a:r>
              <a:rPr lang="sk-SK" sz="2000" b="1" dirty="0" err="1"/>
              <a:t>Mustache</a:t>
            </a:r>
            <a:r>
              <a:rPr lang="sk-SK" sz="2000" b="1" dirty="0"/>
              <a:t>" syntax (</a:t>
            </a:r>
            <a:r>
              <a:rPr lang="sk-SK" sz="2000" b="1" dirty="0" err="1"/>
              <a:t>double</a:t>
            </a:r>
            <a:r>
              <a:rPr lang="sk-SK" sz="2000" b="1" dirty="0"/>
              <a:t> </a:t>
            </a:r>
            <a:r>
              <a:rPr lang="sk-SK" sz="2000" b="1" dirty="0" err="1"/>
              <a:t>curly</a:t>
            </a:r>
            <a:r>
              <a:rPr lang="sk-SK" sz="2000" b="1" dirty="0"/>
              <a:t> </a:t>
            </a:r>
            <a:r>
              <a:rPr lang="sk-SK" sz="2000" b="1" dirty="0" err="1"/>
              <a:t>braces</a:t>
            </a:r>
            <a:r>
              <a:rPr lang="sk-SK" sz="2000" b="1" dirty="0"/>
              <a:t>)</a:t>
            </a:r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335187" y="675843"/>
            <a:ext cx="4049767" cy="43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algn="l"/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3559" y="2590122"/>
            <a:ext cx="380999" cy="380999"/>
          </a:xfrm>
          <a:prstGeom prst="rect">
            <a:avLst/>
          </a:prstGeom>
        </p:spPr>
      </p:pic>
      <p:sp>
        <p:nvSpPr>
          <p:cNvPr id="14" name="Obdĺžnik 13">
            <a:extLst>
              <a:ext uri="{FF2B5EF4-FFF2-40B4-BE49-F238E27FC236}">
                <a16:creationId xmlns:a16="http://schemas.microsoft.com/office/drawing/2014/main" id="{1E716CB5-BC85-4BC0-971D-BE5C36C6C661}"/>
              </a:ext>
            </a:extLst>
          </p:cNvPr>
          <p:cNvSpPr/>
          <p:nvPr/>
        </p:nvSpPr>
        <p:spPr>
          <a:xfrm>
            <a:off x="476591" y="933450"/>
            <a:ext cx="1306967" cy="2159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7" name="Obdĺžnik 16">
            <a:extLst>
              <a:ext uri="{FF2B5EF4-FFF2-40B4-BE49-F238E27FC236}">
                <a16:creationId xmlns:a16="http://schemas.microsoft.com/office/drawing/2014/main" id="{F4796F2C-0F33-4C2D-AD5C-9CA8AD9725FF}"/>
              </a:ext>
            </a:extLst>
          </p:cNvPr>
          <p:cNvSpPr/>
          <p:nvPr/>
        </p:nvSpPr>
        <p:spPr>
          <a:xfrm>
            <a:off x="1974058" y="1316913"/>
            <a:ext cx="972342" cy="2159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E32B8357-2498-471E-89D2-3ADE1BD8DDCE}"/>
              </a:ext>
            </a:extLst>
          </p:cNvPr>
          <p:cNvSpPr/>
          <p:nvPr/>
        </p:nvSpPr>
        <p:spPr>
          <a:xfrm>
            <a:off x="1464067" y="2206659"/>
            <a:ext cx="821648" cy="21590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51479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4" y="-87549"/>
            <a:ext cx="4049766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380643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200" dirty="0"/>
              <a:t>JavaScript </a:t>
            </a:r>
            <a:r>
              <a:rPr lang="sk-SK" sz="3200" dirty="0" err="1"/>
              <a:t>Expressions</a:t>
            </a:r>
            <a:endParaRPr lang="sk-SK" sz="32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8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941" y="2097177"/>
            <a:ext cx="5145059" cy="1160878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JavaScript</a:t>
            </a:r>
            <a:r>
              <a:rPr lang="sk-SK" sz="2000" b="1" dirty="0"/>
              <a:t> </a:t>
            </a:r>
            <a:r>
              <a:rPr lang="en-US" sz="2000" b="1" dirty="0" err="1"/>
              <a:t>výrazy</a:t>
            </a:r>
            <a:r>
              <a:rPr lang="sk-SK" sz="2000" b="1" dirty="0"/>
              <a:t> je možné</a:t>
            </a:r>
            <a:r>
              <a:rPr lang="en-US" sz="2000" b="1" dirty="0"/>
              <a:t> </a:t>
            </a:r>
            <a:r>
              <a:rPr lang="en-US" sz="2000" b="1" dirty="0" err="1"/>
              <a:t>použiť</a:t>
            </a:r>
            <a:r>
              <a:rPr lang="en-US" sz="2000" b="1" dirty="0"/>
              <a:t> </a:t>
            </a:r>
            <a:r>
              <a:rPr lang="sk-SK" sz="2000" b="1" dirty="0"/>
              <a:t>vo </a:t>
            </a:r>
            <a:r>
              <a:rPr lang="sk-SK" sz="2000" b="1" dirty="0" err="1"/>
              <a:t>Vue</a:t>
            </a:r>
            <a:r>
              <a:rPr lang="sk-SK" sz="2000" b="1" dirty="0"/>
              <a:t> šablóne</a:t>
            </a:r>
            <a:r>
              <a:rPr lang="en-US" sz="2000" b="1" dirty="0"/>
              <a:t>/template  </a:t>
            </a:r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335187" y="675843"/>
            <a:ext cx="4390577" cy="43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sk-SK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{{</a:t>
            </a:r>
            <a:r>
              <a:rPr lang="sk-SK" dirty="0" err="1">
                <a:solidFill>
                  <a:srgbClr val="9CDCFE"/>
                </a:solidFill>
                <a:latin typeface="Consolas" panose="020B0609020204030204" pitchFamily="49" charset="0"/>
              </a:rPr>
              <a:t>mojstring</a:t>
            </a:r>
            <a:r>
              <a:rPr lang="sk-SK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sk-SK" dirty="0" err="1">
                <a:solidFill>
                  <a:srgbClr val="DCDCAA"/>
                </a:solidFill>
                <a:latin typeface="Consolas" panose="020B0609020204030204" pitchFamily="49" charset="0"/>
              </a:rPr>
              <a:t>split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sk-SK" dirty="0">
                <a:solidFill>
                  <a:srgbClr val="CE9178"/>
                </a:solidFill>
                <a:latin typeface="Consolas" panose="020B0609020204030204" pitchFamily="49" charset="0"/>
              </a:rPr>
              <a:t>''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sk-SK" dirty="0" err="1">
                <a:solidFill>
                  <a:srgbClr val="DCDCAA"/>
                </a:solidFill>
                <a:latin typeface="Consolas" panose="020B0609020204030204" pitchFamily="49" charset="0"/>
              </a:rPr>
              <a:t>reverse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sk-SK" dirty="0" err="1">
                <a:solidFill>
                  <a:srgbClr val="DCDCAA"/>
                </a:solidFill>
                <a:latin typeface="Consolas" panose="020B0609020204030204" pitchFamily="49" charset="0"/>
              </a:rPr>
              <a:t>join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sk-SK" dirty="0">
                <a:solidFill>
                  <a:srgbClr val="CE9178"/>
                </a:solidFill>
                <a:latin typeface="Consolas" panose="020B0609020204030204" pitchFamily="49" charset="0"/>
              </a:rPr>
              <a:t>‘’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}}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sk-SK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sk-SK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sk-SK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{{ </a:t>
            </a:r>
            <a:r>
              <a:rPr lang="sk-SK" dirty="0" err="1">
                <a:solidFill>
                  <a:srgbClr val="9CDCFE"/>
                </a:solidFill>
                <a:latin typeface="Consolas" panose="020B0609020204030204" pitchFamily="49" charset="0"/>
              </a:rPr>
              <a:t>ok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sk-SK" dirty="0">
                <a:solidFill>
                  <a:srgbClr val="D4D4D4"/>
                </a:solidFill>
                <a:latin typeface="Consolas" panose="020B0609020204030204" pitchFamily="49" charset="0"/>
              </a:rPr>
              <a:t>?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sk-SK" dirty="0">
                <a:solidFill>
                  <a:srgbClr val="CE9178"/>
                </a:solidFill>
                <a:latin typeface="Consolas" panose="020B0609020204030204" pitchFamily="49" charset="0"/>
              </a:rPr>
              <a:t>'YES'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sk-SK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sk-SK" dirty="0">
                <a:solidFill>
                  <a:srgbClr val="CE9178"/>
                </a:solidFill>
                <a:latin typeface="Consolas" panose="020B0609020204030204" pitchFamily="49" charset="0"/>
              </a:rPr>
              <a:t>'NO'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 }}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sk-SK" dirty="0">
                <a:solidFill>
                  <a:srgbClr val="569CD6"/>
                </a:solidFill>
                <a:latin typeface="Consolas" panose="020B0609020204030204" pitchFamily="49" charset="0"/>
              </a:rPr>
              <a:t>p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55192" y="2780319"/>
            <a:ext cx="380999" cy="380999"/>
          </a:xfrm>
          <a:prstGeom prst="rect">
            <a:avLst/>
          </a:prstGeom>
        </p:spPr>
      </p:pic>
      <p:sp>
        <p:nvSpPr>
          <p:cNvPr id="14" name="Obdĺžnik 13">
            <a:extLst>
              <a:ext uri="{FF2B5EF4-FFF2-40B4-BE49-F238E27FC236}">
                <a16:creationId xmlns:a16="http://schemas.microsoft.com/office/drawing/2014/main" id="{1E716CB5-BC85-4BC0-971D-BE5C36C6C661}"/>
              </a:ext>
            </a:extLst>
          </p:cNvPr>
          <p:cNvSpPr/>
          <p:nvPr/>
        </p:nvSpPr>
        <p:spPr>
          <a:xfrm>
            <a:off x="207954" y="1475890"/>
            <a:ext cx="3475477" cy="23409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26" name="Obrázok 25">
            <a:extLst>
              <a:ext uri="{FF2B5EF4-FFF2-40B4-BE49-F238E27FC236}">
                <a16:creationId xmlns:a16="http://schemas.microsoft.com/office/drawing/2014/main" id="{E8E0E21C-0200-43F0-9257-3F3EB1899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921" y="3924108"/>
            <a:ext cx="1828409" cy="1200329"/>
          </a:xfrm>
          <a:prstGeom prst="rect">
            <a:avLst/>
          </a:prstGeom>
        </p:spPr>
      </p:pic>
      <p:pic>
        <p:nvPicPr>
          <p:cNvPr id="27" name="Obrázok 26">
            <a:extLst>
              <a:ext uri="{FF2B5EF4-FFF2-40B4-BE49-F238E27FC236}">
                <a16:creationId xmlns:a16="http://schemas.microsoft.com/office/drawing/2014/main" id="{E889AAF8-569D-4014-BD17-DC85DA997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594326" flipV="1">
            <a:off x="4332207" y="4068032"/>
            <a:ext cx="717988" cy="650980"/>
          </a:xfrm>
          <a:prstGeom prst="rect">
            <a:avLst/>
          </a:prstGeom>
        </p:spPr>
      </p:pic>
      <p:sp>
        <p:nvSpPr>
          <p:cNvPr id="30" name="Obdĺžnik 29">
            <a:extLst>
              <a:ext uri="{FF2B5EF4-FFF2-40B4-BE49-F238E27FC236}">
                <a16:creationId xmlns:a16="http://schemas.microsoft.com/office/drawing/2014/main" id="{C0E9E002-341B-4A0E-9E59-FC14AFDBB8A3}"/>
              </a:ext>
            </a:extLst>
          </p:cNvPr>
          <p:cNvSpPr/>
          <p:nvPr/>
        </p:nvSpPr>
        <p:spPr>
          <a:xfrm>
            <a:off x="156358" y="2047488"/>
            <a:ext cx="2628171" cy="23409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7" name="BlokTextu 16">
            <a:extLst>
              <a:ext uri="{FF2B5EF4-FFF2-40B4-BE49-F238E27FC236}">
                <a16:creationId xmlns:a16="http://schemas.microsoft.com/office/drawing/2014/main" id="{9D176172-87F2-4F3A-89DA-E9A94B4452C7}"/>
              </a:ext>
            </a:extLst>
          </p:cNvPr>
          <p:cNvSpPr txBox="1"/>
          <p:nvPr/>
        </p:nvSpPr>
        <p:spPr>
          <a:xfrm>
            <a:off x="-59145" y="4059197"/>
            <a:ext cx="39989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mojstring2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"Da ba dee da ba di"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it-IT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it-IT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it-IT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0547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035" y="-87549"/>
            <a:ext cx="4049766" cy="5267281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380643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600" b="1" dirty="0"/>
              <a:t>Raw HTML</a:t>
            </a:r>
            <a:endParaRPr lang="sk-SK" sz="36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9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941" y="2097176"/>
            <a:ext cx="5145059" cy="20424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"</a:t>
            </a:r>
            <a:r>
              <a:rPr lang="sk-SK" sz="2000" b="1" dirty="0" err="1"/>
              <a:t>Mustache</a:t>
            </a:r>
            <a:r>
              <a:rPr lang="sk-SK" sz="2000" b="1" dirty="0"/>
              <a:t>" syntax</a:t>
            </a:r>
            <a:r>
              <a:rPr lang="en-US" sz="2000" b="1" dirty="0"/>
              <a:t> </a:t>
            </a:r>
            <a:r>
              <a:rPr lang="en-US" sz="2000" b="1" dirty="0" err="1"/>
              <a:t>interpretuje</a:t>
            </a:r>
            <a:r>
              <a:rPr lang="en-US" sz="2000" b="1" dirty="0"/>
              <a:t> </a:t>
            </a:r>
            <a:r>
              <a:rPr lang="en-US" sz="2000" b="1" dirty="0" err="1"/>
              <a:t>údaje</a:t>
            </a:r>
            <a:r>
              <a:rPr lang="en-US" sz="2000" b="1" dirty="0"/>
              <a:t> </a:t>
            </a:r>
            <a:r>
              <a:rPr lang="en-US" sz="2000" b="1" dirty="0" err="1"/>
              <a:t>ako</a:t>
            </a:r>
            <a:r>
              <a:rPr lang="en-US" sz="2000" b="1" dirty="0"/>
              <a:t> </a:t>
            </a:r>
            <a:r>
              <a:rPr lang="en-US" sz="2000" b="1" dirty="0" err="1"/>
              <a:t>obyčajný</a:t>
            </a:r>
            <a:r>
              <a:rPr lang="en-US" sz="2000" b="1" dirty="0"/>
              <a:t> text, </a:t>
            </a:r>
            <a:r>
              <a:rPr lang="en-US" sz="2000" b="1" dirty="0" err="1"/>
              <a:t>nie</a:t>
            </a:r>
            <a:r>
              <a:rPr lang="en-US" sz="2000" b="1" dirty="0"/>
              <a:t> </a:t>
            </a:r>
            <a:r>
              <a:rPr lang="en-US" sz="2000" b="1" dirty="0" err="1"/>
              <a:t>ako</a:t>
            </a:r>
            <a:r>
              <a:rPr lang="en-US" sz="2000" b="1" dirty="0"/>
              <a:t> HTML </a:t>
            </a: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463870" y="665511"/>
            <a:ext cx="4581253" cy="43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text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interpolation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rawHtml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v-html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v-html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rawHtml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3557" y="4598101"/>
            <a:ext cx="380999" cy="380999"/>
          </a:xfrm>
          <a:prstGeom prst="rect">
            <a:avLst/>
          </a:prstGeom>
        </p:spPr>
      </p:pic>
      <p:sp>
        <p:nvSpPr>
          <p:cNvPr id="14" name="Obdĺžnik 13">
            <a:extLst>
              <a:ext uri="{FF2B5EF4-FFF2-40B4-BE49-F238E27FC236}">
                <a16:creationId xmlns:a16="http://schemas.microsoft.com/office/drawing/2014/main" id="{1E716CB5-BC85-4BC0-971D-BE5C36C6C661}"/>
              </a:ext>
            </a:extLst>
          </p:cNvPr>
          <p:cNvSpPr/>
          <p:nvPr/>
        </p:nvSpPr>
        <p:spPr>
          <a:xfrm>
            <a:off x="58137" y="2190751"/>
            <a:ext cx="3940803" cy="831418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0" name="BlokTextu 19">
            <a:extLst>
              <a:ext uri="{FF2B5EF4-FFF2-40B4-BE49-F238E27FC236}">
                <a16:creationId xmlns:a16="http://schemas.microsoft.com/office/drawing/2014/main" id="{5DC776F9-4D76-4F1B-AA4A-A0BDCC6A5398}"/>
              </a:ext>
            </a:extLst>
          </p:cNvPr>
          <p:cNvSpPr txBox="1"/>
          <p:nvPr/>
        </p:nvSpPr>
        <p:spPr>
          <a:xfrm>
            <a:off x="-50825" y="3457296"/>
            <a:ext cx="4049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rawHtml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'&lt;span style="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color:red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"&gt; This should be red.&lt;/span&gt;'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21" name="Obrázok 20">
            <a:extLst>
              <a:ext uri="{FF2B5EF4-FFF2-40B4-BE49-F238E27FC236}">
                <a16:creationId xmlns:a16="http://schemas.microsoft.com/office/drawing/2014/main" id="{C0731BB7-B24F-4B1B-9A75-E5F86CA48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756674">
            <a:off x="4028946" y="4184243"/>
            <a:ext cx="717988" cy="542056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15D734C9-B641-4DA8-AE93-3E9067DA8C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8937" y="4704303"/>
            <a:ext cx="5183217" cy="47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98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4" y="-87549"/>
            <a:ext cx="4049766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380643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600" b="1" dirty="0" err="1"/>
              <a:t>Attribute</a:t>
            </a:r>
            <a:r>
              <a:rPr lang="sk-SK" sz="3600" b="1" dirty="0"/>
              <a:t> </a:t>
            </a:r>
            <a:r>
              <a:rPr lang="sk-SK" sz="3600" b="1" dirty="0" err="1"/>
              <a:t>Bindings</a:t>
            </a:r>
            <a:endParaRPr lang="sk-SK" sz="36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10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941" y="2097176"/>
            <a:ext cx="5145059" cy="20424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"</a:t>
            </a:r>
            <a:r>
              <a:rPr lang="sk-SK" sz="2000" b="1" dirty="0" err="1"/>
              <a:t>Mustache</a:t>
            </a:r>
            <a:r>
              <a:rPr lang="sk-SK" sz="2000" b="1" dirty="0"/>
              <a:t>“</a:t>
            </a:r>
            <a:r>
              <a:rPr lang="en-US" sz="2000" b="1" dirty="0"/>
              <a:t> syntax</a:t>
            </a:r>
            <a:r>
              <a:rPr lang="sk-SK" sz="2000" b="1" dirty="0"/>
              <a:t> nie je možné použiť vo vnútri atribútov HTML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dirty="0"/>
              <a:t>Nutné je použiť </a:t>
            </a:r>
            <a:r>
              <a:rPr lang="sk-SK" sz="2000" b="1" u="sng" dirty="0"/>
              <a:t>v</a:t>
            </a:r>
            <a:r>
              <a:rPr lang="en-US" sz="2000" b="1" u="sng" dirty="0"/>
              <a:t>-bind</a:t>
            </a:r>
            <a:r>
              <a:rPr lang="en-US" sz="2000" b="1" dirty="0"/>
              <a:t>:</a:t>
            </a: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335187" y="675843"/>
            <a:ext cx="4049767" cy="43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Go to Google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Shorthand --&gt;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imageUrl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"Vue Logo"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v-bind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href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={{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link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}}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Go to Google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82951" y="3260352"/>
            <a:ext cx="380999" cy="380999"/>
          </a:xfrm>
          <a:prstGeom prst="rect">
            <a:avLst/>
          </a:prstGeom>
        </p:spPr>
      </p:pic>
      <p:sp>
        <p:nvSpPr>
          <p:cNvPr id="14" name="Obdĺžnik 13">
            <a:extLst>
              <a:ext uri="{FF2B5EF4-FFF2-40B4-BE49-F238E27FC236}">
                <a16:creationId xmlns:a16="http://schemas.microsoft.com/office/drawing/2014/main" id="{1E716CB5-BC85-4BC0-971D-BE5C36C6C661}"/>
              </a:ext>
            </a:extLst>
          </p:cNvPr>
          <p:cNvSpPr/>
          <p:nvPr/>
        </p:nvSpPr>
        <p:spPr>
          <a:xfrm>
            <a:off x="428786" y="1134179"/>
            <a:ext cx="2009614" cy="208364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0" name="Obdĺžnik 19">
            <a:extLst>
              <a:ext uri="{FF2B5EF4-FFF2-40B4-BE49-F238E27FC236}">
                <a16:creationId xmlns:a16="http://schemas.microsoft.com/office/drawing/2014/main" id="{D3F6F6C1-06CE-4408-BFB7-6A542617B781}"/>
              </a:ext>
            </a:extLst>
          </p:cNvPr>
          <p:cNvSpPr/>
          <p:nvPr/>
        </p:nvSpPr>
        <p:spPr>
          <a:xfrm>
            <a:off x="428786" y="2407088"/>
            <a:ext cx="1544665" cy="208364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1" name="Obdĺžnik 20">
            <a:extLst>
              <a:ext uri="{FF2B5EF4-FFF2-40B4-BE49-F238E27FC236}">
                <a16:creationId xmlns:a16="http://schemas.microsoft.com/office/drawing/2014/main" id="{4EBCF21A-3FBB-432E-B285-CD9E641446A1}"/>
              </a:ext>
            </a:extLst>
          </p:cNvPr>
          <p:cNvSpPr/>
          <p:nvPr/>
        </p:nvSpPr>
        <p:spPr>
          <a:xfrm>
            <a:off x="633228" y="2777867"/>
            <a:ext cx="1298894" cy="208364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>
              <a:highlight>
                <a:srgbClr val="FFFF00"/>
              </a:highlight>
            </a:endParaRPr>
          </a:p>
        </p:txBody>
      </p:sp>
      <p:sp>
        <p:nvSpPr>
          <p:cNvPr id="22" name="Obdĺžnik 21">
            <a:extLst>
              <a:ext uri="{FF2B5EF4-FFF2-40B4-BE49-F238E27FC236}">
                <a16:creationId xmlns:a16="http://schemas.microsoft.com/office/drawing/2014/main" id="{72D109BC-09E9-44C2-A3A8-F3A43C47B58C}"/>
              </a:ext>
            </a:extLst>
          </p:cNvPr>
          <p:cNvSpPr/>
          <p:nvPr/>
        </p:nvSpPr>
        <p:spPr>
          <a:xfrm>
            <a:off x="428786" y="4035465"/>
            <a:ext cx="1735164" cy="250786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>
              <a:highlight>
                <a:srgbClr val="FFFF00"/>
              </a:highlight>
            </a:endParaRP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A063917A-ECC5-4A92-871A-357E464E1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610" y="4396281"/>
            <a:ext cx="687515" cy="64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2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4" y="-87549"/>
            <a:ext cx="4049766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380643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600" b="1" dirty="0"/>
              <a:t>Boolean </a:t>
            </a:r>
            <a:r>
              <a:rPr lang="sk-SK" sz="3600" b="1" dirty="0" err="1"/>
              <a:t>Attributes</a:t>
            </a:r>
            <a:endParaRPr lang="sk-SK" sz="36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11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941" y="2097176"/>
            <a:ext cx="5145059" cy="20424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sk-SK" sz="2000" b="1" u="sng" dirty="0"/>
              <a:t>v</a:t>
            </a:r>
            <a:r>
              <a:rPr lang="en-US" sz="2000" b="1" u="sng" dirty="0"/>
              <a:t>-bind</a:t>
            </a:r>
            <a:r>
              <a:rPr lang="en-US" sz="2000" b="1" dirty="0"/>
              <a:t> </a:t>
            </a:r>
            <a:r>
              <a:rPr lang="pl-PL" sz="2000" b="1" dirty="0"/>
              <a:t>v tomto prípade to funguje trochu inak</a:t>
            </a: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335187" y="675844"/>
            <a:ext cx="4334127" cy="227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isButtonDisabled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 @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disableButton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pPr algn="l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19019" y="4738608"/>
            <a:ext cx="380999" cy="380999"/>
          </a:xfrm>
          <a:prstGeom prst="rect">
            <a:avLst/>
          </a:prstGeom>
        </p:spPr>
      </p:pic>
      <p:sp>
        <p:nvSpPr>
          <p:cNvPr id="20" name="Obdĺžnik 19">
            <a:extLst>
              <a:ext uri="{FF2B5EF4-FFF2-40B4-BE49-F238E27FC236}">
                <a16:creationId xmlns:a16="http://schemas.microsoft.com/office/drawing/2014/main" id="{D3F6F6C1-06CE-4408-BFB7-6A542617B781}"/>
              </a:ext>
            </a:extLst>
          </p:cNvPr>
          <p:cNvSpPr/>
          <p:nvPr/>
        </p:nvSpPr>
        <p:spPr>
          <a:xfrm>
            <a:off x="831740" y="2216258"/>
            <a:ext cx="2536557" cy="227308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C647919B-5C30-4E41-BA15-E8D7192E0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196" y="4204675"/>
            <a:ext cx="871590" cy="396177"/>
          </a:xfrm>
          <a:prstGeom prst="rect">
            <a:avLst/>
          </a:prstGeom>
        </p:spPr>
      </p:pic>
      <p:pic>
        <p:nvPicPr>
          <p:cNvPr id="17" name="Obrázok 16">
            <a:extLst>
              <a:ext uri="{FF2B5EF4-FFF2-40B4-BE49-F238E27FC236}">
                <a16:creationId xmlns:a16="http://schemas.microsoft.com/office/drawing/2014/main" id="{BE30E26C-A0A2-4105-8390-2D96021FCF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594326" flipV="1">
            <a:off x="5929246" y="4348597"/>
            <a:ext cx="717988" cy="650980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D452B476-5D80-4BEF-B0E0-6A0DE054EE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912" y="4204673"/>
            <a:ext cx="921110" cy="396177"/>
          </a:xfrm>
          <a:prstGeom prst="rect">
            <a:avLst/>
          </a:prstGeom>
        </p:spPr>
      </p:pic>
      <p:sp>
        <p:nvSpPr>
          <p:cNvPr id="14" name="Obdĺžnik 13">
            <a:extLst>
              <a:ext uri="{FF2B5EF4-FFF2-40B4-BE49-F238E27FC236}">
                <a16:creationId xmlns:a16="http://schemas.microsoft.com/office/drawing/2014/main" id="{1BDAFED9-5D1A-46D9-8867-FEFE5303D541}"/>
              </a:ext>
            </a:extLst>
          </p:cNvPr>
          <p:cNvSpPr/>
          <p:nvPr/>
        </p:nvSpPr>
        <p:spPr>
          <a:xfrm>
            <a:off x="831740" y="2586281"/>
            <a:ext cx="1653155" cy="227308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BlokTextu 17">
            <a:extLst>
              <a:ext uri="{FF2B5EF4-FFF2-40B4-BE49-F238E27FC236}">
                <a16:creationId xmlns:a16="http://schemas.microsoft.com/office/drawing/2014/main" id="{DCBF36EC-8F72-406E-8783-84370BC29F42}"/>
              </a:ext>
            </a:extLst>
          </p:cNvPr>
          <p:cNvSpPr txBox="1"/>
          <p:nvPr/>
        </p:nvSpPr>
        <p:spPr>
          <a:xfrm>
            <a:off x="119888" y="3238601"/>
            <a:ext cx="35792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isButtonDisabled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disableButton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isButtonDisabled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461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4" y="-87549"/>
            <a:ext cx="4049766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380643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600" b="1" dirty="0" err="1"/>
              <a:t>Multiple</a:t>
            </a:r>
            <a:r>
              <a:rPr lang="sk-SK" sz="3600" b="1" dirty="0"/>
              <a:t> </a:t>
            </a:r>
            <a:r>
              <a:rPr lang="sk-SK" sz="3600" b="1" dirty="0" err="1"/>
              <a:t>Attributes</a:t>
            </a:r>
            <a:endParaRPr lang="sk-SK" sz="36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12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941" y="2097176"/>
            <a:ext cx="5145059" cy="20424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JS object m</a:t>
            </a:r>
            <a:r>
              <a:rPr lang="pl-PL" sz="2000" b="1" dirty="0"/>
              <a:t>ôže</a:t>
            </a:r>
            <a:r>
              <a:rPr lang="en-US" sz="2000" b="1" dirty="0"/>
              <a:t>me</a:t>
            </a:r>
            <a:r>
              <a:rPr lang="pl-PL" sz="2000" b="1" dirty="0"/>
              <a:t> naviazať na jeden prvok</a:t>
            </a:r>
            <a:r>
              <a:rPr lang="en-US" sz="2000" b="1" dirty="0"/>
              <a:t> s</a:t>
            </a:r>
            <a:r>
              <a:rPr lang="pl-PL" sz="2000" b="1" dirty="0"/>
              <a:t> pomocou </a:t>
            </a:r>
            <a:r>
              <a:rPr lang="pl-PL" sz="2000" b="1" u="sng" dirty="0"/>
              <a:t>v-bind</a:t>
            </a:r>
            <a:r>
              <a:rPr lang="pl-PL" sz="2000" b="1" dirty="0"/>
              <a:t>:</a:t>
            </a: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335187" y="675843"/>
            <a:ext cx="4049767" cy="4372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endParaRPr lang="sk-SK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objectOfAttrs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	&lt;!-- Shorthand --&gt;</a:t>
            </a: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:="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objectOfAttrs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08697" y="4722359"/>
            <a:ext cx="380999" cy="380999"/>
          </a:xfrm>
          <a:prstGeom prst="rect">
            <a:avLst/>
          </a:prstGeom>
        </p:spPr>
      </p:pic>
      <p:sp>
        <p:nvSpPr>
          <p:cNvPr id="20" name="Obdĺžnik 19">
            <a:extLst>
              <a:ext uri="{FF2B5EF4-FFF2-40B4-BE49-F238E27FC236}">
                <a16:creationId xmlns:a16="http://schemas.microsoft.com/office/drawing/2014/main" id="{D3F6F6C1-06CE-4408-BFB7-6A542617B781}"/>
              </a:ext>
            </a:extLst>
          </p:cNvPr>
          <p:cNvSpPr/>
          <p:nvPr/>
        </p:nvSpPr>
        <p:spPr>
          <a:xfrm>
            <a:off x="104026" y="3128327"/>
            <a:ext cx="2202522" cy="1006387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932064A9-AB68-43B4-87C1-37C1C99EC8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939" y="4890034"/>
            <a:ext cx="5153379" cy="323404"/>
          </a:xfrm>
          <a:prstGeom prst="rect">
            <a:avLst/>
          </a:prstGeom>
        </p:spPr>
      </p:pic>
      <p:pic>
        <p:nvPicPr>
          <p:cNvPr id="10" name="Obrázok 9">
            <a:extLst>
              <a:ext uri="{FF2B5EF4-FFF2-40B4-BE49-F238E27FC236}">
                <a16:creationId xmlns:a16="http://schemas.microsoft.com/office/drawing/2014/main" id="{985915ED-7793-4A59-B686-8E3AB39AF1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241749">
            <a:off x="3940392" y="4274303"/>
            <a:ext cx="661431" cy="599701"/>
          </a:xfrm>
          <a:prstGeom prst="rect">
            <a:avLst/>
          </a:prstGeom>
        </p:spPr>
      </p:pic>
      <p:sp>
        <p:nvSpPr>
          <p:cNvPr id="11" name="Obdĺžnik 10">
            <a:extLst>
              <a:ext uri="{FF2B5EF4-FFF2-40B4-BE49-F238E27FC236}">
                <a16:creationId xmlns:a16="http://schemas.microsoft.com/office/drawing/2014/main" id="{86078EE9-7BC3-4710-AC70-C9F49249A55F}"/>
              </a:ext>
            </a:extLst>
          </p:cNvPr>
          <p:cNvSpPr/>
          <p:nvPr/>
        </p:nvSpPr>
        <p:spPr>
          <a:xfrm>
            <a:off x="156526" y="1800125"/>
            <a:ext cx="2952434" cy="65859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3" name="BlokTextu 12">
            <a:extLst>
              <a:ext uri="{FF2B5EF4-FFF2-40B4-BE49-F238E27FC236}">
                <a16:creationId xmlns:a16="http://schemas.microsoft.com/office/drawing/2014/main" id="{162AE887-380A-4A8A-9A73-53F1F4122326}"/>
              </a:ext>
            </a:extLst>
          </p:cNvPr>
          <p:cNvSpPr txBox="1"/>
          <p:nvPr/>
        </p:nvSpPr>
        <p:spPr>
          <a:xfrm>
            <a:off x="104027" y="3221755"/>
            <a:ext cx="3378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objectOfAttrs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'container'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class: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'wrapper'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34075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5" y="-87549"/>
            <a:ext cx="4152709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4101884" y="1380643"/>
            <a:ext cx="5042116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600" b="1" dirty="0" err="1"/>
              <a:t>Listening</a:t>
            </a:r>
            <a:r>
              <a:rPr lang="sk-SK" sz="3600" b="1" dirty="0"/>
              <a:t> to </a:t>
            </a:r>
            <a:r>
              <a:rPr lang="sk-SK" sz="3600" b="1" dirty="0" err="1"/>
              <a:t>Events</a:t>
            </a:r>
            <a:endParaRPr lang="sk-SK" sz="36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13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1884" y="2097176"/>
            <a:ext cx="5042116" cy="20424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M</a:t>
            </a:r>
            <a:r>
              <a:rPr lang="sk-SK" sz="2000" b="1" dirty="0" err="1"/>
              <a:t>ôžeme</a:t>
            </a:r>
            <a:r>
              <a:rPr lang="sk-SK" sz="2000" b="1" dirty="0"/>
              <a:t> použiť </a:t>
            </a:r>
            <a:r>
              <a:rPr lang="sk-SK" sz="2000" b="1" u="sng" dirty="0"/>
              <a:t>v</a:t>
            </a:r>
            <a:r>
              <a:rPr lang="en-US" sz="2000" b="1" u="sng" dirty="0"/>
              <a:t>-on</a:t>
            </a:r>
            <a:r>
              <a:rPr lang="en-US" sz="2000" b="1" dirty="0"/>
              <a:t> directive </a:t>
            </a: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488802" y="45151"/>
            <a:ext cx="4699175" cy="226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v-on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v-on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Add 1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Count is: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pPr algn="l"/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say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Say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say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'bye'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Say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bye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</a:p>
          <a:p>
            <a:pPr algn="l"/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sk-SK" dirty="0" err="1">
                <a:solidFill>
                  <a:srgbClr val="569CD6"/>
                </a:solidFill>
                <a:latin typeface="Consolas" panose="020B0609020204030204" pitchFamily="49" charset="0"/>
              </a:rPr>
              <a:t>input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v-on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sk-SK" dirty="0" err="1">
                <a:solidFill>
                  <a:srgbClr val="9CDCFE"/>
                </a:solidFill>
                <a:latin typeface="Consolas" panose="020B0609020204030204" pitchFamily="49" charset="0"/>
              </a:rPr>
              <a:t>keyup</a:t>
            </a:r>
            <a:r>
              <a:rPr lang="sk-SK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sk-SK" dirty="0" err="1">
                <a:solidFill>
                  <a:srgbClr val="9CDCFE"/>
                </a:solidFill>
                <a:latin typeface="Consolas" panose="020B0609020204030204" pitchFamily="49" charset="0"/>
              </a:rPr>
              <a:t>enter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="</a:t>
            </a:r>
            <a:r>
              <a:rPr lang="sk-SK" dirty="0">
                <a:solidFill>
                  <a:srgbClr val="DCDCAA"/>
                </a:solidFill>
                <a:latin typeface="Consolas" panose="020B0609020204030204" pitchFamily="49" charset="0"/>
              </a:rPr>
              <a:t>submit</a:t>
            </a:r>
            <a:r>
              <a:rPr lang="sk-SK" dirty="0">
                <a:solidFill>
                  <a:srgbClr val="CCCCCC"/>
                </a:solidFill>
                <a:latin typeface="Consolas" panose="020B0609020204030204" pitchFamily="49" charset="0"/>
              </a:rPr>
              <a:t>" </a:t>
            </a:r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sk-SK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35029" y="4473952"/>
            <a:ext cx="380999" cy="380999"/>
          </a:xfrm>
          <a:prstGeom prst="rect">
            <a:avLst/>
          </a:prstGeom>
        </p:spPr>
      </p:pic>
      <p:sp>
        <p:nvSpPr>
          <p:cNvPr id="12" name="Obdĺžnik 11">
            <a:extLst>
              <a:ext uri="{FF2B5EF4-FFF2-40B4-BE49-F238E27FC236}">
                <a16:creationId xmlns:a16="http://schemas.microsoft.com/office/drawing/2014/main" id="{D99545CB-B400-467E-ACA6-F58F49C3E23A}"/>
              </a:ext>
            </a:extLst>
          </p:cNvPr>
          <p:cNvSpPr/>
          <p:nvPr/>
        </p:nvSpPr>
        <p:spPr>
          <a:xfrm>
            <a:off x="52837" y="645160"/>
            <a:ext cx="3770078" cy="45732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8" name="Obdĺžnik 17">
            <a:extLst>
              <a:ext uri="{FF2B5EF4-FFF2-40B4-BE49-F238E27FC236}">
                <a16:creationId xmlns:a16="http://schemas.microsoft.com/office/drawing/2014/main" id="{17920906-FE9D-4081-A08E-AAD73377C519}"/>
              </a:ext>
            </a:extLst>
          </p:cNvPr>
          <p:cNvSpPr/>
          <p:nvPr/>
        </p:nvSpPr>
        <p:spPr>
          <a:xfrm>
            <a:off x="0" y="1387705"/>
            <a:ext cx="4101884" cy="418625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3" name="Obrázok 12">
            <a:extLst>
              <a:ext uri="{FF2B5EF4-FFF2-40B4-BE49-F238E27FC236}">
                <a16:creationId xmlns:a16="http://schemas.microsoft.com/office/drawing/2014/main" id="{4581F254-F684-48DE-A1CC-153FCF1BD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946" y="4258202"/>
            <a:ext cx="3197622" cy="956918"/>
          </a:xfrm>
          <a:prstGeom prst="rect">
            <a:avLst/>
          </a:prstGeom>
        </p:spPr>
      </p:pic>
      <p:pic>
        <p:nvPicPr>
          <p:cNvPr id="21" name="Obrázok 20">
            <a:extLst>
              <a:ext uri="{FF2B5EF4-FFF2-40B4-BE49-F238E27FC236}">
                <a16:creationId xmlns:a16="http://schemas.microsoft.com/office/drawing/2014/main" id="{DAFDEF42-61F0-49E5-BB51-1BDFE54BE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241749">
            <a:off x="3951545" y="3642172"/>
            <a:ext cx="661431" cy="599701"/>
          </a:xfrm>
          <a:prstGeom prst="rect">
            <a:avLst/>
          </a:prstGeom>
        </p:spPr>
      </p:pic>
      <p:sp>
        <p:nvSpPr>
          <p:cNvPr id="23" name="Obdĺžnik 22">
            <a:extLst>
              <a:ext uri="{FF2B5EF4-FFF2-40B4-BE49-F238E27FC236}">
                <a16:creationId xmlns:a16="http://schemas.microsoft.com/office/drawing/2014/main" id="{2AC9BDE8-E1A7-4672-A748-5A984497CB65}"/>
              </a:ext>
            </a:extLst>
          </p:cNvPr>
          <p:cNvSpPr/>
          <p:nvPr/>
        </p:nvSpPr>
        <p:spPr>
          <a:xfrm>
            <a:off x="0" y="1939031"/>
            <a:ext cx="3032760" cy="245370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14" name="BlokTextu 13">
            <a:extLst>
              <a:ext uri="{FF2B5EF4-FFF2-40B4-BE49-F238E27FC236}">
                <a16:creationId xmlns:a16="http://schemas.microsoft.com/office/drawing/2014/main" id="{A39F5831-29DB-4785-935F-1637FBE3F3B2}"/>
              </a:ext>
            </a:extLst>
          </p:cNvPr>
          <p:cNvSpPr txBox="1"/>
          <p:nvPr/>
        </p:nvSpPr>
        <p:spPr>
          <a:xfrm>
            <a:off x="0" y="3015986"/>
            <a:ext cx="31490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say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53021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5" y="-87549"/>
            <a:ext cx="4152709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4101884" y="1380643"/>
            <a:ext cx="5042116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600" b="1" dirty="0" err="1"/>
              <a:t>Method</a:t>
            </a:r>
            <a:r>
              <a:rPr lang="sk-SK" sz="3600" b="1" dirty="0"/>
              <a:t> </a:t>
            </a:r>
            <a:r>
              <a:rPr lang="sk-SK" sz="3600" b="1" dirty="0" err="1"/>
              <a:t>Handlers</a:t>
            </a:r>
            <a:endParaRPr lang="sk-SK" sz="36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14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1884" y="2097176"/>
            <a:ext cx="5042116" cy="204247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/>
              <a:t>M</a:t>
            </a:r>
            <a:r>
              <a:rPr lang="sk-SK" sz="2000" b="1" dirty="0" err="1"/>
              <a:t>ôžeme</a:t>
            </a:r>
            <a:r>
              <a:rPr lang="sk-SK" sz="2000" b="1" dirty="0"/>
              <a:t> použiť </a:t>
            </a:r>
            <a:r>
              <a:rPr lang="sk-SK" sz="2000" b="1" u="sng" dirty="0"/>
              <a:t>v</a:t>
            </a:r>
            <a:r>
              <a:rPr lang="en-US" sz="2000" b="1" u="sng" dirty="0"/>
              <a:t>-on</a:t>
            </a:r>
            <a:r>
              <a:rPr lang="en-US" sz="2000" b="1" dirty="0"/>
              <a:t> directive </a:t>
            </a: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488801" y="45151"/>
            <a:ext cx="4664562" cy="2526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	&lt;</a:t>
            </a:r>
            <a:r>
              <a:rPr lang="it-IT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 @</a:t>
            </a:r>
            <a:r>
              <a:rPr lang="it-IT" dirty="0">
                <a:solidFill>
                  <a:srgbClr val="9CDCFE"/>
                </a:solidFill>
                <a:latin typeface="Consolas" panose="020B0609020204030204" pitchFamily="49" charset="0"/>
              </a:rPr>
              <a:t>click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="</a:t>
            </a:r>
            <a:r>
              <a:rPr lang="it-IT" dirty="0">
                <a:solidFill>
                  <a:srgbClr val="DCDCAA"/>
                </a:solidFill>
                <a:latin typeface="Consolas" panose="020B0609020204030204" pitchFamily="49" charset="0"/>
              </a:rPr>
              <a:t>greet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"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Greet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it-IT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</a:p>
          <a:p>
            <a:pPr algn="l"/>
            <a:endParaRPr lang="it-IT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	&lt;</a:t>
            </a:r>
            <a:r>
              <a:rPr lang="it-IT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 @</a:t>
            </a:r>
            <a:r>
              <a:rPr lang="it-IT" dirty="0">
                <a:solidFill>
                  <a:srgbClr val="9CDCFE"/>
                </a:solidFill>
                <a:latin typeface="Consolas" panose="020B0609020204030204" pitchFamily="49" charset="0"/>
              </a:rPr>
              <a:t>click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="</a:t>
            </a:r>
            <a:r>
              <a:rPr lang="it-IT" dirty="0">
                <a:solidFill>
                  <a:srgbClr val="DCDCAA"/>
                </a:solidFill>
                <a:latin typeface="Consolas" panose="020B0609020204030204" pitchFamily="49" charset="0"/>
              </a:rPr>
              <a:t>greet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it-IT" dirty="0">
                <a:solidFill>
                  <a:srgbClr val="9CDCFE"/>
                </a:solidFill>
                <a:latin typeface="Consolas" panose="020B0609020204030204" pitchFamily="49" charset="0"/>
              </a:rPr>
              <a:t>$event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)"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Greet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it-IT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it-IT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endParaRPr lang="it-IT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it-IT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 @</a:t>
            </a:r>
            <a:r>
              <a:rPr lang="it-IT" dirty="0">
                <a:solidFill>
                  <a:srgbClr val="9CDCFE"/>
                </a:solidFill>
                <a:latin typeface="Consolas" panose="020B0609020204030204" pitchFamily="49" charset="0"/>
              </a:rPr>
              <a:t>click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="</a:t>
            </a:r>
            <a:r>
              <a:rPr lang="it-IT" dirty="0">
                <a:solidFill>
                  <a:srgbClr val="DCDCAA"/>
                </a:solidFill>
                <a:latin typeface="Consolas" panose="020B0609020204030204" pitchFamily="49" charset="0"/>
              </a:rPr>
              <a:t>greet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()"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it-IT" dirty="0">
                <a:solidFill>
                  <a:srgbClr val="CCCCCC"/>
                </a:solidFill>
                <a:latin typeface="Consolas" panose="020B0609020204030204" pitchFamily="49" charset="0"/>
              </a:rPr>
              <a:t>Greet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it-IT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</a:t>
            </a:r>
            <a:endParaRPr lang="sk-SK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23160" y="5026609"/>
            <a:ext cx="380999" cy="380999"/>
          </a:xfrm>
          <a:prstGeom prst="rect">
            <a:avLst/>
          </a:prstGeom>
        </p:spPr>
      </p:pic>
      <p:sp>
        <p:nvSpPr>
          <p:cNvPr id="18" name="Obdĺžnik 17">
            <a:extLst>
              <a:ext uri="{FF2B5EF4-FFF2-40B4-BE49-F238E27FC236}">
                <a16:creationId xmlns:a16="http://schemas.microsoft.com/office/drawing/2014/main" id="{17920906-FE9D-4081-A08E-AAD73377C519}"/>
              </a:ext>
            </a:extLst>
          </p:cNvPr>
          <p:cNvSpPr/>
          <p:nvPr/>
        </p:nvSpPr>
        <p:spPr>
          <a:xfrm>
            <a:off x="45720" y="1419302"/>
            <a:ext cx="3195320" cy="233443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21" name="Obrázok 20">
            <a:extLst>
              <a:ext uri="{FF2B5EF4-FFF2-40B4-BE49-F238E27FC236}">
                <a16:creationId xmlns:a16="http://schemas.microsoft.com/office/drawing/2014/main" id="{DAFDEF42-61F0-49E5-BB51-1BDFE54BE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01221" flipV="1">
            <a:off x="3886586" y="4228006"/>
            <a:ext cx="653331" cy="592357"/>
          </a:xfrm>
          <a:prstGeom prst="rect">
            <a:avLst/>
          </a:prstGeom>
        </p:spPr>
      </p:pic>
      <p:sp>
        <p:nvSpPr>
          <p:cNvPr id="23" name="Obdĺžnik 22">
            <a:extLst>
              <a:ext uri="{FF2B5EF4-FFF2-40B4-BE49-F238E27FC236}">
                <a16:creationId xmlns:a16="http://schemas.microsoft.com/office/drawing/2014/main" id="{C062BEF1-AFCA-412F-95DC-F62E34C84B74}"/>
              </a:ext>
            </a:extLst>
          </p:cNvPr>
          <p:cNvSpPr/>
          <p:nvPr/>
        </p:nvSpPr>
        <p:spPr>
          <a:xfrm>
            <a:off x="45719" y="1773960"/>
            <a:ext cx="3844219" cy="233443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4" name="Obdĺžnik 23">
            <a:extLst>
              <a:ext uri="{FF2B5EF4-FFF2-40B4-BE49-F238E27FC236}">
                <a16:creationId xmlns:a16="http://schemas.microsoft.com/office/drawing/2014/main" id="{4427C62F-4D6A-4A76-8504-034655362494}"/>
              </a:ext>
            </a:extLst>
          </p:cNvPr>
          <p:cNvSpPr/>
          <p:nvPr/>
        </p:nvSpPr>
        <p:spPr>
          <a:xfrm>
            <a:off x="45719" y="2122820"/>
            <a:ext cx="3337560" cy="250786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>
              <a:highlight>
                <a:srgbClr val="FFFF00"/>
              </a:highlight>
            </a:endParaRPr>
          </a:p>
        </p:txBody>
      </p:sp>
      <p:pic>
        <p:nvPicPr>
          <p:cNvPr id="10" name="Obrázok 9">
            <a:extLst>
              <a:ext uri="{FF2B5EF4-FFF2-40B4-BE49-F238E27FC236}">
                <a16:creationId xmlns:a16="http://schemas.microsoft.com/office/drawing/2014/main" id="{F9A4CC2E-127A-4548-B530-491545D9B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737" y="3241213"/>
            <a:ext cx="3210558" cy="949333"/>
          </a:xfrm>
          <a:prstGeom prst="rect">
            <a:avLst/>
          </a:prstGeom>
        </p:spPr>
      </p:pic>
      <p:pic>
        <p:nvPicPr>
          <p:cNvPr id="25" name="Obrázok 24">
            <a:extLst>
              <a:ext uri="{FF2B5EF4-FFF2-40B4-BE49-F238E27FC236}">
                <a16:creationId xmlns:a16="http://schemas.microsoft.com/office/drawing/2014/main" id="{66385E3D-C68E-4B4A-9C86-0530AF6894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737" y="4190546"/>
            <a:ext cx="3192997" cy="962595"/>
          </a:xfrm>
          <a:prstGeom prst="rect">
            <a:avLst/>
          </a:prstGeom>
        </p:spPr>
      </p:pic>
      <p:sp>
        <p:nvSpPr>
          <p:cNvPr id="17" name="BlokTextu 16">
            <a:extLst>
              <a:ext uri="{FF2B5EF4-FFF2-40B4-BE49-F238E27FC236}">
                <a16:creationId xmlns:a16="http://schemas.microsoft.com/office/drawing/2014/main" id="{CC647E56-CA01-4B5A-9ABD-322C88481A85}"/>
              </a:ext>
            </a:extLst>
          </p:cNvPr>
          <p:cNvSpPr txBox="1"/>
          <p:nvPr/>
        </p:nvSpPr>
        <p:spPr>
          <a:xfrm>
            <a:off x="-68386" y="2813709"/>
            <a:ext cx="415270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greet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`event` </a:t>
            </a:r>
            <a:r>
              <a:rPr lang="sk-SK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sk-SK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lang="sk-SK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native</a:t>
            </a:r>
            <a:r>
              <a:rPr lang="sk-SK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DOM event</a:t>
            </a:r>
            <a:endParaRPr lang="sk-SK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tagName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sk-SK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visibility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hidden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1608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0" y="281188"/>
            <a:ext cx="7512710" cy="84657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44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Full</a:t>
            </a:r>
            <a:r>
              <a:rPr lang="sk-SK" sz="4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sk-SK" sz="44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directive</a:t>
            </a:r>
            <a:r>
              <a:rPr lang="sk-SK" sz="4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syntax</a:t>
            </a:r>
            <a:endParaRPr sz="44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4294967295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/>
              <a:t>15</a:t>
            </a:fld>
            <a:endParaRPr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D3E24AEF-BDCF-4DDC-B9CB-02E3906D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420" y="281188"/>
            <a:ext cx="1165514" cy="1165514"/>
          </a:xfrm>
          <a:prstGeom prst="rect">
            <a:avLst/>
          </a:prstGeom>
        </p:spPr>
      </p:pic>
      <p:pic>
        <p:nvPicPr>
          <p:cNvPr id="1026" name="Picture 2" descr="directive syntax graph">
            <a:extLst>
              <a:ext uri="{FF2B5EF4-FFF2-40B4-BE49-F238E27FC236}">
                <a16:creationId xmlns:a16="http://schemas.microsoft.com/office/drawing/2014/main" id="{5C544C90-12B0-4A6F-87F1-1B4B3FDFDA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0"/>
          <a:stretch/>
        </p:blipFill>
        <p:spPr bwMode="auto">
          <a:xfrm>
            <a:off x="358445" y="1446702"/>
            <a:ext cx="842711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294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ok 4">
            <a:extLst>
              <a:ext uri="{FF2B5EF4-FFF2-40B4-BE49-F238E27FC236}">
                <a16:creationId xmlns:a16="http://schemas.microsoft.com/office/drawing/2014/main" id="{15C00268-F946-48A7-84D3-E7E4354BA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3457750"/>
            <a:ext cx="1361440" cy="1685750"/>
          </a:xfrm>
          <a:prstGeom prst="rect">
            <a:avLst/>
          </a:prstGeom>
        </p:spPr>
      </p:pic>
      <p:sp>
        <p:nvSpPr>
          <p:cNvPr id="213" name="Google Shape;213;p29"/>
          <p:cNvSpPr txBox="1">
            <a:spLocks noGrp="1"/>
          </p:cNvSpPr>
          <p:nvPr>
            <p:ph type="sldNum" idx="4294967295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/>
              <a:t>16</a:t>
            </a:fld>
            <a:endParaRPr/>
          </a:p>
        </p:txBody>
      </p:sp>
      <p:pic>
        <p:nvPicPr>
          <p:cNvPr id="2050" name="Picture 2" descr="Meme: Vue Shorthands - variable and event binding - DEV Community">
            <a:extLst>
              <a:ext uri="{FF2B5EF4-FFF2-40B4-BE49-F238E27FC236}">
                <a16:creationId xmlns:a16="http://schemas.microsoft.com/office/drawing/2014/main" id="{BAD32239-F0E0-4C55-A086-08331D8FF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445" y="0"/>
            <a:ext cx="52133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D35B9872-6EBD-4D79-8B55-4766A2F316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6598">
            <a:off x="136837" y="3730905"/>
            <a:ext cx="1240164" cy="47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68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>
            <a:spLocks noGrp="1"/>
          </p:cNvSpPr>
          <p:nvPr>
            <p:ph type="title"/>
          </p:nvPr>
        </p:nvSpPr>
        <p:spPr>
          <a:xfrm>
            <a:off x="3456792" y="1749392"/>
            <a:ext cx="4772355" cy="145100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4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Životný cyklus</a:t>
            </a:r>
            <a:br>
              <a:rPr lang="sk-SK" sz="4400" dirty="0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sk-SK" sz="4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komponentov</a:t>
            </a:r>
            <a:endParaRPr sz="44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213" name="Google Shape;213;p29"/>
          <p:cNvSpPr txBox="1">
            <a:spLocks noGrp="1"/>
          </p:cNvSpPr>
          <p:nvPr>
            <p:ph type="sldNum" idx="4294967295"/>
          </p:nvPr>
        </p:nvSpPr>
        <p:spPr>
          <a:xfrm>
            <a:off x="8299934" y="45918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/>
              <a:t>17</a:t>
            </a:fld>
            <a:endParaRPr/>
          </a:p>
        </p:txBody>
      </p:sp>
      <p:pic>
        <p:nvPicPr>
          <p:cNvPr id="8" name="Obrázok 7">
            <a:extLst>
              <a:ext uri="{FF2B5EF4-FFF2-40B4-BE49-F238E27FC236}">
                <a16:creationId xmlns:a16="http://schemas.microsoft.com/office/drawing/2014/main" id="{D3E24AEF-BDCF-4DDC-B9CB-02E3906D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420" y="281188"/>
            <a:ext cx="1165514" cy="1165514"/>
          </a:xfrm>
          <a:prstGeom prst="rect">
            <a:avLst/>
          </a:prstGeom>
        </p:spPr>
      </p:pic>
      <p:pic>
        <p:nvPicPr>
          <p:cNvPr id="3074" name="Picture 2" descr="Component lifecycle diagram">
            <a:extLst>
              <a:ext uri="{FF2B5EF4-FFF2-40B4-BE49-F238E27FC236}">
                <a16:creationId xmlns:a16="http://schemas.microsoft.com/office/drawing/2014/main" id="{F054E3E1-C29D-4C33-AE6E-3D92C86AF2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29"/>
          <a:stretch/>
        </p:blipFill>
        <p:spPr bwMode="auto">
          <a:xfrm>
            <a:off x="0" y="-27824"/>
            <a:ext cx="5842970" cy="524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994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mponent lifecycle diagram">
            <a:extLst>
              <a:ext uri="{FF2B5EF4-FFF2-40B4-BE49-F238E27FC236}">
                <a16:creationId xmlns:a16="http://schemas.microsoft.com/office/drawing/2014/main" id="{F054E3E1-C29D-4C33-AE6E-3D92C86AF2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81"/>
          <a:stretch/>
        </p:blipFill>
        <p:spPr bwMode="auto">
          <a:xfrm>
            <a:off x="0" y="-60960"/>
            <a:ext cx="5842970" cy="418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E9BF8891-BE77-41AD-8E04-4E2348BD9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62" y="-60959"/>
            <a:ext cx="3043138" cy="5290184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21083FAE-2780-4938-9281-A185740B2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H="1">
            <a:off x="7391401" y="-28577"/>
            <a:ext cx="1752600" cy="5142123"/>
          </a:xfrm>
          <a:prstGeom prst="rect">
            <a:avLst/>
          </a:prstGeom>
        </p:spPr>
      </p:pic>
      <p:sp>
        <p:nvSpPr>
          <p:cNvPr id="213" name="Google Shape;213;p29"/>
          <p:cNvSpPr txBox="1">
            <a:spLocks noGrp="1"/>
          </p:cNvSpPr>
          <p:nvPr>
            <p:ph type="sldNum" idx="4294967295"/>
          </p:nvPr>
        </p:nvSpPr>
        <p:spPr>
          <a:xfrm>
            <a:off x="7993351" y="474990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s" smtClean="0"/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7674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4" y="-87549"/>
            <a:ext cx="4049766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998942" y="1108458"/>
            <a:ext cx="5145058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H</a:t>
            </a:r>
            <a:r>
              <a:rPr lang="sk-SK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ooks</a:t>
            </a:r>
            <a:r>
              <a:rPr lang="en-US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lang="sk-SK" sz="40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19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8942" y="1964986"/>
            <a:ext cx="5132977" cy="2174661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endParaRPr lang="sk-SK" sz="2000" b="1" dirty="0">
              <a:latin typeface="Montserrat Light" panose="00000400000000000000" pitchFamily="2" charset="-18"/>
            </a:endParaRPr>
          </a:p>
        </p:txBody>
      </p:sp>
      <p:sp>
        <p:nvSpPr>
          <p:cNvPr id="11" name="BlokTextu 10">
            <a:extLst>
              <a:ext uri="{FF2B5EF4-FFF2-40B4-BE49-F238E27FC236}">
                <a16:creationId xmlns:a16="http://schemas.microsoft.com/office/drawing/2014/main" id="{D39274C1-53A2-4E49-B0E6-5358FA163E26}"/>
              </a:ext>
            </a:extLst>
          </p:cNvPr>
          <p:cNvSpPr txBox="1"/>
          <p:nvPr/>
        </p:nvSpPr>
        <p:spPr>
          <a:xfrm>
            <a:off x="-89623" y="155994"/>
            <a:ext cx="408856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sk-SK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onBeforeMount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k-SK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onMounted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k-SK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onBeforeUpdate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k-SK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onUpdated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k-SK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onBeforeUnmount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k-SK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onUnmounted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sk-SK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sk-SK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BlokTextu 11">
            <a:extLst>
              <a:ext uri="{FF2B5EF4-FFF2-40B4-BE49-F238E27FC236}">
                <a16:creationId xmlns:a16="http://schemas.microsoft.com/office/drawing/2014/main" id="{30BF66F2-492B-4D68-AE66-9AF3FCD36511}"/>
              </a:ext>
            </a:extLst>
          </p:cNvPr>
          <p:cNvSpPr txBox="1"/>
          <p:nvPr/>
        </p:nvSpPr>
        <p:spPr>
          <a:xfrm>
            <a:off x="0" y="875948"/>
            <a:ext cx="3606229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onBeforeMount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sk-SK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beforeMount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hook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onMounted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sk-SK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mounted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hook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onBeforeUpdate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sk-SK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beforeUpdate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hook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onUpdated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sk-SK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updated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hook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onBeforeUnmount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sk-SK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beforeUnmount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hook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sk-SK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onUnmounted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sk-SK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unmounted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hook</a:t>
            </a:r>
            <a:r>
              <a:rPr lang="sk-SK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k-SK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pic>
        <p:nvPicPr>
          <p:cNvPr id="13" name="Obrázok 12">
            <a:extLst>
              <a:ext uri="{FF2B5EF4-FFF2-40B4-BE49-F238E27FC236}">
                <a16:creationId xmlns:a16="http://schemas.microsoft.com/office/drawing/2014/main" id="{7B071907-4BB9-4D76-AD01-5B8B5D30D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327837">
            <a:off x="3615722" y="3699041"/>
            <a:ext cx="971918" cy="881211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BD2954D2-D096-40E8-9C53-B634866F07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940" y="4591801"/>
            <a:ext cx="4559433" cy="66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049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284526" y="1207922"/>
            <a:ext cx="5868929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Samostatn</a:t>
            </a:r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á práca</a:t>
            </a: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20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2134" y="1899150"/>
            <a:ext cx="5847394" cy="2036428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Montserrat Light" panose="00000400000000000000" pitchFamily="2" charset="-18"/>
              </a:rPr>
              <a:t>Vytvorte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funkciu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sk-SK" sz="2000" b="1" dirty="0">
                <a:latin typeface="Montserrat Light" panose="00000400000000000000" pitchFamily="2" charset="-18"/>
              </a:rPr>
              <a:t>na </a:t>
            </a:r>
            <a:r>
              <a:rPr lang="en-US" sz="2000" b="1" dirty="0" err="1">
                <a:latin typeface="Montserrat Light" panose="00000400000000000000" pitchFamily="2" charset="-18"/>
              </a:rPr>
              <a:t>generovanie</a:t>
            </a:r>
            <a:r>
              <a:rPr lang="en-US" sz="2000" b="1" dirty="0">
                <a:latin typeface="Montserrat Light" panose="00000400000000000000" pitchFamily="2" charset="-18"/>
              </a:rPr>
              <a:t> n</a:t>
            </a:r>
            <a:r>
              <a:rPr lang="sk-SK" sz="2000" b="1" dirty="0" err="1">
                <a:latin typeface="Montserrat Light" panose="00000400000000000000" pitchFamily="2" charset="-18"/>
              </a:rPr>
              <a:t>áhodného</a:t>
            </a:r>
            <a:r>
              <a:rPr lang="sk-SK" sz="2000" b="1" dirty="0">
                <a:latin typeface="Montserrat Light" panose="00000400000000000000" pitchFamily="2" charset="-18"/>
              </a:rPr>
              <a:t> čísla</a:t>
            </a:r>
            <a:r>
              <a:rPr lang="en-US" sz="2000" b="1" dirty="0">
                <a:latin typeface="Montserrat Light" panose="00000400000000000000" pitchFamily="2" charset="-18"/>
              </a:rPr>
              <a:t>(0-100)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Montserrat Light" panose="00000400000000000000" pitchFamily="2" charset="-18"/>
              </a:rPr>
              <a:t>Pou</a:t>
            </a:r>
            <a:r>
              <a:rPr lang="sk-SK" sz="2000" b="1" dirty="0">
                <a:latin typeface="Montserrat Light" panose="00000400000000000000" pitchFamily="2" charset="-18"/>
              </a:rPr>
              <a:t>žite hák </a:t>
            </a:r>
            <a:r>
              <a:rPr lang="sk-SK" sz="2000" b="1" u="sng" dirty="0" err="1">
                <a:latin typeface="Montserrat Light" panose="00000400000000000000" pitchFamily="2" charset="-18"/>
              </a:rPr>
              <a:t>mounted</a:t>
            </a:r>
            <a:r>
              <a:rPr lang="sk-SK" sz="2000" b="1" dirty="0">
                <a:latin typeface="Montserrat Light" panose="00000400000000000000" pitchFamily="2" charset="-18"/>
              </a:rPr>
              <a:t> na </a:t>
            </a:r>
            <a:r>
              <a:rPr lang="en-US" sz="2000" b="1" dirty="0" err="1">
                <a:latin typeface="Montserrat Light" panose="00000400000000000000" pitchFamily="2" charset="-18"/>
              </a:rPr>
              <a:t>spustenie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tejto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funkcie</a:t>
            </a:r>
            <a:endParaRPr lang="en-US" sz="2000" b="1" dirty="0">
              <a:latin typeface="Montserrat Light" panose="00000400000000000000" pitchFamily="2" charset="-18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Montserrat Light" panose="00000400000000000000" pitchFamily="2" charset="-18"/>
              </a:rPr>
              <a:t>Vyp</a:t>
            </a:r>
            <a:r>
              <a:rPr lang="sk-SK" sz="2000" b="1" dirty="0" err="1">
                <a:latin typeface="Montserrat Light" panose="00000400000000000000" pitchFamily="2" charset="-18"/>
              </a:rPr>
              <a:t>íšte</a:t>
            </a:r>
            <a:r>
              <a:rPr lang="sk-SK" sz="2000" b="1" dirty="0">
                <a:latin typeface="Montserrat Light" panose="00000400000000000000" pitchFamily="2" charset="-18"/>
              </a:rPr>
              <a:t> do </a:t>
            </a:r>
            <a:r>
              <a:rPr lang="en-US" sz="2000" b="1" dirty="0">
                <a:latin typeface="Montserrat Light" panose="00000400000000000000" pitchFamily="2" charset="-18"/>
              </a:rPr>
              <a:t>&lt;h1&gt; </a:t>
            </a:r>
            <a:r>
              <a:rPr lang="en-US" sz="2000" b="1" dirty="0" err="1">
                <a:latin typeface="Montserrat Light" panose="00000400000000000000" pitchFamily="2" charset="-18"/>
              </a:rPr>
              <a:t>svoje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sk-SK" sz="2000" b="1" dirty="0">
                <a:latin typeface="Montserrat Light" panose="00000400000000000000" pitchFamily="2" charset="-18"/>
              </a:rPr>
              <a:t>šťastné číslo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2A931FA8-1D34-4F16-8F00-9023DC407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" y="2131811"/>
            <a:ext cx="2698830" cy="930821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00B8D672-8E46-42BF-A4C2-7B6D32FE92CA}"/>
              </a:ext>
            </a:extLst>
          </p:cNvPr>
          <p:cNvSpPr txBox="1"/>
          <p:nvPr/>
        </p:nvSpPr>
        <p:spPr>
          <a:xfrm>
            <a:off x="4363720" y="4692345"/>
            <a:ext cx="4587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floor</a:t>
            </a:r>
            <a:r>
              <a:rPr lang="en-US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75772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284526" y="1207922"/>
            <a:ext cx="5868929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Samostatn</a:t>
            </a:r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á práca</a:t>
            </a: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21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2134" y="1899150"/>
            <a:ext cx="5847394" cy="2036428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Montserrat Light" panose="00000400000000000000" pitchFamily="2" charset="-18"/>
              </a:rPr>
              <a:t>Vytvor</a:t>
            </a:r>
            <a:r>
              <a:rPr lang="sk-SK" sz="2000" b="1" dirty="0">
                <a:latin typeface="Montserrat Light" panose="00000400000000000000" pitchFamily="2" charset="-18"/>
              </a:rPr>
              <a:t> si HTML element</a:t>
            </a:r>
            <a:r>
              <a:rPr lang="en-US" sz="2000" b="1" dirty="0">
                <a:latin typeface="Montserrat Light" panose="00000400000000000000" pitchFamily="2" charset="-18"/>
              </a:rPr>
              <a:t>: &lt;</a:t>
            </a:r>
            <a:r>
              <a:rPr lang="en-US" sz="2000" b="1" dirty="0" err="1">
                <a:latin typeface="Montserrat Light" panose="00000400000000000000" pitchFamily="2" charset="-18"/>
              </a:rPr>
              <a:t>textarea</a:t>
            </a:r>
            <a:r>
              <a:rPr lang="en-US" sz="2000" b="1" dirty="0">
                <a:latin typeface="Montserrat Light" panose="00000400000000000000" pitchFamily="2" charset="-18"/>
              </a:rPr>
              <a:t>&gt;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 Light" panose="00000400000000000000" pitchFamily="2" charset="-18"/>
              </a:rPr>
              <a:t>Ak </a:t>
            </a:r>
            <a:r>
              <a:rPr lang="en-US" sz="2000" b="1" dirty="0" err="1">
                <a:latin typeface="Montserrat Light" panose="00000400000000000000" pitchFamily="2" charset="-18"/>
              </a:rPr>
              <a:t>sa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stla</a:t>
            </a:r>
            <a:r>
              <a:rPr lang="sk-SK" sz="2000" b="1" dirty="0">
                <a:latin typeface="Montserrat Light" panose="00000400000000000000" pitchFamily="2" charset="-18"/>
              </a:rPr>
              <a:t>čí </a:t>
            </a:r>
            <a:r>
              <a:rPr lang="en-US" sz="2000" b="1" dirty="0">
                <a:latin typeface="Montserrat Light" panose="00000400000000000000" pitchFamily="2" charset="-18"/>
              </a:rPr>
              <a:t>Enter </a:t>
            </a:r>
            <a:r>
              <a:rPr lang="en-US" sz="2000" b="1" dirty="0" err="1">
                <a:latin typeface="Montserrat Light" panose="00000400000000000000" pitchFamily="2" charset="-18"/>
              </a:rPr>
              <a:t>tak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sa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sk-SK" sz="2000" b="1" dirty="0">
                <a:latin typeface="Montserrat Light" panose="00000400000000000000" pitchFamily="2" charset="-18"/>
              </a:rPr>
              <a:t>text z </a:t>
            </a:r>
            <a:r>
              <a:rPr lang="sk-SK" sz="2000" b="1" dirty="0" err="1">
                <a:latin typeface="Montserrat Light" panose="00000400000000000000" pitchFamily="2" charset="-18"/>
              </a:rPr>
              <a:t>textarea</a:t>
            </a:r>
            <a:r>
              <a:rPr lang="sk-SK" sz="2000" b="1" dirty="0">
                <a:latin typeface="Montserrat Light" panose="00000400000000000000" pitchFamily="2" charset="-18"/>
              </a:rPr>
              <a:t> uloží do premennej</a:t>
            </a:r>
            <a:endParaRPr lang="en-US" sz="2000" b="1" dirty="0">
              <a:latin typeface="Montserrat Light" panose="00000400000000000000" pitchFamily="2" charset="-18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1" dirty="0">
                <a:latin typeface="Montserrat Light" panose="00000400000000000000" pitchFamily="2" charset="-18"/>
              </a:rPr>
              <a:t>Vypíš text z premennej do HTML elementu </a:t>
            </a:r>
            <a:r>
              <a:rPr lang="en-US" sz="2000" b="1" dirty="0">
                <a:latin typeface="Montserrat Light" panose="00000400000000000000" pitchFamily="2" charset="-18"/>
              </a:rPr>
              <a:t>&lt;div&gt;</a:t>
            </a:r>
            <a:r>
              <a:rPr lang="sk-SK" sz="2000" b="1" dirty="0">
                <a:latin typeface="Montserrat Light" panose="00000400000000000000" pitchFamily="2" charset="-18"/>
              </a:rPr>
              <a:t>, musí fungovať aj HTML</a:t>
            </a:r>
            <a:r>
              <a:rPr lang="en-US" sz="2000" b="1" dirty="0">
                <a:latin typeface="Montserrat Light" panose="00000400000000000000" pitchFamily="2" charset="-18"/>
              </a:rPr>
              <a:t>!</a:t>
            </a:r>
            <a:endParaRPr lang="sk-SK" sz="2000" b="1" dirty="0">
              <a:latin typeface="Montserrat Light" panose="00000400000000000000" pitchFamily="2" charset="-18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sk-SK" sz="2000" b="1" dirty="0">
              <a:latin typeface="Montserrat Light" panose="00000400000000000000" pitchFamily="2" charset="-18"/>
            </a:endParaRPr>
          </a:p>
        </p:txBody>
      </p:sp>
      <p:pic>
        <p:nvPicPr>
          <p:cNvPr id="11" name="Obrázok 10">
            <a:extLst>
              <a:ext uri="{FF2B5EF4-FFF2-40B4-BE49-F238E27FC236}">
                <a16:creationId xmlns:a16="http://schemas.microsoft.com/office/drawing/2014/main" id="{C28134CB-B2AF-46F9-9B32-10FAAC105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513" y="1635077"/>
            <a:ext cx="2349621" cy="1873346"/>
          </a:xfrm>
          <a:prstGeom prst="rect">
            <a:avLst/>
          </a:prstGeom>
        </p:spPr>
      </p:pic>
      <p:sp>
        <p:nvSpPr>
          <p:cNvPr id="8" name="BlokTextu 7">
            <a:extLst>
              <a:ext uri="{FF2B5EF4-FFF2-40B4-BE49-F238E27FC236}">
                <a16:creationId xmlns:a16="http://schemas.microsoft.com/office/drawing/2014/main" id="{C7B16629-E3FE-40CD-9C7A-D743735D863F}"/>
              </a:ext>
            </a:extLst>
          </p:cNvPr>
          <p:cNvSpPr txBox="1"/>
          <p:nvPr/>
        </p:nvSpPr>
        <p:spPr>
          <a:xfrm>
            <a:off x="4333126" y="4404836"/>
            <a:ext cx="458741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sk-SK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1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ulozDoPremennej</a:t>
            </a:r>
            <a:r>
              <a:rPr lang="sk-SK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b="1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k-SK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sk-SK" b="1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markdowntext</a:t>
            </a:r>
            <a:r>
              <a:rPr lang="sk-SK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sk-SK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1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sk-SK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sk-SK" b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k-SK" b="1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sk-SK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sk-SK" b="1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5056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5" y="-87549"/>
            <a:ext cx="4152709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4042881" y="1380643"/>
            <a:ext cx="5178175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400" b="1" dirty="0" err="1"/>
              <a:t>Form</a:t>
            </a:r>
            <a:r>
              <a:rPr lang="sk-SK" sz="3400" b="1" dirty="0"/>
              <a:t> </a:t>
            </a:r>
            <a:r>
              <a:rPr lang="sk-SK" sz="3400" b="1" dirty="0" err="1"/>
              <a:t>Input</a:t>
            </a:r>
            <a:r>
              <a:rPr lang="sk-SK" sz="3400" b="1" dirty="0"/>
              <a:t> </a:t>
            </a:r>
            <a:r>
              <a:rPr lang="sk-SK" sz="3400" b="1" dirty="0" err="1"/>
              <a:t>Bindings</a:t>
            </a:r>
            <a:endParaRPr lang="sk-SK" sz="34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22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1884" y="2097176"/>
            <a:ext cx="5042116" cy="2042471"/>
          </a:xfrm>
        </p:spPr>
        <p:txBody>
          <a:bodyPr/>
          <a:lstStyle/>
          <a:p>
            <a:pPr marL="0" indent="0" algn="l"/>
            <a:r>
              <a:rPr lang="en-US" sz="2000" b="1" dirty="0"/>
              <a:t>M</a:t>
            </a:r>
            <a:r>
              <a:rPr lang="sk-SK" sz="2000" b="1" dirty="0" err="1"/>
              <a:t>ôžeme</a:t>
            </a:r>
            <a:r>
              <a:rPr lang="sk-SK" sz="2000" b="1" dirty="0"/>
              <a:t> použiť </a:t>
            </a:r>
            <a:r>
              <a:rPr lang="sk-SK" sz="2000" b="1" u="sng" dirty="0"/>
              <a:t>v</a:t>
            </a:r>
            <a:r>
              <a:rPr lang="en-US" sz="2000" b="1" u="sng" dirty="0"/>
              <a:t>-model </a:t>
            </a:r>
            <a:r>
              <a:rPr lang="en-US" sz="2000" b="1" dirty="0"/>
              <a:t>directive v: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sk-S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sk-S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sk-SK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endParaRPr lang="sk-SK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488801" y="1372908"/>
            <a:ext cx="4664562" cy="2800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it-IT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 @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v-model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47169D8B-F17F-4208-848A-014D5553A35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23160" y="5026609"/>
            <a:ext cx="380999" cy="380999"/>
          </a:xfrm>
          <a:prstGeom prst="rect">
            <a:avLst/>
          </a:prstGeom>
        </p:spPr>
      </p:pic>
      <p:pic>
        <p:nvPicPr>
          <p:cNvPr id="21" name="Obrázok 20">
            <a:extLst>
              <a:ext uri="{FF2B5EF4-FFF2-40B4-BE49-F238E27FC236}">
                <a16:creationId xmlns:a16="http://schemas.microsoft.com/office/drawing/2014/main" id="{DAFDEF42-61F0-49E5-BB51-1BDFE54BE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201221" flipV="1">
            <a:off x="3886586" y="4228006"/>
            <a:ext cx="653331" cy="592357"/>
          </a:xfrm>
          <a:prstGeom prst="rect">
            <a:avLst/>
          </a:prstGeom>
        </p:spPr>
      </p:pic>
      <p:sp>
        <p:nvSpPr>
          <p:cNvPr id="23" name="Obdĺžnik 22">
            <a:extLst>
              <a:ext uri="{FF2B5EF4-FFF2-40B4-BE49-F238E27FC236}">
                <a16:creationId xmlns:a16="http://schemas.microsoft.com/office/drawing/2014/main" id="{C062BEF1-AFCA-412F-95DC-F62E34C84B74}"/>
              </a:ext>
            </a:extLst>
          </p:cNvPr>
          <p:cNvSpPr/>
          <p:nvPr/>
        </p:nvSpPr>
        <p:spPr>
          <a:xfrm>
            <a:off x="44745" y="3465861"/>
            <a:ext cx="1921782" cy="233443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sp>
        <p:nvSpPr>
          <p:cNvPr id="24" name="Obdĺžnik 23">
            <a:extLst>
              <a:ext uri="{FF2B5EF4-FFF2-40B4-BE49-F238E27FC236}">
                <a16:creationId xmlns:a16="http://schemas.microsoft.com/office/drawing/2014/main" id="{4427C62F-4D6A-4A76-8504-034655362494}"/>
              </a:ext>
            </a:extLst>
          </p:cNvPr>
          <p:cNvSpPr/>
          <p:nvPr/>
        </p:nvSpPr>
        <p:spPr>
          <a:xfrm>
            <a:off x="-1" y="2708399"/>
            <a:ext cx="3816849" cy="422473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 dirty="0"/>
          </a:p>
        </p:txBody>
      </p:sp>
      <p:sp>
        <p:nvSpPr>
          <p:cNvPr id="19" name="BlokTextu 18">
            <a:extLst>
              <a:ext uri="{FF2B5EF4-FFF2-40B4-BE49-F238E27FC236}">
                <a16:creationId xmlns:a16="http://schemas.microsoft.com/office/drawing/2014/main" id="{E6AC55C6-CEBB-4451-AEE8-682BBF0EE8A5}"/>
              </a:ext>
            </a:extLst>
          </p:cNvPr>
          <p:cNvSpPr txBox="1"/>
          <p:nvPr/>
        </p:nvSpPr>
        <p:spPr>
          <a:xfrm>
            <a:off x="1943100" y="1655619"/>
            <a:ext cx="48622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Obrázok 5">
            <a:extLst>
              <a:ext uri="{FF2B5EF4-FFF2-40B4-BE49-F238E27FC236}">
                <a16:creationId xmlns:a16="http://schemas.microsoft.com/office/drawing/2014/main" id="{A870FA8E-9817-4455-A4F9-4BF2A3C814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976" y="4132584"/>
            <a:ext cx="3257717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8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284526" y="1207922"/>
            <a:ext cx="5868929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Samostatn</a:t>
            </a:r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á práca</a:t>
            </a: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23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87384" y="1807710"/>
            <a:ext cx="6118261" cy="2036428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 Light" panose="00000400000000000000" pitchFamily="2" charset="-18"/>
              </a:rPr>
              <a:t>Do </a:t>
            </a:r>
            <a:r>
              <a:rPr lang="en-US" sz="2000" b="1" dirty="0" err="1">
                <a:latin typeface="Montserrat Light" panose="00000400000000000000" pitchFamily="2" charset="-18"/>
              </a:rPr>
              <a:t>vytvoren</a:t>
            </a:r>
            <a:r>
              <a:rPr lang="sk-SK" sz="2000" b="1" dirty="0" err="1">
                <a:latin typeface="Montserrat Light" panose="00000400000000000000" pitchFamily="2" charset="-18"/>
              </a:rPr>
              <a:t>ého</a:t>
            </a:r>
            <a:r>
              <a:rPr lang="sk-SK" sz="2000" b="1" dirty="0">
                <a:latin typeface="Montserrat Light" panose="00000400000000000000" pitchFamily="2" charset="-18"/>
              </a:rPr>
              <a:t> HTML elementu </a:t>
            </a:r>
            <a:r>
              <a:rPr lang="en-US" sz="2000" b="1" dirty="0">
                <a:latin typeface="Montserrat Light" panose="00000400000000000000" pitchFamily="2" charset="-18"/>
              </a:rPr>
              <a:t>&lt;</a:t>
            </a:r>
            <a:r>
              <a:rPr lang="en-US" sz="2000" b="1" dirty="0" err="1">
                <a:latin typeface="Montserrat Light" panose="00000400000000000000" pitchFamily="2" charset="-18"/>
              </a:rPr>
              <a:t>textarea</a:t>
            </a:r>
            <a:r>
              <a:rPr lang="en-US" sz="2000" b="1" dirty="0">
                <a:latin typeface="Montserrat Light" panose="00000400000000000000" pitchFamily="2" charset="-18"/>
              </a:rPr>
              <a:t>&gt;</a:t>
            </a:r>
            <a:r>
              <a:rPr lang="sk-SK" sz="2000" b="1" dirty="0">
                <a:latin typeface="Montserrat Light" panose="00000400000000000000" pitchFamily="2" charset="-18"/>
              </a:rPr>
              <a:t> vložte atribút </a:t>
            </a:r>
            <a:r>
              <a:rPr lang="sk-SK" sz="2000" b="1" u="sng" dirty="0">
                <a:latin typeface="Montserrat Light" panose="00000400000000000000" pitchFamily="2" charset="-18"/>
              </a:rPr>
              <a:t>v</a:t>
            </a:r>
            <a:r>
              <a:rPr lang="en-US" sz="2000" b="1" u="sng" dirty="0">
                <a:latin typeface="Montserrat Light" panose="00000400000000000000" pitchFamily="2" charset="-18"/>
              </a:rPr>
              <a:t>-model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 err="1">
                <a:latin typeface="Montserrat Light" panose="00000400000000000000" pitchFamily="2" charset="-18"/>
              </a:rPr>
              <a:t>Pridajte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funkciu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ktor</a:t>
            </a:r>
            <a:r>
              <a:rPr lang="sk-SK" sz="2000" b="1" dirty="0">
                <a:latin typeface="Montserrat Light" panose="00000400000000000000" pitchFamily="2" charset="-18"/>
              </a:rPr>
              <a:t>á zistí, že ak je reťazec väčší ako 10 tak vráti </a:t>
            </a:r>
            <a:r>
              <a:rPr lang="sk-SK" sz="2000" b="1" dirty="0" err="1">
                <a:latin typeface="Montserrat Light" panose="00000400000000000000" pitchFamily="2" charset="-18"/>
              </a:rPr>
              <a:t>true</a:t>
            </a:r>
            <a:r>
              <a:rPr lang="en-US" sz="2000" b="1" dirty="0">
                <a:latin typeface="Montserrat Light" panose="00000400000000000000" pitchFamily="2" charset="-18"/>
              </a:rPr>
              <a:t>/</a:t>
            </a:r>
            <a:r>
              <a:rPr lang="en-US" sz="2000" b="1" dirty="0" err="1">
                <a:latin typeface="Montserrat Light" panose="00000400000000000000" pitchFamily="2" charset="-18"/>
              </a:rPr>
              <a:t>inak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sk-SK" sz="2000" b="1" dirty="0" err="1">
                <a:latin typeface="Montserrat Light" panose="00000400000000000000" pitchFamily="2" charset="-18"/>
              </a:rPr>
              <a:t>false</a:t>
            </a:r>
            <a:endParaRPr lang="en-US" sz="2000" b="1" dirty="0">
              <a:latin typeface="Montserrat Light" panose="00000400000000000000" pitchFamily="2" charset="-18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1" dirty="0">
                <a:latin typeface="Montserrat Light" panose="00000400000000000000" pitchFamily="2" charset="-18"/>
              </a:rPr>
              <a:t>Použite funkciu v </a:t>
            </a:r>
            <a:r>
              <a:rPr lang="en-US" sz="2000" b="1" dirty="0">
                <a:latin typeface="Montserrat Light" panose="00000400000000000000" pitchFamily="2" charset="-18"/>
              </a:rPr>
              <a:t>&lt;</a:t>
            </a:r>
            <a:r>
              <a:rPr lang="en-US" sz="2000" b="1" dirty="0" err="1">
                <a:latin typeface="Montserrat Light" panose="00000400000000000000" pitchFamily="2" charset="-18"/>
              </a:rPr>
              <a:t>textarea</a:t>
            </a:r>
            <a:r>
              <a:rPr lang="en-US" sz="2000" b="1" dirty="0">
                <a:latin typeface="Montserrat Light" panose="00000400000000000000" pitchFamily="2" charset="-18"/>
              </a:rPr>
              <a:t>&gt;</a:t>
            </a:r>
            <a:r>
              <a:rPr lang="sk-SK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>
                <a:latin typeface="Montserrat Light" panose="00000400000000000000" pitchFamily="2" charset="-18"/>
              </a:rPr>
              <a:t>do </a:t>
            </a:r>
            <a:r>
              <a:rPr lang="en-US" sz="2000" b="1" dirty="0" err="1">
                <a:latin typeface="Montserrat Light" panose="00000400000000000000" pitchFamily="2" charset="-18"/>
              </a:rPr>
              <a:t>atrib</a:t>
            </a:r>
            <a:r>
              <a:rPr lang="sk-SK" sz="2000" b="1" dirty="0" err="1">
                <a:latin typeface="Montserrat Light" panose="00000400000000000000" pitchFamily="2" charset="-18"/>
              </a:rPr>
              <a:t>útu</a:t>
            </a:r>
            <a:r>
              <a:rPr lang="sk-SK" sz="2000" b="1" dirty="0">
                <a:latin typeface="Montserrat Light" panose="00000400000000000000" pitchFamily="2" charset="-18"/>
              </a:rPr>
              <a:t> </a:t>
            </a:r>
            <a:r>
              <a:rPr lang="sk-SK" sz="2000" b="1" u="sng" dirty="0" err="1">
                <a:latin typeface="Montserrat Light" panose="00000400000000000000" pitchFamily="2" charset="-18"/>
              </a:rPr>
              <a:t>disabled</a:t>
            </a:r>
            <a:endParaRPr lang="en-US" sz="2000" b="1" u="sng" dirty="0">
              <a:latin typeface="Montserrat Light" panose="00000400000000000000" pitchFamily="2" charset="-18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endParaRPr lang="sk-SK" sz="2000" b="1" dirty="0">
              <a:latin typeface="Montserrat Light" panose="00000400000000000000" pitchFamily="2" charset="-18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575ED874-B834-4CB4-B773-27A91D280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08" y="2778673"/>
            <a:ext cx="3102134" cy="698622"/>
          </a:xfrm>
          <a:prstGeom prst="rect">
            <a:avLst/>
          </a:prstGeom>
        </p:spPr>
      </p:pic>
      <p:pic>
        <p:nvPicPr>
          <p:cNvPr id="5" name="Obrázok 4">
            <a:extLst>
              <a:ext uri="{FF2B5EF4-FFF2-40B4-BE49-F238E27FC236}">
                <a16:creationId xmlns:a16="http://schemas.microsoft.com/office/drawing/2014/main" id="{5A93E122-BF61-451F-B34A-B672E793A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08" y="2054521"/>
            <a:ext cx="3102134" cy="72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02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284526" y="1207922"/>
            <a:ext cx="5868929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Samostatn</a:t>
            </a:r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á práca</a:t>
            </a: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24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8076" y="1899150"/>
            <a:ext cx="5676472" cy="2036428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1" dirty="0">
                <a:latin typeface="Montserrat Light" panose="00000400000000000000" pitchFamily="2" charset="-18"/>
              </a:rPr>
              <a:t>Vytvor</a:t>
            </a:r>
            <a:r>
              <a:rPr lang="en-US" sz="2000" b="1" dirty="0">
                <a:latin typeface="Montserrat Light" panose="00000400000000000000" pitchFamily="2" charset="-18"/>
              </a:rPr>
              <a:t> 2</a:t>
            </a:r>
            <a:r>
              <a:rPr lang="sk-SK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>
                <a:latin typeface="Montserrat Light" panose="00000400000000000000" pitchFamily="2" charset="-18"/>
              </a:rPr>
              <a:t>&lt;</a:t>
            </a:r>
            <a:r>
              <a:rPr lang="sk-SK" sz="2000" b="1" dirty="0" err="1">
                <a:latin typeface="Montserrat Light" panose="00000400000000000000" pitchFamily="2" charset="-18"/>
              </a:rPr>
              <a:t>input</a:t>
            </a:r>
            <a:r>
              <a:rPr lang="en-US" sz="2000" b="1" dirty="0">
                <a:latin typeface="Montserrat Light" panose="00000400000000000000" pitchFamily="2" charset="-18"/>
              </a:rPr>
              <a:t>&gt; </a:t>
            </a:r>
            <a:r>
              <a:rPr lang="en-US" sz="2000" b="1" dirty="0" err="1">
                <a:latin typeface="Montserrat Light" panose="00000400000000000000" pitchFamily="2" charset="-18"/>
              </a:rPr>
              <a:t>elementy</a:t>
            </a:r>
            <a:r>
              <a:rPr lang="en-US" sz="2000" b="1" dirty="0">
                <a:latin typeface="Montserrat Light" panose="00000400000000000000" pitchFamily="2" charset="-18"/>
              </a:rPr>
              <a:t>,</a:t>
            </a:r>
            <a:r>
              <a:rPr lang="sk-SK" sz="2000" b="1" dirty="0">
                <a:latin typeface="Montserrat Light" panose="00000400000000000000" pitchFamily="2" charset="-18"/>
              </a:rPr>
              <a:t> ktoré môžu obsahovať iba čísla</a:t>
            </a:r>
            <a:endParaRPr lang="en-US" sz="2000" b="1" u="sng" dirty="0">
              <a:latin typeface="Montserrat Light" panose="00000400000000000000" pitchFamily="2" charset="-18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Montserrat Light" panose="00000400000000000000" pitchFamily="2" charset="-18"/>
              </a:rPr>
              <a:t>S </a:t>
            </a:r>
            <a:r>
              <a:rPr lang="en-US" sz="2000" b="1" dirty="0" err="1">
                <a:latin typeface="Montserrat Light" panose="00000400000000000000" pitchFamily="2" charset="-18"/>
              </a:rPr>
              <a:t>jedn</a:t>
            </a:r>
            <a:r>
              <a:rPr lang="sk-SK" sz="2000" b="1" dirty="0" err="1">
                <a:latin typeface="Montserrat Light" panose="00000400000000000000" pitchFamily="2" charset="-18"/>
              </a:rPr>
              <a:t>ým</a:t>
            </a:r>
            <a:r>
              <a:rPr lang="sk-SK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>
                <a:latin typeface="Montserrat Light" panose="00000400000000000000" pitchFamily="2" charset="-18"/>
              </a:rPr>
              <a:t>&lt;input&gt;</a:t>
            </a:r>
            <a:r>
              <a:rPr lang="sk-SK" sz="2000" b="1" dirty="0">
                <a:latin typeface="Montserrat Light" panose="00000400000000000000" pitchFamily="2" charset="-18"/>
              </a:rPr>
              <a:t> elementom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budeme</a:t>
            </a:r>
            <a:r>
              <a:rPr lang="en-US" sz="2000" b="1" dirty="0">
                <a:latin typeface="Montserrat Light" panose="00000400000000000000" pitchFamily="2" charset="-18"/>
              </a:rPr>
              <a:t> </a:t>
            </a:r>
            <a:r>
              <a:rPr lang="en-US" sz="2000" b="1" dirty="0" err="1">
                <a:latin typeface="Montserrat Light" panose="00000400000000000000" pitchFamily="2" charset="-18"/>
              </a:rPr>
              <a:t>meni</a:t>
            </a:r>
            <a:r>
              <a:rPr lang="sk-SK" sz="2000" b="1" dirty="0">
                <a:latin typeface="Montserrat Light" panose="00000400000000000000" pitchFamily="2" charset="-18"/>
              </a:rPr>
              <a:t>ť počet stĺpcov a s druhým počet riadkov v elemente </a:t>
            </a:r>
            <a:r>
              <a:rPr lang="en-US" sz="2000" b="1" dirty="0">
                <a:latin typeface="Montserrat Light" panose="00000400000000000000" pitchFamily="2" charset="-18"/>
              </a:rPr>
              <a:t>&lt;</a:t>
            </a:r>
            <a:r>
              <a:rPr lang="en-US" sz="2000" b="1" dirty="0" err="1">
                <a:latin typeface="Montserrat Light" panose="00000400000000000000" pitchFamily="2" charset="-18"/>
              </a:rPr>
              <a:t>textarea</a:t>
            </a:r>
            <a:r>
              <a:rPr lang="en-US" sz="2000" b="1" dirty="0">
                <a:latin typeface="Montserrat Light" panose="00000400000000000000" pitchFamily="2" charset="-18"/>
              </a:rPr>
              <a:t>&gt;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85E26041-8D3A-40BC-8A2F-900C39D5E7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85" r="1450"/>
          <a:stretch/>
        </p:blipFill>
        <p:spPr>
          <a:xfrm>
            <a:off x="248076" y="1551654"/>
            <a:ext cx="3240000" cy="1020096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E991BA7A-8677-4E4A-9F74-83D084E9B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76" y="2782654"/>
            <a:ext cx="3240000" cy="61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00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ok 6">
            <a:extLst>
              <a:ext uri="{FF2B5EF4-FFF2-40B4-BE49-F238E27FC236}">
                <a16:creationId xmlns:a16="http://schemas.microsoft.com/office/drawing/2014/main" id="{FE443D2E-DD35-47B7-AA75-522CC94C3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0825" y="-87549"/>
            <a:ext cx="4152709" cy="5516339"/>
          </a:xfrm>
          <a:prstGeom prst="rect">
            <a:avLst/>
          </a:prstGeom>
        </p:spPr>
      </p:pic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4042881" y="1380643"/>
            <a:ext cx="5178175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sk-SK" sz="3200" b="1" dirty="0" err="1"/>
              <a:t>Conditional</a:t>
            </a:r>
            <a:r>
              <a:rPr lang="sk-SK" sz="3200" b="1" dirty="0"/>
              <a:t> </a:t>
            </a:r>
            <a:r>
              <a:rPr lang="sk-SK" sz="3200" b="1" dirty="0" err="1"/>
              <a:t>Rendering</a:t>
            </a:r>
            <a:endParaRPr lang="sk-SK" sz="3200" b="1" dirty="0">
              <a:latin typeface="Montserrat Light" panose="00000400000000000000" pitchFamily="2" charset="-18"/>
            </a:endParaRP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25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2881" y="1945436"/>
            <a:ext cx="5178175" cy="2042471"/>
          </a:xfrm>
        </p:spPr>
        <p:txBody>
          <a:bodyPr/>
          <a:lstStyle/>
          <a:p>
            <a:pPr marL="0" indent="0" algn="l"/>
            <a:r>
              <a:rPr lang="sk-SK" sz="2000" b="1" dirty="0"/>
              <a:t>Na podmienené vykreslenie</a:t>
            </a:r>
            <a:r>
              <a:rPr lang="en-US" sz="2000" b="1" dirty="0"/>
              <a:t> </a:t>
            </a:r>
            <a:r>
              <a:rPr lang="sk-SK" sz="2000" b="1" dirty="0"/>
              <a:t>používame</a:t>
            </a:r>
            <a:r>
              <a:rPr lang="en-US" sz="2000" b="1" dirty="0"/>
              <a:t>: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dirty="0">
                <a:solidFill>
                  <a:srgbClr val="808080"/>
                </a:solidFill>
                <a:latin typeface="Consolas" panose="020B0609020204030204" pitchFamily="49" charset="0"/>
              </a:rPr>
              <a:t>v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-if</a:t>
            </a:r>
            <a:endParaRPr lang="sk-SK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v-else-if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v</a:t>
            </a: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-else;</a:t>
            </a:r>
            <a:endParaRPr lang="sk-SK" sz="20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v-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show</a:t>
            </a:r>
            <a:endParaRPr lang="en-US" sz="20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endParaRPr lang="sk-SK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sk-SK" sz="2000" b="1" dirty="0"/>
          </a:p>
        </p:txBody>
      </p:sp>
      <p:sp>
        <p:nvSpPr>
          <p:cNvPr id="8" name="Google Shape;212;p29">
            <a:extLst>
              <a:ext uri="{FF2B5EF4-FFF2-40B4-BE49-F238E27FC236}">
                <a16:creationId xmlns:a16="http://schemas.microsoft.com/office/drawing/2014/main" id="{0AB9C7FA-C6DD-4C0B-A195-C8268B72C365}"/>
              </a:ext>
            </a:extLst>
          </p:cNvPr>
          <p:cNvSpPr txBox="1">
            <a:spLocks/>
          </p:cNvSpPr>
          <p:nvPr/>
        </p:nvSpPr>
        <p:spPr>
          <a:xfrm>
            <a:off x="-488801" y="45152"/>
            <a:ext cx="4531682" cy="434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Montserrat Light"/>
              <a:buNone/>
              <a:defRPr sz="1200" b="0" i="0" u="none" strike="noStrike" cap="non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algn="l"/>
            <a:r>
              <a:rPr lang="sk-SK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mojstring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v-bind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dajclass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krat5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krat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sk-SK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cislo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deleno</a:t>
            </a:r>
            <a:r>
              <a:rPr lang="sk-SK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5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sk-SK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sk-SK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	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A</a:t>
            </a: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v-else-if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B</a:t>
            </a: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v-else-if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C</a:t>
            </a: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v-else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Not A/B/C</a:t>
            </a:r>
          </a:p>
          <a:p>
            <a:pPr algn="l"/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endParaRPr lang="en-US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	   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v-show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AAA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algn="l"/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sk-SK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Obdĺžnik 22">
            <a:extLst>
              <a:ext uri="{FF2B5EF4-FFF2-40B4-BE49-F238E27FC236}">
                <a16:creationId xmlns:a16="http://schemas.microsoft.com/office/drawing/2014/main" id="{C062BEF1-AFCA-412F-95DC-F62E34C84B74}"/>
              </a:ext>
            </a:extLst>
          </p:cNvPr>
          <p:cNvSpPr/>
          <p:nvPr/>
        </p:nvSpPr>
        <p:spPr>
          <a:xfrm>
            <a:off x="-1" y="1380643"/>
            <a:ext cx="2727789" cy="2266683"/>
          </a:xfrm>
          <a:prstGeom prst="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6CFD7F6C-4549-4514-9B15-9B9582A22CC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13438" b="-25690"/>
          <a:stretch/>
        </p:blipFill>
        <p:spPr>
          <a:xfrm>
            <a:off x="4630240" y="4477313"/>
            <a:ext cx="3023331" cy="311288"/>
          </a:xfrm>
          <a:prstGeom prst="rect">
            <a:avLst/>
          </a:prstGeom>
        </p:spPr>
      </p:pic>
      <p:sp>
        <p:nvSpPr>
          <p:cNvPr id="17" name="Obdĺžnik 16">
            <a:extLst>
              <a:ext uri="{FF2B5EF4-FFF2-40B4-BE49-F238E27FC236}">
                <a16:creationId xmlns:a16="http://schemas.microsoft.com/office/drawing/2014/main" id="{5895A320-4B83-4913-BDAC-7CFBC2BD433A}"/>
              </a:ext>
            </a:extLst>
          </p:cNvPr>
          <p:cNvSpPr/>
          <p:nvPr/>
        </p:nvSpPr>
        <p:spPr>
          <a:xfrm>
            <a:off x="272265" y="3919928"/>
            <a:ext cx="3112118" cy="266791"/>
          </a:xfrm>
          <a:prstGeom prst="rect">
            <a:avLst/>
          </a:prstGeom>
          <a:noFill/>
          <a:ln>
            <a:solidFill>
              <a:srgbClr val="92D050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  <p:pic>
        <p:nvPicPr>
          <p:cNvPr id="18" name="Obrázok 17">
            <a:extLst>
              <a:ext uri="{FF2B5EF4-FFF2-40B4-BE49-F238E27FC236}">
                <a16:creationId xmlns:a16="http://schemas.microsoft.com/office/drawing/2014/main" id="{0C126B29-C9E1-4189-8993-7D63723FA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18026" flipV="1">
            <a:off x="3863575" y="4327416"/>
            <a:ext cx="583197" cy="528769"/>
          </a:xfrm>
          <a:prstGeom prst="rect">
            <a:avLst/>
          </a:prstGeom>
          <a:effectLst>
            <a:glow rad="139700">
              <a:srgbClr val="92D050">
                <a:alpha val="40000"/>
              </a:srgbClr>
            </a:glow>
          </a:effectLst>
        </p:spPr>
      </p:pic>
      <p:sp>
        <p:nvSpPr>
          <p:cNvPr id="13" name="BlokTextu 12">
            <a:extLst>
              <a:ext uri="{FF2B5EF4-FFF2-40B4-BE49-F238E27FC236}">
                <a16:creationId xmlns:a16="http://schemas.microsoft.com/office/drawing/2014/main" id="{69A64FF9-14BF-4132-9155-8E4A90166CAB}"/>
              </a:ext>
            </a:extLst>
          </p:cNvPr>
          <p:cNvSpPr txBox="1"/>
          <p:nvPr/>
        </p:nvSpPr>
        <p:spPr>
          <a:xfrm>
            <a:off x="-50825" y="4725619"/>
            <a:ext cx="28864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k-SK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sk-SK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k-SK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k-SK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sk-SK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k-SK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sk-SK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13424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11;p29">
            <a:extLst>
              <a:ext uri="{FF2B5EF4-FFF2-40B4-BE49-F238E27FC236}">
                <a16:creationId xmlns:a16="http://schemas.microsoft.com/office/drawing/2014/main" id="{F8212A61-A2A6-4D85-8816-201A0F171A74}"/>
              </a:ext>
            </a:extLst>
          </p:cNvPr>
          <p:cNvSpPr txBox="1">
            <a:spLocks/>
          </p:cNvSpPr>
          <p:nvPr/>
        </p:nvSpPr>
        <p:spPr>
          <a:xfrm>
            <a:off x="3284526" y="1207922"/>
            <a:ext cx="5868929" cy="716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Montserrat"/>
              <a:buNone/>
              <a:defRPr sz="2400" b="1" i="0" u="none" strike="noStrike" cap="none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sz="4000" dirty="0" err="1">
                <a:latin typeface="Montserrat ExtraBold"/>
                <a:ea typeface="Montserrat ExtraBold"/>
                <a:cs typeface="Montserrat ExtraBold"/>
                <a:sym typeface="Montserrat ExtraBold"/>
              </a:rPr>
              <a:t>Samostatn</a:t>
            </a:r>
            <a:r>
              <a:rPr lang="sk-SK" sz="40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á práca</a:t>
            </a:r>
          </a:p>
        </p:txBody>
      </p:sp>
      <p:sp>
        <p:nvSpPr>
          <p:cNvPr id="16" name="Google Shape;213;p29">
            <a:extLst>
              <a:ext uri="{FF2B5EF4-FFF2-40B4-BE49-F238E27FC236}">
                <a16:creationId xmlns:a16="http://schemas.microsoft.com/office/drawing/2014/main" id="{FAE977DB-375C-4A2F-A7A0-04F6C176E69A}"/>
              </a:ext>
            </a:extLst>
          </p:cNvPr>
          <p:cNvSpPr txBox="1">
            <a:spLocks/>
          </p:cNvSpPr>
          <p:nvPr/>
        </p:nvSpPr>
        <p:spPr>
          <a:xfrm>
            <a:off x="8299934" y="45918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rgbClr val="666666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>
              <a:buSzPts val="1100"/>
            </a:pPr>
            <a:fld id="{00000000-1234-1234-1234-123412341234}" type="slidenum">
              <a:rPr lang="es" smtClean="0"/>
              <a:pPr>
                <a:buSzPts val="1100"/>
              </a:pPr>
              <a:t>26</a:t>
            </a:fld>
            <a:endParaRPr lang="es"/>
          </a:p>
        </p:txBody>
      </p:sp>
      <p:sp>
        <p:nvSpPr>
          <p:cNvPr id="9" name="Podnadpis 3">
            <a:extLst>
              <a:ext uri="{FF2B5EF4-FFF2-40B4-BE49-F238E27FC236}">
                <a16:creationId xmlns:a16="http://schemas.microsoft.com/office/drawing/2014/main" id="{7C8FF8A5-B8A7-48E2-B368-9ACDF2BFE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88076" y="1899150"/>
            <a:ext cx="5676472" cy="2036428"/>
          </a:xfrm>
        </p:spPr>
        <p:txBody>
          <a:bodyPr/>
          <a:lstStyle/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1" dirty="0">
                <a:latin typeface="Montserrat Light" panose="00000400000000000000" pitchFamily="2" charset="-18"/>
              </a:rPr>
              <a:t>Použite funkciu ktorá vráti </a:t>
            </a:r>
            <a:r>
              <a:rPr lang="sk-SK" sz="2000" b="1" dirty="0" err="1">
                <a:latin typeface="Montserrat Light" panose="00000400000000000000" pitchFamily="2" charset="-18"/>
              </a:rPr>
              <a:t>true</a:t>
            </a:r>
            <a:r>
              <a:rPr lang="en-US" sz="2000" b="1" dirty="0">
                <a:latin typeface="Montserrat Light" panose="00000400000000000000" pitchFamily="2" charset="-18"/>
              </a:rPr>
              <a:t>/</a:t>
            </a:r>
            <a:r>
              <a:rPr lang="sk-SK" sz="2000" b="1" dirty="0" err="1">
                <a:latin typeface="Montserrat Light" panose="00000400000000000000" pitchFamily="2" charset="-18"/>
              </a:rPr>
              <a:t>false</a:t>
            </a:r>
            <a:r>
              <a:rPr lang="sk-SK" sz="2000" b="1" dirty="0">
                <a:latin typeface="Montserrat Light" panose="00000400000000000000" pitchFamily="2" charset="-18"/>
              </a:rPr>
              <a:t> na základe dĺžky reťazca</a:t>
            </a:r>
          </a:p>
          <a:p>
            <a:pPr marL="482600" indent="-342900" algn="l">
              <a:buFont typeface="Arial" panose="020B0604020202020204" pitchFamily="34" charset="0"/>
              <a:buChar char="•"/>
            </a:pPr>
            <a:r>
              <a:rPr lang="sk-SK" sz="2000" b="1" dirty="0">
                <a:latin typeface="Montserrat Light" panose="00000400000000000000" pitchFamily="2" charset="-18"/>
              </a:rPr>
              <a:t>Ak je reťazec väčší</a:t>
            </a:r>
            <a:r>
              <a:rPr lang="en-US" sz="2000" b="1" dirty="0">
                <a:latin typeface="Montserrat Light" panose="00000400000000000000" pitchFamily="2" charset="-18"/>
              </a:rPr>
              <a:t>, </a:t>
            </a:r>
            <a:r>
              <a:rPr lang="en-US" sz="2000" b="1" dirty="0" err="1">
                <a:latin typeface="Montserrat Light" panose="00000400000000000000" pitchFamily="2" charset="-18"/>
              </a:rPr>
              <a:t>tak</a:t>
            </a:r>
            <a:r>
              <a:rPr lang="sk-SK" sz="2000" b="1" dirty="0">
                <a:latin typeface="Montserrat Light" panose="00000400000000000000" pitchFamily="2" charset="-18"/>
              </a:rPr>
              <a:t> ukáž tlačidlo s ktorým reťazec </a:t>
            </a:r>
            <a:r>
              <a:rPr lang="en-US" sz="2000" b="1" dirty="0" err="1">
                <a:latin typeface="Montserrat Light" panose="00000400000000000000" pitchFamily="2" charset="-18"/>
              </a:rPr>
              <a:t>vypr</a:t>
            </a:r>
            <a:r>
              <a:rPr lang="sk-SK" sz="2000" b="1" dirty="0" err="1">
                <a:latin typeface="Montserrat Light" panose="00000400000000000000" pitchFamily="2" charset="-18"/>
              </a:rPr>
              <a:t>ázdnime</a:t>
            </a:r>
            <a:endParaRPr lang="en-US" sz="2000" b="1" dirty="0">
              <a:latin typeface="Montserrat Light" panose="00000400000000000000" pitchFamily="2" charset="-18"/>
            </a:endParaRPr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130F0CF3-6998-48F8-82E9-95A7C85A4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18" y="1473582"/>
            <a:ext cx="3397425" cy="901746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283F396C-DF26-46F6-9D47-9DC045AD1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18" y="2447399"/>
            <a:ext cx="3416476" cy="123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029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>
            <a:alpha val="0"/>
          </a:srgbClr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57"/>
          <p:cNvSpPr txBox="1">
            <a:spLocks noGrp="1"/>
          </p:cNvSpPr>
          <p:nvPr>
            <p:ph type="title"/>
          </p:nvPr>
        </p:nvSpPr>
        <p:spPr>
          <a:xfrm>
            <a:off x="0" y="1167023"/>
            <a:ext cx="9144000" cy="24420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72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Ďakujem za pozornosť</a:t>
            </a:r>
            <a:endParaRPr sz="72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stract Wav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6802</TotalTime>
  <Words>2933</Words>
  <Application>Microsoft Office PowerPoint</Application>
  <PresentationFormat>Prezentácia na obrazovke (16:9)</PresentationFormat>
  <Paragraphs>342</Paragraphs>
  <Slides>27</Slides>
  <Notes>27</Notes>
  <HiddenSlides>0</HiddenSlides>
  <MMClips>0</MMClips>
  <ScaleCrop>false</ScaleCrop>
  <HeadingPairs>
    <vt:vector size="6" baseType="variant">
      <vt:variant>
        <vt:lpstr>Použité písma</vt:lpstr>
      </vt:variant>
      <vt:variant>
        <vt:i4>9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27</vt:i4>
      </vt:variant>
    </vt:vector>
  </HeadingPairs>
  <TitlesOfParts>
    <vt:vector size="37" baseType="lpstr">
      <vt:lpstr>Open Sans</vt:lpstr>
      <vt:lpstr>Arvo</vt:lpstr>
      <vt:lpstr>Montserrat Light</vt:lpstr>
      <vt:lpstr>Consolas</vt:lpstr>
      <vt:lpstr>Roboto</vt:lpstr>
      <vt:lpstr>Montserrat ExtraBold</vt:lpstr>
      <vt:lpstr>Montserrat</vt:lpstr>
      <vt:lpstr>Montserrat Medium</vt:lpstr>
      <vt:lpstr>Arial</vt:lpstr>
      <vt:lpstr>Abstract Waves</vt:lpstr>
      <vt:lpstr>Frontendové technológie 3. týždeň</vt:lpstr>
      <vt:lpstr>Prezentácia programu PowerPoint</vt:lpstr>
      <vt:lpstr>Prezentácia programu PowerPoint</vt:lpstr>
      <vt:lpstr>Template</vt:lpstr>
      <vt:lpstr>Template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Full directive syntax</vt:lpstr>
      <vt:lpstr>Prezentácia programu PowerPoint</vt:lpstr>
      <vt:lpstr>Životný cyklus komponentov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Ďakujem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 your presentation begins</dc:title>
  <dc:creator>Matus Valko</dc:creator>
  <cp:lastModifiedBy>Matus Valko</cp:lastModifiedBy>
  <cp:revision>274</cp:revision>
  <dcterms:modified xsi:type="dcterms:W3CDTF">2026-10-07T07:53:43Z</dcterms:modified>
</cp:coreProperties>
</file>